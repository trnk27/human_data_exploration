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20"/>
  </p:handoutMasterIdLst>
  <p:sldIdLst>
    <p:sldId id="256" r:id="rId2"/>
    <p:sldId id="269" r:id="rId3"/>
    <p:sldId id="257" r:id="rId4"/>
    <p:sldId id="258" r:id="rId5"/>
    <p:sldId id="271" r:id="rId6"/>
    <p:sldId id="270" r:id="rId7"/>
    <p:sldId id="272" r:id="rId8"/>
    <p:sldId id="261" r:id="rId9"/>
    <p:sldId id="273" r:id="rId10"/>
    <p:sldId id="259" r:id="rId11"/>
    <p:sldId id="260" r:id="rId12"/>
    <p:sldId id="268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DF7"/>
    <a:srgbClr val="F8FAFC"/>
    <a:srgbClr val="BD966F"/>
    <a:srgbClr val="FF9412"/>
    <a:srgbClr val="257D60"/>
    <a:srgbClr val="9EE2CB"/>
    <a:srgbClr val="44C89C"/>
    <a:srgbClr val="459869"/>
    <a:srgbClr val="FFF6ED"/>
    <a:srgbClr val="99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4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21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749028-7B03-4B02-885C-D77113521619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4AF040-EF21-481B-90AC-C83BDA3491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430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456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 SemiBold" panose="020B0502040204020203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  <a:lvl2pPr>
              <a:defRPr>
                <a:latin typeface="Bahnschrift" panose="020B0502040204020203" pitchFamily="34" charset="0"/>
              </a:defRPr>
            </a:lvl2pPr>
            <a:lvl3pPr>
              <a:defRPr>
                <a:latin typeface="Bahnschrift" panose="020B0502040204020203" pitchFamily="34" charset="0"/>
              </a:defRPr>
            </a:lvl3pPr>
            <a:lvl4pPr>
              <a:defRPr>
                <a:latin typeface="Bahnschrift" panose="020B0502040204020203" pitchFamily="34" charset="0"/>
              </a:defRPr>
            </a:lvl4pPr>
            <a:lvl5pPr>
              <a:defRPr>
                <a:latin typeface="Bahnschrift" panose="020B0502040204020203" pitchFamily="34" charset="0"/>
              </a:defRPr>
            </a:lvl5pPr>
          </a:lstStyle>
          <a:p>
            <a:pPr lvl="0"/>
            <a:r>
              <a:rPr lang="en-US" dirty="0" smtClean="0"/>
              <a:t>Edit Master text styles</a:t>
            </a:r>
          </a:p>
          <a:p>
            <a:pPr lvl="1"/>
            <a:r>
              <a:rPr lang="en-US" dirty="0" smtClean="0"/>
              <a:t>Second level</a:t>
            </a:r>
          </a:p>
          <a:p>
            <a:pPr lvl="2"/>
            <a:r>
              <a:rPr lang="en-US" dirty="0" smtClean="0"/>
              <a:t>Third level</a:t>
            </a:r>
          </a:p>
          <a:p>
            <a:pPr lvl="3"/>
            <a:r>
              <a:rPr lang="en-US" dirty="0" smtClean="0"/>
              <a:t>Fourth level</a:t>
            </a:r>
          </a:p>
          <a:p>
            <a:pPr lvl="4"/>
            <a:r>
              <a:rPr lang="en-US" dirty="0" smtClean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58035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205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83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48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20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72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2523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88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9249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6860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F51E0-DBB7-4D25-9D37-AF761FC91A0D}" type="datetimeFigureOut">
              <a:rPr lang="en-GB" smtClean="0"/>
              <a:t>24/06/2026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7878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zeta_mathematical_visualizer.html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smtClean="0">
                <a:latin typeface="Bahnschrift SemiBold" panose="020B0502040204020203" pitchFamily="34" charset="0"/>
              </a:rPr>
              <a:t>Reward Encoding during a two-armed bandit task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96838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-278953" y="1407985"/>
            <a:ext cx="12776548" cy="5558872"/>
          </a:xfrm>
          <a:prstGeom prst="rect">
            <a:avLst/>
          </a:prstGeom>
          <a:solidFill>
            <a:srgbClr val="FFFDF7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Rectangle 1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ounded Rectangle 7"/>
          <p:cNvSpPr/>
          <p:nvPr/>
        </p:nvSpPr>
        <p:spPr>
          <a:xfrm>
            <a:off x="838201" y="365125"/>
            <a:ext cx="4154714" cy="91213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Project </a:t>
            </a:r>
            <a:r>
              <a:rPr lang="de-DE" sz="3200" b="1" dirty="0" smtClean="0">
                <a:solidFill>
                  <a:schemeClr val="tx1"/>
                </a:solidFill>
                <a:latin typeface="Geneva" panose="020B0503030404040204" pitchFamily="34" charset="0"/>
              </a:rPr>
              <a:t>summary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5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>
                <a:latin typeface="Bahnschrift" panose="020B0502040204020203" pitchFamily="34" charset="0"/>
              </a:rPr>
              <a:t>Introduction</a:t>
            </a:r>
            <a:r>
              <a:rPr lang="de-DE" dirty="0" smtClean="0"/>
              <a:t> to me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dirty="0" smtClean="0">
              <a:latin typeface="Bahnschrift" panose="020B0502040204020203" pitchFamily="34" charset="0"/>
            </a:endParaRPr>
          </a:p>
          <a:p>
            <a:r>
              <a:rPr lang="de-DE" dirty="0" smtClean="0">
                <a:latin typeface="Bahnschrift" panose="020B0502040204020203" pitchFamily="34" charset="0"/>
              </a:rPr>
              <a:t>Bachelor</a:t>
            </a:r>
          </a:p>
          <a:p>
            <a:r>
              <a:rPr lang="de-DE" dirty="0" smtClean="0">
                <a:latin typeface="Bahnschrift" panose="020B0502040204020203" pitchFamily="34" charset="0"/>
              </a:rPr>
              <a:t>Master</a:t>
            </a:r>
          </a:p>
          <a:p>
            <a:endParaRPr lang="en-GB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50109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 smtClean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 smtClean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 smtClean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 smtClean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38" b="9335"/>
          <a:stretch/>
        </p:blipFill>
        <p:spPr>
          <a:xfrm>
            <a:off x="6516914" y="1825625"/>
            <a:ext cx="5675086" cy="4484915"/>
          </a:xfrm>
          <a:prstGeom prst="rect">
            <a:avLst/>
          </a:prstGeom>
          <a:effectLst>
            <a:softEdge rad="76200"/>
          </a:effectLst>
        </p:spPr>
      </p:pic>
      <p:sp>
        <p:nvSpPr>
          <p:cNvPr id="7" name="TextBox 6"/>
          <p:cNvSpPr txBox="1"/>
          <p:nvPr/>
        </p:nvSpPr>
        <p:spPr>
          <a:xfrm>
            <a:off x="6905625" y="2038350"/>
            <a:ext cx="1868075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Middle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409973" y="2117993"/>
            <a:ext cx="1880002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 smtClean="0">
                <a:solidFill>
                  <a:schemeClr val="tx1">
                    <a:lumMod val="75000"/>
                    <a:lumOff val="25000"/>
                  </a:schemeClr>
                </a:solidFill>
              </a:rPr>
              <a:t>Supramarginal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296525" y="2660054"/>
            <a:ext cx="1326004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Angular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6765131" y="5794473"/>
            <a:ext cx="1900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Inferior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2516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 smtClean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 smtClean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 smtClean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 smtClean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 smtClean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9266"/>
          <a:stretch/>
        </p:blipFill>
        <p:spPr>
          <a:xfrm>
            <a:off x="7595599" y="309093"/>
            <a:ext cx="3835475" cy="626297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95092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 smtClean="0"/>
              <a:t>Project Summary</a:t>
            </a:r>
            <a:endParaRPr lang="en-GB" dirty="0"/>
          </a:p>
        </p:txBody>
      </p:sp>
      <p:sp>
        <p:nvSpPr>
          <p:cNvPr id="17" name="Rectangle 16"/>
          <p:cNvSpPr/>
          <p:nvPr/>
        </p:nvSpPr>
        <p:spPr>
          <a:xfrm>
            <a:off x="-242696" y="1416582"/>
            <a:ext cx="12646152" cy="3758705"/>
          </a:xfrm>
          <a:prstGeom prst="rect">
            <a:avLst/>
          </a:prstGeom>
          <a:solidFill>
            <a:srgbClr val="FFFD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95664"/>
              </p:ext>
            </p:extLst>
          </p:nvPr>
        </p:nvGraphicFramePr>
        <p:xfrm>
          <a:off x="2016380" y="3958806"/>
          <a:ext cx="812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419694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688124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b="1" dirty="0" smtClean="0">
                          <a:latin typeface="Bahnschrift" panose="020B0502040204020203" pitchFamily="34" charset="0"/>
                        </a:rPr>
                        <a:t>Safe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4598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1" dirty="0" smtClean="0">
                          <a:latin typeface="Bahnschrift" panose="020B0502040204020203" pitchFamily="34" charset="0"/>
                        </a:rPr>
                        <a:t>Gamble</a:t>
                      </a:r>
                      <a:r>
                        <a:rPr lang="de-DE" sz="1800" b="1" baseline="0" dirty="0" smtClean="0">
                          <a:latin typeface="Bahnschrift" panose="020B0502040204020203" pitchFamily="34" charset="0"/>
                        </a:rPr>
                        <a:t>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9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866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1x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4x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5867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guaranteed probability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varying probability: {0.1, 0.2, 0.4, 0.8}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473179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          ~3 seconds trial start to trial end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74224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          ~2h per session duration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22670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 smtClean="0">
                          <a:latin typeface="Bahnschrift" panose="020B0502040204020203" pitchFamily="34" charset="0"/>
                        </a:rPr>
                        <a:t>          randomized probability schedule per session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78732"/>
                  </a:ext>
                </a:extLst>
              </a:tr>
            </a:tbl>
          </a:graphicData>
        </a:graphic>
      </p:graphicFrame>
      <p:grpSp>
        <p:nvGrpSpPr>
          <p:cNvPr id="21" name="Group 20"/>
          <p:cNvGrpSpPr/>
          <p:nvPr/>
        </p:nvGrpSpPr>
        <p:grpSpPr>
          <a:xfrm>
            <a:off x="0" y="81775"/>
            <a:ext cx="12160760" cy="3593681"/>
            <a:chOff x="0" y="81775"/>
            <a:chExt cx="12160760" cy="3593681"/>
          </a:xfrm>
        </p:grpSpPr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1775"/>
              <a:ext cx="12160760" cy="3593681"/>
            </a:xfrm>
            <a:prstGeom prst="rect">
              <a:avLst/>
            </a:prstGeom>
            <a:effectLst>
              <a:softEdge rad="63500"/>
            </a:effectLst>
          </p:spPr>
        </p:pic>
        <p:sp>
          <p:nvSpPr>
            <p:cNvPr id="20" name="TextBox 19"/>
            <p:cNvSpPr txBox="1"/>
            <p:nvPr/>
          </p:nvSpPr>
          <p:spPr>
            <a:xfrm>
              <a:off x="4424856" y="81775"/>
              <a:ext cx="3212739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dirty="0" smtClean="0">
                  <a:latin typeface="Bahnschrift" panose="020B0502040204020203" pitchFamily="34" charset="0"/>
                </a:rPr>
                <a:t>Choice Behaviour – Session 21.05.2025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514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4.44444E-6 L 0.00534 -0.222 " pathEditMode="relative" rAng="0" ptsTypes="AA">
                                      <p:cBhvr>
                                        <p:cTn id="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" y="-11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842931"/>
              </p:ext>
            </p:extLst>
          </p:nvPr>
        </p:nvGraphicFramePr>
        <p:xfrm>
          <a:off x="838200" y="2300945"/>
          <a:ext cx="10515600" cy="350520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17702451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6471046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8071194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7552305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6230977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448417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Session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Trials (resp.)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Units (</a:t>
                      </a:r>
                      <a:r>
                        <a:rPr lang="en-GB" b="1" dirty="0" err="1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su</a:t>
                      </a: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/mu)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Rec. (min)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Gamble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Reward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678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20250521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1009 (939)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252 (180/72)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0.42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0.77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848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20250602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1018 (947)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214 (152/62)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16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20250605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1037 (962)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241 (167/74)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143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3963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635 (507)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215 (165/50)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70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51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911 (772)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220 (167/53)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129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34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694 (639)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225 (184/41)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259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984 (902)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249 (191/58)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5772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20250714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1006 (959)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229 (180/49)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0.40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349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Total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7294 (6627)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1845 (1386/459)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920000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8200" y="479255"/>
            <a:ext cx="1904999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8</a:t>
            </a:r>
            <a:endParaRPr lang="de-DE" sz="3200" b="1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sessions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47754" y="51437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6,627</a:t>
            </a:r>
            <a:endParaRPr lang="de-DE" sz="3200" b="1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r</a:t>
            </a:r>
            <a:r>
              <a:rPr lang="de-DE" sz="20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esponding trials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438605" y="479254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37%</a:t>
            </a:r>
            <a:endParaRPr lang="de-DE" sz="3200" b="1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Gamble rate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82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Are 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BD966F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arm?</a:t>
            </a:r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</a:t>
            </a:r>
            <a:r>
              <a:rPr lang="de-DE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· Latent Variable encoding</a:t>
            </a:r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 smtClean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822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-419100" y="-122585"/>
            <a:ext cx="4314824" cy="72377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7524" y="1907827"/>
            <a:ext cx="762000" cy="4578524"/>
          </a:xfrm>
        </p:spPr>
        <p:txBody>
          <a:bodyPr/>
          <a:lstStyle/>
          <a:p>
            <a:pPr marL="0" indent="0">
              <a:buNone/>
            </a:pPr>
            <a:r>
              <a:rPr lang="de-DE" sz="5400" b="1" dirty="0" smtClean="0"/>
              <a:t>Z</a:t>
            </a:r>
          </a:p>
          <a:p>
            <a:pPr marL="0" indent="0">
              <a:buNone/>
            </a:pPr>
            <a:r>
              <a:rPr lang="de-DE" sz="5400" b="1" dirty="0" smtClean="0"/>
              <a:t>E</a:t>
            </a:r>
          </a:p>
          <a:p>
            <a:pPr marL="0" indent="0">
              <a:buNone/>
            </a:pPr>
            <a:r>
              <a:rPr lang="de-DE" sz="5400" b="1" dirty="0" smtClean="0"/>
              <a:t>T   </a:t>
            </a:r>
          </a:p>
          <a:p>
            <a:pPr marL="0" indent="0">
              <a:buNone/>
            </a:pPr>
            <a:r>
              <a:rPr lang="de-DE" sz="5400" b="1" dirty="0" smtClean="0"/>
              <a:t>A</a:t>
            </a:r>
            <a:endParaRPr lang="de-DE" sz="4000" b="1" dirty="0" smtClean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Rectangle 5"/>
          <p:cNvSpPr/>
          <p:nvPr/>
        </p:nvSpPr>
        <p:spPr>
          <a:xfrm>
            <a:off x="-755203" y="-122586"/>
            <a:ext cx="13137703" cy="1628775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5724" y="1907827"/>
            <a:ext cx="11163300" cy="457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5400" dirty="0" smtClean="0"/>
              <a:t>enith of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 smtClean="0"/>
              <a:t>vent-based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 smtClean="0"/>
              <a:t>ime locked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 smtClean="0"/>
              <a:t>nomalies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680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2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ZETA test for time-locked spiking	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Compare to the flat line expected if spikes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Significance from </a:t>
            </a:r>
            <a:r>
              <a:rPr lang="en-GB" b="1" dirty="0"/>
              <a:t>jittered</a:t>
            </a:r>
            <a:r>
              <a:rPr lang="en-GB" dirty="0"/>
              <a:t> resampling of event times.</a:t>
            </a:r>
          </a:p>
        </p:txBody>
      </p:sp>
    </p:spTree>
    <p:extLst>
      <p:ext uri="{BB962C8B-B14F-4D97-AF65-F5344CB8AC3E}">
        <p14:creationId xmlns:p14="http://schemas.microsoft.com/office/powerpoint/2010/main" val="41802810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ZETA visualization</a:t>
            </a:r>
            <a:endParaRPr lang="en-GB" dirty="0"/>
          </a:p>
        </p:txBody>
      </p:sp>
      <p:pic>
        <p:nvPicPr>
          <p:cNvPr id="7" name="Picture 6">
            <a:hlinkClick r:id="rId2" action="ppaction://hlinkfile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36" y="1690688"/>
            <a:ext cx="7892370" cy="49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401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Zeta Examples	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PSTHs showing selective neurons</a:t>
            </a:r>
          </a:p>
          <a:p>
            <a:r>
              <a:rPr lang="de-DE" dirty="0" smtClean="0"/>
              <a:t>Limitations of ZETA?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3680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Behavioural modelling 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What is it?</a:t>
            </a:r>
          </a:p>
          <a:p>
            <a:r>
              <a:rPr lang="de-DE" dirty="0" smtClean="0"/>
              <a:t>What is the point of it = extraction of latent variables.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552645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Rescorla wagner q learning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Equation</a:t>
            </a:r>
          </a:p>
          <a:p>
            <a:r>
              <a:rPr lang="de-DE" dirty="0" smtClean="0"/>
              <a:t>How and when is it updated</a:t>
            </a:r>
          </a:p>
          <a:p>
            <a:r>
              <a:rPr lang="de-DE" dirty="0" smtClean="0"/>
              <a:t>Why is it good?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4900692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Rescorla wagner with stickiness factor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What is added</a:t>
            </a:r>
          </a:p>
          <a:p>
            <a:r>
              <a:rPr lang="de-DE" dirty="0" smtClean="0"/>
              <a:t>How good is the match?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613901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Hierarchical Gaussian Filter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What is it?</a:t>
            </a:r>
          </a:p>
          <a:p>
            <a:r>
              <a:rPr lang="de-DE" dirty="0" smtClean="0"/>
              <a:t>Why use it instead of RW?</a:t>
            </a:r>
          </a:p>
          <a:p>
            <a:r>
              <a:rPr lang="de-DE" dirty="0" smtClean="0"/>
              <a:t>Equations explained?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35911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HGF visualization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273654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HGF results – prediction error vs firing rates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Figures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6884555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886</TotalTime>
  <Words>475</Words>
  <Application>Microsoft Office PowerPoint</Application>
  <PresentationFormat>Widescreen</PresentationFormat>
  <Paragraphs>147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6" baseType="lpstr">
      <vt:lpstr>Arial</vt:lpstr>
      <vt:lpstr>Bahnschrift</vt:lpstr>
      <vt:lpstr>Bahnschrift SemiBold</vt:lpstr>
      <vt:lpstr>Calibri</vt:lpstr>
      <vt:lpstr>Calibri Light</vt:lpstr>
      <vt:lpstr>Geneva</vt:lpstr>
      <vt:lpstr>Wingdings</vt:lpstr>
      <vt:lpstr>Office Theme</vt:lpstr>
      <vt:lpstr>Reward Encoding during a two-armed bandit task</vt:lpstr>
      <vt:lpstr>PowerPoint Presentation</vt:lpstr>
      <vt:lpstr>Introduction to me</vt:lpstr>
      <vt:lpstr>Project Summary</vt:lpstr>
      <vt:lpstr>Project Summary</vt:lpstr>
      <vt:lpstr>Project Summary</vt:lpstr>
      <vt:lpstr>PowerPoint Presentation</vt:lpstr>
      <vt:lpstr>Research Questions</vt:lpstr>
      <vt:lpstr>PowerPoint Presentation</vt:lpstr>
      <vt:lpstr>ZETA test for time-locked spiking </vt:lpstr>
      <vt:lpstr>ZETA visualization</vt:lpstr>
      <vt:lpstr>Zeta Examples </vt:lpstr>
      <vt:lpstr>Behavioural modelling </vt:lpstr>
      <vt:lpstr>Rescorla wagner q learning</vt:lpstr>
      <vt:lpstr>Rescorla wagner with stickiness factor</vt:lpstr>
      <vt:lpstr>Hierarchical Gaussian Filter</vt:lpstr>
      <vt:lpstr>HGF visualization</vt:lpstr>
      <vt:lpstr>HGF results – prediction error vs firing rates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</dc:title>
  <dc:creator>mstammler</dc:creator>
  <cp:lastModifiedBy>mstammler</cp:lastModifiedBy>
  <cp:revision>33</cp:revision>
  <dcterms:created xsi:type="dcterms:W3CDTF">2026-06-22T10:02:13Z</dcterms:created>
  <dcterms:modified xsi:type="dcterms:W3CDTF">2026-06-24T14:37:46Z</dcterms:modified>
</cp:coreProperties>
</file>