
<file path=[Content_Types].xml><?xml version="1.0" encoding="utf-8"?>
<Types xmlns="http://schemas.openxmlformats.org/package/2006/content-types">
  <Default Extension="png" ContentType="image/png"/>
  <Default Extension="svg" ContentType="image/svg+xml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handoutMasterIdLst>
    <p:handoutMasterId r:id="rId42"/>
  </p:handoutMasterIdLst>
  <p:sldIdLst>
    <p:sldId id="256" r:id="rId2"/>
    <p:sldId id="269" r:id="rId3"/>
    <p:sldId id="292" r:id="rId4"/>
    <p:sldId id="293" r:id="rId5"/>
    <p:sldId id="294" r:id="rId6"/>
    <p:sldId id="295" r:id="rId7"/>
    <p:sldId id="258" r:id="rId8"/>
    <p:sldId id="271" r:id="rId9"/>
    <p:sldId id="270" r:id="rId10"/>
    <p:sldId id="272" r:id="rId11"/>
    <p:sldId id="261" r:id="rId12"/>
    <p:sldId id="273" r:id="rId13"/>
    <p:sldId id="259" r:id="rId14"/>
    <p:sldId id="260" r:id="rId15"/>
    <p:sldId id="268" r:id="rId16"/>
    <p:sldId id="274" r:id="rId17"/>
    <p:sldId id="298" r:id="rId18"/>
    <p:sldId id="287" r:id="rId19"/>
    <p:sldId id="262" r:id="rId20"/>
    <p:sldId id="275" r:id="rId21"/>
    <p:sldId id="277" r:id="rId22"/>
    <p:sldId id="279" r:id="rId23"/>
    <p:sldId id="278" r:id="rId24"/>
    <p:sldId id="296" r:id="rId25"/>
    <p:sldId id="276" r:id="rId26"/>
    <p:sldId id="263" r:id="rId27"/>
    <p:sldId id="283" r:id="rId28"/>
    <p:sldId id="280" r:id="rId29"/>
    <p:sldId id="282" r:id="rId30"/>
    <p:sldId id="265" r:id="rId31"/>
    <p:sldId id="290" r:id="rId32"/>
    <p:sldId id="291" r:id="rId33"/>
    <p:sldId id="288" r:id="rId34"/>
    <p:sldId id="284" r:id="rId35"/>
    <p:sldId id="304" r:id="rId36"/>
    <p:sldId id="303" r:id="rId37"/>
    <p:sldId id="297" r:id="rId38"/>
    <p:sldId id="301" r:id="rId39"/>
    <p:sldId id="299" r:id="rId40"/>
    <p:sldId id="302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0000"/>
    <a:srgbClr val="48996B"/>
    <a:srgbClr val="B32424"/>
    <a:srgbClr val="FF9E28"/>
    <a:srgbClr val="0AB77E"/>
    <a:srgbClr val="257D60"/>
    <a:srgbClr val="FFF8E5"/>
    <a:srgbClr val="FFF2CD"/>
    <a:srgbClr val="FFFDF7"/>
    <a:srgbClr val="0CB8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103" d="100"/>
          <a:sy n="103" d="100"/>
        </p:scale>
        <p:origin x="138" y="3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8" d="100"/>
          <a:sy n="88" d="100"/>
        </p:scale>
        <p:origin x="2214" y="6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presProps" Target="pres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DEA52EC-7676-47C9-8D53-46B739BD2587}" type="doc">
      <dgm:prSet loTypeId="urn:microsoft.com/office/officeart/2005/8/layout/cycle8" loCatId="cycle" qsTypeId="urn:microsoft.com/office/officeart/2005/8/quickstyle/simple1" qsCatId="simple" csTypeId="urn:microsoft.com/office/officeart/2005/8/colors/accent1_2" csCatId="accent1" phldr="1"/>
      <dgm:spPr/>
    </dgm:pt>
    <dgm:pt modelId="{DBF283F7-617E-4082-A2AD-BFAAF939546A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 smtClean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out-come</a:t>
          </a:r>
          <a:endParaRPr lang="en-US" sz="2800" kern="1200" dirty="0">
            <a:solidFill>
              <a:schemeClr val="tx1"/>
            </a:solidFill>
            <a:latin typeface="Bahnschrift" panose="020B0502040204020203" pitchFamily="34" charset="0"/>
            <a:ea typeface="+mn-ea"/>
            <a:cs typeface="+mn-cs"/>
          </a:endParaRPr>
        </a:p>
      </dgm:t>
    </dgm:pt>
    <dgm:pt modelId="{48859DF4-1CAC-4FFA-950E-A8C3D6C6EDD0}" type="parTrans" cxnId="{A3BD1D09-917F-446D-BBFC-01EE249FBAC4}">
      <dgm:prSet/>
      <dgm:spPr/>
      <dgm:t>
        <a:bodyPr/>
        <a:lstStyle/>
        <a:p>
          <a:endParaRPr lang="en-US"/>
        </a:p>
      </dgm:t>
    </dgm:pt>
    <dgm:pt modelId="{2B269CAD-26B2-49B7-8DBE-9F0441B9BE1E}" type="sibTrans" cxnId="{A3BD1D09-917F-446D-BBFC-01EE249FBAC4}">
      <dgm:prSet/>
      <dgm:spPr/>
      <dgm:t>
        <a:bodyPr/>
        <a:lstStyle/>
        <a:p>
          <a:endParaRPr lang="en-US"/>
        </a:p>
      </dgm:t>
    </dgm:pt>
    <dgm:pt modelId="{0BC66A2B-1DD2-4A8C-A7E6-4706A5A565F2}">
      <dgm:prSet phldrT="[Text]" custT="1"/>
      <dgm:spPr>
        <a:solidFill>
          <a:srgbClr val="FFD7A7"/>
        </a:solidFill>
      </dgm:spPr>
      <dgm:t>
        <a:bodyPr/>
        <a:lstStyle/>
        <a:p>
          <a:r>
            <a:rPr lang="en-US" sz="2800" b="1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</a:p>
      </dgm:t>
    </dgm:pt>
    <dgm:pt modelId="{53A6D6CB-1B65-4EC5-8C87-678BCA6B287D}" type="parTrans" cxnId="{054D30D1-3227-4A91-8F68-5D1E792E8774}">
      <dgm:prSet/>
      <dgm:spPr/>
      <dgm:t>
        <a:bodyPr/>
        <a:lstStyle/>
        <a:p>
          <a:endParaRPr lang="en-US"/>
        </a:p>
      </dgm:t>
    </dgm:pt>
    <dgm:pt modelId="{5F85C5D3-97EB-437D-BC96-722C0B626794}" type="sibTrans" cxnId="{054D30D1-3227-4A91-8F68-5D1E792E8774}">
      <dgm:prSet/>
      <dgm:spPr/>
      <dgm:t>
        <a:bodyPr/>
        <a:lstStyle/>
        <a:p>
          <a:endParaRPr lang="en-US"/>
        </a:p>
      </dgm:t>
    </dgm:pt>
    <dgm:pt modelId="{465ABD7E-49EC-43D9-97C5-6A4B67335834}">
      <dgm:prSet phldrT="[Text]" custT="1"/>
      <dgm:spPr>
        <a:solidFill>
          <a:srgbClr val="CFF1E6"/>
        </a:solidFill>
      </dgm:spPr>
      <dgm:t>
        <a:bodyPr/>
        <a:lstStyle/>
        <a:p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</a:p>
      </dgm:t>
    </dgm:pt>
    <dgm:pt modelId="{F86C5027-5A3B-4A7A-A8C2-CE64D014DE97}" type="parTrans" cxnId="{26E01A93-AAB4-4B0E-9714-DDECC3C8A632}">
      <dgm:prSet/>
      <dgm:spPr/>
      <dgm:t>
        <a:bodyPr/>
        <a:lstStyle/>
        <a:p>
          <a:endParaRPr lang="en-US"/>
        </a:p>
      </dgm:t>
    </dgm:pt>
    <dgm:pt modelId="{B0E0A821-4726-4C37-A1CE-BF1E908724BF}" type="sibTrans" cxnId="{26E01A93-AAB4-4B0E-9714-DDECC3C8A632}">
      <dgm:prSet/>
      <dgm:spPr/>
      <dgm:t>
        <a:bodyPr/>
        <a:lstStyle/>
        <a:p>
          <a:endParaRPr lang="en-US"/>
        </a:p>
      </dgm:t>
    </dgm:pt>
    <dgm:pt modelId="{5B589FE8-1180-43E9-9DD9-8C60F02AF256}" type="pres">
      <dgm:prSet presAssocID="{4DEA52EC-7676-47C9-8D53-46B739BD2587}" presName="compositeShape" presStyleCnt="0">
        <dgm:presLayoutVars>
          <dgm:chMax val="7"/>
          <dgm:dir/>
          <dgm:resizeHandles val="exact"/>
        </dgm:presLayoutVars>
      </dgm:prSet>
      <dgm:spPr/>
    </dgm:pt>
    <dgm:pt modelId="{ECE168B9-97D6-4F75-9289-AF0458231259}" type="pres">
      <dgm:prSet presAssocID="{4DEA52EC-7676-47C9-8D53-46B739BD2587}" presName="wedge1" presStyleLbl="node1" presStyleIdx="0" presStyleCnt="3"/>
      <dgm:spPr/>
      <dgm:t>
        <a:bodyPr/>
        <a:lstStyle/>
        <a:p>
          <a:endParaRPr lang="en-US"/>
        </a:p>
      </dgm:t>
    </dgm:pt>
    <dgm:pt modelId="{936F56D5-CB26-4B20-B0FA-6C6FE1834F39}" type="pres">
      <dgm:prSet presAssocID="{4DEA52EC-7676-47C9-8D53-46B739BD2587}" presName="dummy1a" presStyleCnt="0"/>
      <dgm:spPr/>
    </dgm:pt>
    <dgm:pt modelId="{F60AA58E-22C8-4E39-ACCD-DFB7D3AA2B40}" type="pres">
      <dgm:prSet presAssocID="{4DEA52EC-7676-47C9-8D53-46B739BD2587}" presName="dummy1b" presStyleCnt="0"/>
      <dgm:spPr/>
    </dgm:pt>
    <dgm:pt modelId="{B96C4C7D-8621-4D0F-BBC4-D8B0CA18F115}" type="pres">
      <dgm:prSet presAssocID="{4DEA52EC-7676-47C9-8D53-46B739BD2587}" presName="wedge1Tx" presStyleLbl="node1" presStyleIdx="0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B2BDB46-B1F8-4502-BAF4-FF4CD80D55D7}" type="pres">
      <dgm:prSet presAssocID="{4DEA52EC-7676-47C9-8D53-46B739BD2587}" presName="wedge2" presStyleLbl="node1" presStyleIdx="1" presStyleCnt="3" custScaleX="121659" custScaleY="114947"/>
      <dgm:spPr/>
      <dgm:t>
        <a:bodyPr/>
        <a:lstStyle/>
        <a:p>
          <a:endParaRPr lang="en-US"/>
        </a:p>
      </dgm:t>
    </dgm:pt>
    <dgm:pt modelId="{BBCA0883-4239-43BF-8066-2531F61B2759}" type="pres">
      <dgm:prSet presAssocID="{4DEA52EC-7676-47C9-8D53-46B739BD2587}" presName="dummy2a" presStyleCnt="0"/>
      <dgm:spPr/>
    </dgm:pt>
    <dgm:pt modelId="{31038F61-FB99-4A02-B9E3-757F8127A8F9}" type="pres">
      <dgm:prSet presAssocID="{4DEA52EC-7676-47C9-8D53-46B739BD2587}" presName="dummy2b" presStyleCnt="0"/>
      <dgm:spPr/>
    </dgm:pt>
    <dgm:pt modelId="{10A53F47-8ED4-4B0B-B765-C54515E800D2}" type="pres">
      <dgm:prSet presAssocID="{4DEA52EC-7676-47C9-8D53-46B739BD2587}" presName="wedge2Tx" presStyleLbl="node1" presStyleIdx="1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D5E000D8-9AAE-49A4-87FF-0642AB719E81}" type="pres">
      <dgm:prSet presAssocID="{4DEA52EC-7676-47C9-8D53-46B739BD2587}" presName="wedge3" presStyleLbl="node1" presStyleIdx="2" presStyleCnt="3"/>
      <dgm:spPr/>
      <dgm:t>
        <a:bodyPr/>
        <a:lstStyle/>
        <a:p>
          <a:endParaRPr lang="en-US"/>
        </a:p>
      </dgm:t>
    </dgm:pt>
    <dgm:pt modelId="{8245ECD6-57B2-4F6F-B83D-4AB0EA52FE4D}" type="pres">
      <dgm:prSet presAssocID="{4DEA52EC-7676-47C9-8D53-46B739BD2587}" presName="dummy3a" presStyleCnt="0"/>
      <dgm:spPr/>
    </dgm:pt>
    <dgm:pt modelId="{1074AF88-0D25-412C-97FA-37DFF9F6F7C9}" type="pres">
      <dgm:prSet presAssocID="{4DEA52EC-7676-47C9-8D53-46B739BD2587}" presName="dummy3b" presStyleCnt="0"/>
      <dgm:spPr/>
    </dgm:pt>
    <dgm:pt modelId="{6DDCB976-2FE0-4A90-B6ED-DE80609CC20C}" type="pres">
      <dgm:prSet presAssocID="{4DEA52EC-7676-47C9-8D53-46B739BD2587}" presName="wedge3Tx" presStyleLbl="node1" presStyleIdx="2" presStyleCnt="3">
        <dgm:presLayoutVars>
          <dgm:chMax val="0"/>
          <dgm:chPref val="0"/>
          <dgm:bulletEnabled val="1"/>
        </dgm:presLayoutVars>
      </dgm:prSet>
      <dgm:spPr/>
      <dgm:t>
        <a:bodyPr/>
        <a:lstStyle/>
        <a:p>
          <a:endParaRPr lang="en-US"/>
        </a:p>
      </dgm:t>
    </dgm:pt>
    <dgm:pt modelId="{E8DD7363-32E9-4432-A10F-A450F8052676}" type="pres">
      <dgm:prSet presAssocID="{2B269CAD-26B2-49B7-8DBE-9F0441B9BE1E}" presName="arrowWedge1" presStyleLbl="fgSibTrans2D1" presStyleIdx="0" presStyleCnt="3"/>
      <dgm:spPr>
        <a:solidFill>
          <a:srgbClr val="0CB87F"/>
        </a:solidFill>
      </dgm:spPr>
    </dgm:pt>
    <dgm:pt modelId="{EE594C67-07A8-4253-96DD-429D3EBFF105}" type="pres">
      <dgm:prSet presAssocID="{5F85C5D3-97EB-437D-BC96-722C0B626794}" presName="arrowWedge2" presStyleLbl="fgSibTrans2D1" presStyleIdx="1" presStyleCnt="3" custScaleX="121659" custScaleY="114947"/>
      <dgm:spPr>
        <a:solidFill>
          <a:srgbClr val="FF9412"/>
        </a:solidFill>
      </dgm:spPr>
    </dgm:pt>
    <dgm:pt modelId="{FBE90A44-D576-4B55-A365-B5C38D946CB1}" type="pres">
      <dgm:prSet presAssocID="{B0E0A821-4726-4C37-A1CE-BF1E908724BF}" presName="arrowWedge3" presStyleLbl="fgSibTrans2D1" presStyleIdx="2" presStyleCnt="3"/>
      <dgm:spPr>
        <a:solidFill>
          <a:srgbClr val="0CB87F"/>
        </a:solidFill>
      </dgm:spPr>
    </dgm:pt>
  </dgm:ptLst>
  <dgm:cxnLst>
    <dgm:cxn modelId="{26E01A93-AAB4-4B0E-9714-DDECC3C8A632}" srcId="{4DEA52EC-7676-47C9-8D53-46B739BD2587}" destId="{465ABD7E-49EC-43D9-97C5-6A4B67335834}" srcOrd="2" destOrd="0" parTransId="{F86C5027-5A3B-4A7A-A8C2-CE64D014DE97}" sibTransId="{B0E0A821-4726-4C37-A1CE-BF1E908724BF}"/>
    <dgm:cxn modelId="{A3BD1D09-917F-446D-BBFC-01EE249FBAC4}" srcId="{4DEA52EC-7676-47C9-8D53-46B739BD2587}" destId="{DBF283F7-617E-4082-A2AD-BFAAF939546A}" srcOrd="0" destOrd="0" parTransId="{48859DF4-1CAC-4FFA-950E-A8C3D6C6EDD0}" sibTransId="{2B269CAD-26B2-49B7-8DBE-9F0441B9BE1E}"/>
    <dgm:cxn modelId="{9C4AFFA6-8D65-4D9A-ACAC-4F79155E5D3C}" type="presOf" srcId="{4DEA52EC-7676-47C9-8D53-46B739BD2587}" destId="{5B589FE8-1180-43E9-9DD9-8C60F02AF256}" srcOrd="0" destOrd="0" presId="urn:microsoft.com/office/officeart/2005/8/layout/cycle8"/>
    <dgm:cxn modelId="{A888CEDD-92B2-4708-BD8D-16EAECE9934F}" type="presOf" srcId="{DBF283F7-617E-4082-A2AD-BFAAF939546A}" destId="{ECE168B9-97D6-4F75-9289-AF0458231259}" srcOrd="0" destOrd="0" presId="urn:microsoft.com/office/officeart/2005/8/layout/cycle8"/>
    <dgm:cxn modelId="{E0EB9B1E-AC48-4775-B852-9ACA75C44C78}" type="presOf" srcId="{0BC66A2B-1DD2-4A8C-A7E6-4706A5A565F2}" destId="{10A53F47-8ED4-4B0B-B765-C54515E800D2}" srcOrd="1" destOrd="0" presId="urn:microsoft.com/office/officeart/2005/8/layout/cycle8"/>
    <dgm:cxn modelId="{0B220C60-5818-43B2-939E-982284DA03A5}" type="presOf" srcId="{465ABD7E-49EC-43D9-97C5-6A4B67335834}" destId="{D5E000D8-9AAE-49A4-87FF-0642AB719E81}" srcOrd="0" destOrd="0" presId="urn:microsoft.com/office/officeart/2005/8/layout/cycle8"/>
    <dgm:cxn modelId="{BB0E7396-0C60-44A9-95EE-3F01D4E9DE43}" type="presOf" srcId="{0BC66A2B-1DD2-4A8C-A7E6-4706A5A565F2}" destId="{EB2BDB46-B1F8-4502-BAF4-FF4CD80D55D7}" srcOrd="0" destOrd="0" presId="urn:microsoft.com/office/officeart/2005/8/layout/cycle8"/>
    <dgm:cxn modelId="{054D30D1-3227-4A91-8F68-5D1E792E8774}" srcId="{4DEA52EC-7676-47C9-8D53-46B739BD2587}" destId="{0BC66A2B-1DD2-4A8C-A7E6-4706A5A565F2}" srcOrd="1" destOrd="0" parTransId="{53A6D6CB-1B65-4EC5-8C87-678BCA6B287D}" sibTransId="{5F85C5D3-97EB-437D-BC96-722C0B626794}"/>
    <dgm:cxn modelId="{645A2DB8-3540-49FE-A150-CFEC60E8473A}" type="presOf" srcId="{465ABD7E-49EC-43D9-97C5-6A4B67335834}" destId="{6DDCB976-2FE0-4A90-B6ED-DE80609CC20C}" srcOrd="1" destOrd="0" presId="urn:microsoft.com/office/officeart/2005/8/layout/cycle8"/>
    <dgm:cxn modelId="{221C58C9-64CB-4D36-BA60-E09FC27F6E29}" type="presOf" srcId="{DBF283F7-617E-4082-A2AD-BFAAF939546A}" destId="{B96C4C7D-8621-4D0F-BBC4-D8B0CA18F115}" srcOrd="1" destOrd="0" presId="urn:microsoft.com/office/officeart/2005/8/layout/cycle8"/>
    <dgm:cxn modelId="{2D01EE17-B314-4859-9BDA-46F0F211E530}" type="presParOf" srcId="{5B589FE8-1180-43E9-9DD9-8C60F02AF256}" destId="{ECE168B9-97D6-4F75-9289-AF0458231259}" srcOrd="0" destOrd="0" presId="urn:microsoft.com/office/officeart/2005/8/layout/cycle8"/>
    <dgm:cxn modelId="{650500E8-FF35-4B10-B79D-B941396585E3}" type="presParOf" srcId="{5B589FE8-1180-43E9-9DD9-8C60F02AF256}" destId="{936F56D5-CB26-4B20-B0FA-6C6FE1834F39}" srcOrd="1" destOrd="0" presId="urn:microsoft.com/office/officeart/2005/8/layout/cycle8"/>
    <dgm:cxn modelId="{AB88B786-4180-409E-85F7-4EEBABBE756B}" type="presParOf" srcId="{5B589FE8-1180-43E9-9DD9-8C60F02AF256}" destId="{F60AA58E-22C8-4E39-ACCD-DFB7D3AA2B40}" srcOrd="2" destOrd="0" presId="urn:microsoft.com/office/officeart/2005/8/layout/cycle8"/>
    <dgm:cxn modelId="{1AAC7621-A02D-4A4C-AC95-82D0C85496C1}" type="presParOf" srcId="{5B589FE8-1180-43E9-9DD9-8C60F02AF256}" destId="{B96C4C7D-8621-4D0F-BBC4-D8B0CA18F115}" srcOrd="3" destOrd="0" presId="urn:microsoft.com/office/officeart/2005/8/layout/cycle8"/>
    <dgm:cxn modelId="{4B728EB6-2227-4633-8AA0-4901097A64E9}" type="presParOf" srcId="{5B589FE8-1180-43E9-9DD9-8C60F02AF256}" destId="{EB2BDB46-B1F8-4502-BAF4-FF4CD80D55D7}" srcOrd="4" destOrd="0" presId="urn:microsoft.com/office/officeart/2005/8/layout/cycle8"/>
    <dgm:cxn modelId="{7063EAF8-E520-46FA-9921-53CBEDAE809C}" type="presParOf" srcId="{5B589FE8-1180-43E9-9DD9-8C60F02AF256}" destId="{BBCA0883-4239-43BF-8066-2531F61B2759}" srcOrd="5" destOrd="0" presId="urn:microsoft.com/office/officeart/2005/8/layout/cycle8"/>
    <dgm:cxn modelId="{229063A9-8402-4021-A75B-10C02AAA8DEC}" type="presParOf" srcId="{5B589FE8-1180-43E9-9DD9-8C60F02AF256}" destId="{31038F61-FB99-4A02-B9E3-757F8127A8F9}" srcOrd="6" destOrd="0" presId="urn:microsoft.com/office/officeart/2005/8/layout/cycle8"/>
    <dgm:cxn modelId="{3B0869B0-EBE4-4235-A72A-48598CC8C9C2}" type="presParOf" srcId="{5B589FE8-1180-43E9-9DD9-8C60F02AF256}" destId="{10A53F47-8ED4-4B0B-B765-C54515E800D2}" srcOrd="7" destOrd="0" presId="urn:microsoft.com/office/officeart/2005/8/layout/cycle8"/>
    <dgm:cxn modelId="{2395E4C2-6FCE-4E7A-9113-49B263ED1464}" type="presParOf" srcId="{5B589FE8-1180-43E9-9DD9-8C60F02AF256}" destId="{D5E000D8-9AAE-49A4-87FF-0642AB719E81}" srcOrd="8" destOrd="0" presId="urn:microsoft.com/office/officeart/2005/8/layout/cycle8"/>
    <dgm:cxn modelId="{04F98DAB-7911-48FC-81A4-5C43A9500CBB}" type="presParOf" srcId="{5B589FE8-1180-43E9-9DD9-8C60F02AF256}" destId="{8245ECD6-57B2-4F6F-B83D-4AB0EA52FE4D}" srcOrd="9" destOrd="0" presId="urn:microsoft.com/office/officeart/2005/8/layout/cycle8"/>
    <dgm:cxn modelId="{E26EA9AD-5807-4830-990A-9B6F1ED7FDFF}" type="presParOf" srcId="{5B589FE8-1180-43E9-9DD9-8C60F02AF256}" destId="{1074AF88-0D25-412C-97FA-37DFF9F6F7C9}" srcOrd="10" destOrd="0" presId="urn:microsoft.com/office/officeart/2005/8/layout/cycle8"/>
    <dgm:cxn modelId="{790547AE-AFE1-45A6-9C2E-524EF57980D5}" type="presParOf" srcId="{5B589FE8-1180-43E9-9DD9-8C60F02AF256}" destId="{6DDCB976-2FE0-4A90-B6ED-DE80609CC20C}" srcOrd="11" destOrd="0" presId="urn:microsoft.com/office/officeart/2005/8/layout/cycle8"/>
    <dgm:cxn modelId="{CCBB7E69-8F5E-4FC6-9EB1-F19FD377E4BF}" type="presParOf" srcId="{5B589FE8-1180-43E9-9DD9-8C60F02AF256}" destId="{E8DD7363-32E9-4432-A10F-A450F8052676}" srcOrd="12" destOrd="0" presId="urn:microsoft.com/office/officeart/2005/8/layout/cycle8"/>
    <dgm:cxn modelId="{986AC119-102B-478A-8B23-EA74D520442F}" type="presParOf" srcId="{5B589FE8-1180-43E9-9DD9-8C60F02AF256}" destId="{EE594C67-07A8-4253-96DD-429D3EBFF105}" srcOrd="13" destOrd="0" presId="urn:microsoft.com/office/officeart/2005/8/layout/cycle8"/>
    <dgm:cxn modelId="{FF2182A8-FE56-4B78-B033-6876598E0CB6}" type="presParOf" srcId="{5B589FE8-1180-43E9-9DD9-8C60F02AF256}" destId="{FBE90A44-D576-4B55-A365-B5C38D946CB1}" srcOrd="14" destOrd="0" presId="urn:microsoft.com/office/officeart/2005/8/layout/cycle8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ECE168B9-97D6-4F75-9289-AF0458231259}">
      <dsp:nvSpPr>
        <dsp:cNvPr id="0" name=""/>
        <dsp:cNvSpPr/>
      </dsp:nvSpPr>
      <dsp:spPr>
        <a:xfrm>
          <a:off x="1329941" y="187629"/>
          <a:ext cx="3152167" cy="3152167"/>
        </a:xfrm>
        <a:prstGeom prst="pie">
          <a:avLst>
            <a:gd name="adj1" fmla="val 16200000"/>
            <a:gd name="adj2" fmla="val 18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 smtClean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out-come</a:t>
          </a:r>
          <a:endParaRPr lang="en-US" sz="2800" kern="1200" dirty="0">
            <a:solidFill>
              <a:schemeClr val="tx1"/>
            </a:solidFill>
            <a:latin typeface="Bahnschrift" panose="020B0502040204020203" pitchFamily="34" charset="0"/>
            <a:ea typeface="+mn-ea"/>
            <a:cs typeface="+mn-cs"/>
          </a:endParaRPr>
        </a:p>
      </dsp:txBody>
      <dsp:txXfrm>
        <a:off x="2991208" y="855588"/>
        <a:ext cx="1125774" cy="938145"/>
      </dsp:txXfrm>
    </dsp:sp>
    <dsp:sp modelId="{EB2BDB46-B1F8-4502-BAF4-FF4CD80D55D7}">
      <dsp:nvSpPr>
        <dsp:cNvPr id="0" name=""/>
        <dsp:cNvSpPr/>
      </dsp:nvSpPr>
      <dsp:spPr>
        <a:xfrm>
          <a:off x="923657" y="64629"/>
          <a:ext cx="3834895" cy="3623321"/>
        </a:xfrm>
        <a:prstGeom prst="pie">
          <a:avLst>
            <a:gd name="adj1" fmla="val 1800000"/>
            <a:gd name="adj2" fmla="val 9000000"/>
          </a:avLst>
        </a:prstGeom>
        <a:solidFill>
          <a:srgbClr val="FFD7A7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b="1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latent variables</a:t>
          </a:r>
        </a:p>
      </dsp:txBody>
      <dsp:txXfrm>
        <a:off x="1836728" y="2415474"/>
        <a:ext cx="2054408" cy="948965"/>
      </dsp:txXfrm>
    </dsp:sp>
    <dsp:sp modelId="{D5E000D8-9AAE-49A4-87FF-0642AB719E81}">
      <dsp:nvSpPr>
        <dsp:cNvPr id="0" name=""/>
        <dsp:cNvSpPr/>
      </dsp:nvSpPr>
      <dsp:spPr>
        <a:xfrm>
          <a:off x="1200102" y="187629"/>
          <a:ext cx="3152167" cy="3152167"/>
        </a:xfrm>
        <a:prstGeom prst="pie">
          <a:avLst>
            <a:gd name="adj1" fmla="val 9000000"/>
            <a:gd name="adj2" fmla="val 16200000"/>
          </a:avLst>
        </a:prstGeom>
        <a:solidFill>
          <a:srgbClr val="CFF1E6"/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35560" tIns="35560" rIns="35560" bIns="35560" numCol="1" spcCol="1270" anchor="ctr" anchorCtr="0">
          <a:noAutofit/>
        </a:bodyPr>
        <a:lstStyle/>
        <a:p>
          <a:pPr lvl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en-US" sz="2800" kern="1200" dirty="0">
              <a:solidFill>
                <a:schemeClr val="tx1"/>
              </a:solidFill>
              <a:latin typeface="Bahnschrift" panose="020B0502040204020203" pitchFamily="34" charset="0"/>
              <a:ea typeface="+mn-ea"/>
              <a:cs typeface="+mn-cs"/>
            </a:rPr>
            <a:t>choice</a:t>
          </a:r>
        </a:p>
      </dsp:txBody>
      <dsp:txXfrm>
        <a:off x="1565228" y="855588"/>
        <a:ext cx="1125774" cy="938145"/>
      </dsp:txXfrm>
    </dsp:sp>
    <dsp:sp modelId="{E8DD7363-32E9-4432-A10F-A450F8052676}">
      <dsp:nvSpPr>
        <dsp:cNvPr id="0" name=""/>
        <dsp:cNvSpPr/>
      </dsp:nvSpPr>
      <dsp:spPr>
        <a:xfrm>
          <a:off x="1135067" y="-7505"/>
          <a:ext cx="3542435" cy="3542435"/>
        </a:xfrm>
        <a:prstGeom prst="circularArrow">
          <a:avLst>
            <a:gd name="adj1" fmla="val 5085"/>
            <a:gd name="adj2" fmla="val 327528"/>
            <a:gd name="adj3" fmla="val 1472472"/>
            <a:gd name="adj4" fmla="val 16199432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594C67-07A8-4253-96DD-429D3EBFF105}">
      <dsp:nvSpPr>
        <dsp:cNvPr id="0" name=""/>
        <dsp:cNvSpPr/>
      </dsp:nvSpPr>
      <dsp:spPr>
        <a:xfrm>
          <a:off x="681516" y="-162963"/>
          <a:ext cx="4309691" cy="4071923"/>
        </a:xfrm>
        <a:prstGeom prst="circularArrow">
          <a:avLst>
            <a:gd name="adj1" fmla="val 5085"/>
            <a:gd name="adj2" fmla="val 327528"/>
            <a:gd name="adj3" fmla="val 8671970"/>
            <a:gd name="adj4" fmla="val 1800502"/>
            <a:gd name="adj5" fmla="val 5932"/>
          </a:avLst>
        </a:prstGeom>
        <a:solidFill>
          <a:srgbClr val="FF941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BE90A44-D576-4B55-A365-B5C38D946CB1}">
      <dsp:nvSpPr>
        <dsp:cNvPr id="0" name=""/>
        <dsp:cNvSpPr/>
      </dsp:nvSpPr>
      <dsp:spPr>
        <a:xfrm>
          <a:off x="1004707" y="-7505"/>
          <a:ext cx="3542435" cy="3542435"/>
        </a:xfrm>
        <a:prstGeom prst="circularArrow">
          <a:avLst>
            <a:gd name="adj1" fmla="val 5085"/>
            <a:gd name="adj2" fmla="val 327528"/>
            <a:gd name="adj3" fmla="val 15873039"/>
            <a:gd name="adj4" fmla="val 9000000"/>
            <a:gd name="adj5" fmla="val 5932"/>
          </a:avLst>
        </a:prstGeom>
        <a:solidFill>
          <a:srgbClr val="0CB87F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8">
  <dgm:title val=""/>
  <dgm:desc val=""/>
  <dgm:catLst>
    <dgm:cat type="cycle" pri="70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clrData>
  <dgm:layoutNode name="compositeShape">
    <dgm:varLst>
      <dgm:chMax val="7"/>
      <dgm:dir/>
      <dgm:resizeHandles val="exact"/>
    </dgm:varLst>
    <dgm:alg type="composite">
      <dgm:param type="horzAlign" val="ctr"/>
      <dgm:param type="vertAlign" val="mid"/>
      <dgm:param type="ar" val="1"/>
    </dgm:alg>
    <dgm:shape xmlns:r="http://schemas.openxmlformats.org/officeDocument/2006/relationships" r:blip="">
      <dgm:adjLst/>
    </dgm:shape>
    <dgm:presOf/>
    <dgm:choose name="Name0">
      <dgm:if name="Name1" axis="ch" ptType="node" func="cnt" op="equ" val="1">
        <dgm:constrLst>
          <dgm:constr type="l" for="ch" forName="wedge1" refType="w" fact="0.08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"/>
          <dgm:constr type="t" for="ch" forName="dummy1a" refType="h" fact="0.08"/>
          <dgm:constr type="l" for="ch" forName="dummy1b" refType="w" fact="0.5"/>
          <dgm:constr type="t" for="ch" forName="dummy1b" refType="h" fact="0.08"/>
          <dgm:constr type="l" for="ch" forName="wedge1Tx" refType="w" fact="0.22"/>
          <dgm:constr type="t" for="ch" forName="wedge1Tx" refType="h" fact="0.22"/>
          <dgm:constr type="w" for="ch" forName="wedge1Tx" refType="w" fact="0.56"/>
          <dgm:constr type="h" for="ch" forName="wedge1Tx" refType="h" fact="0.56"/>
          <dgm:constr type="h" for="ch" forName="arrowWedge1single" refType="w" fact="0.08"/>
          <dgm:constr type="diam" for="ch" forName="arrowWedge1single" refType="w" fact="0.84"/>
          <dgm:constr type="l" for="ch" forName="arrowWedge1single" refType="w" fact="0.5"/>
          <dgm:constr type="t" for="ch" forName="arrowWedge1single" refType="w" fact="0.5"/>
          <dgm:constr type="primFontSz" for="ch" ptType="node" op="equ"/>
        </dgm:constrLst>
      </dgm:if>
      <dgm:if name="Name2" axis="ch" ptType="node" func="cnt" op="equ" val="2">
        <dgm:constrLst>
          <dgm:constr type="l" for="ch" forName="wedge1" refType="w" fact="0.1"/>
          <dgm:constr type="t" for="ch" forName="wedge1" refType="w" fact="0.08"/>
          <dgm:constr type="w" for="ch" forName="wedge1" refType="w" fact="0.84"/>
          <dgm:constr type="h" for="ch" forName="wedge1" refType="h" fact="0.84"/>
          <dgm:constr type="l" for="ch" forName="dummy1a" refType="w" fact="0.52"/>
          <dgm:constr type="t" for="ch" forName="dummy1a" refType="h" fact="0.08"/>
          <dgm:constr type="l" for="ch" forName="dummy1b" refType="w" fact="0.52"/>
          <dgm:constr type="t" for="ch" forName="dummy1b" refType="h" fact="0.92"/>
          <dgm:constr type="l" for="ch" forName="wedge1Tx" refType="w" fact="0.559"/>
          <dgm:constr type="t" for="ch" forName="wedge1Tx" refType="h" fact="0.3"/>
          <dgm:constr type="w" for="ch" forName="wedge1Tx" refType="w" fact="0.3"/>
          <dgm:constr type="h" for="ch" forName="wedge1Tx" refType="h" fact="0.4"/>
          <dgm:constr type="l" for="ch" forName="wedge2" refType="w" fact="0.06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48"/>
          <dgm:constr type="t" for="ch" forName="dummy2a" refType="h" fact="0.92"/>
          <dgm:constr type="l" for="ch" forName="dummy2b" refType="w" fact="0.48"/>
          <dgm:constr type="t" for="ch" forName="dummy2b" refType="h" fact="0.08"/>
          <dgm:constr type="r" for="ch" forName="wedge2Tx" refType="w" fact="0.441"/>
          <dgm:constr type="t" for="ch" forName="wedge2Tx" refType="h" fact="0.3"/>
          <dgm:constr type="w" for="ch" forName="wedge2Tx" refType="w" fact="0.3"/>
          <dgm:constr type="h" for="ch" forName="wedge2Tx" refType="h" fact="0.4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primFontSz" for="ch" ptType="node" op="equ"/>
        </dgm:constrLst>
      </dgm:if>
      <dgm:if name="Name3" axis="ch" ptType="node" func="cnt" op="equ" val="3">
        <dgm:constrLst>
          <dgm:constr type="l" for="ch" forName="wedge1" refType="w" fact="0.0973"/>
          <dgm:constr type="t" for="ch" forName="wedge1" refType="w" fact="0.07"/>
          <dgm:constr type="w" for="ch" forName="wedge1" refType="w" fact="0.84"/>
          <dgm:constr type="h" for="ch" forName="wedge1" refType="h" fact="0.84"/>
          <dgm:constr type="l" for="ch" forName="dummy1a" refType="w" fact="0.5173"/>
          <dgm:constr type="t" for="ch" forName="dummy1a" refType="h" fact="0.07"/>
          <dgm:constr type="l" for="ch" forName="dummy1b" refType="w" fact="0.8811"/>
          <dgm:constr type="t" for="ch" forName="dummy1b" refType="h" fact="0.7"/>
          <dgm:constr type="l" for="ch" forName="wedge1Tx" refType="w" fact="0.54"/>
          <dgm:constr type="t" for="ch" forName="wedge1Tx" refType="h" fact="0.248"/>
          <dgm:constr type="w" for="ch" forName="wedge1Tx" refType="w" fact="0.3"/>
          <dgm:constr type="h" for="ch" forName="wedge1Tx" refType="h" fact="0.25"/>
          <dgm:constr type="l" for="ch" forName="wedge2" refType="w" fact="0.08"/>
          <dgm:constr type="t" for="ch" forName="wedge2" refType="w" fact="0.1"/>
          <dgm:constr type="w" for="ch" forName="wedge2" refType="w" fact="0.84"/>
          <dgm:constr type="h" for="ch" forName="wedge2" refType="h" fact="0.84"/>
          <dgm:constr type="l" for="ch" forName="dummy2a" refType="w" fact="0.8637"/>
          <dgm:constr type="t" for="ch" forName="dummy2a" refType="h" fact="0.73"/>
          <dgm:constr type="l" for="ch" forName="dummy2b" refType="w" fact="0.1363"/>
          <dgm:constr type="t" for="ch" forName="dummy2b" refType="h" fact="0.73"/>
          <dgm:constr type="l" for="ch" forName="wedge2Tx" refType="w" fact="0.28"/>
          <dgm:constr type="t" for="ch" forName="wedge2Tx" refType="h" fact="0.645"/>
          <dgm:constr type="w" for="ch" forName="wedge2Tx" refType="w" fact="0.45"/>
          <dgm:constr type="h" for="ch" forName="wedge2Tx" refType="h" fact="0.22"/>
          <dgm:constr type="l" for="ch" forName="wedge3" refType="w" fact="0.0627"/>
          <dgm:constr type="t" for="ch" forName="wedge3" refType="w" fact="0.07"/>
          <dgm:constr type="w" for="ch" forName="wedge3" refType="w" fact="0.84"/>
          <dgm:constr type="h" for="ch" forName="wedge3" refType="h" fact="0.84"/>
          <dgm:constr type="l" for="ch" forName="dummy3a" refType="w" fact="0.1189"/>
          <dgm:constr type="t" for="ch" forName="dummy3a" refType="h" fact="0.7"/>
          <dgm:constr type="l" for="ch" forName="dummy3b" refType="w" fact="0.4827"/>
          <dgm:constr type="t" for="ch" forName="dummy3b" refType="h" fact="0.07"/>
          <dgm:constr type="r" for="ch" forName="wedge3Tx" refType="w" fact="0.46"/>
          <dgm:constr type="t" for="ch" forName="wedge3Tx" refType="h" fact="0.248"/>
          <dgm:constr type="w" for="ch" forName="wedge3Tx" refType="w" fact="0.3"/>
          <dgm:constr type="h" for="ch" forName="wedge3Tx" refType="h" fact="0.25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primFontSz" for="ch" ptType="node" op="equ"/>
        </dgm:constrLst>
      </dgm:if>
      <dgm:if name="Name4" axis="ch" ptType="node" func="cnt" op="equ" val="4">
        <dgm:constrLst>
          <dgm:constr type="l" for="ch" forName="wedge1" refType="w" fact="0.0941"/>
          <dgm:constr type="t" for="ch" forName="wedge1" refType="w" fact="0.0659"/>
          <dgm:constr type="w" for="ch" forName="wedge1" refType="w" fact="0.84"/>
          <dgm:constr type="h" for="ch" forName="wedge1" refType="h" fact="0.84"/>
          <dgm:constr type="l" for="ch" forName="dummy1a" refType="w" fact="0.5141"/>
          <dgm:constr type="t" for="ch" forName="dummy1a" refType="h" fact="0.0659"/>
          <dgm:constr type="l" for="ch" forName="dummy1b" refType="w" fact="0.9341"/>
          <dgm:constr type="t" for="ch" forName="dummy1b" refType="h" fact="0.4859"/>
          <dgm:constr type="l" for="ch" forName="wedge1Tx" refType="w" fact="0.54"/>
          <dgm:constr type="t" for="ch" forName="wedge1Tx" refType="h" fact="0.24"/>
          <dgm:constr type="w" for="ch" forName="wedge1Tx" refType="w" fact="0.31"/>
          <dgm:constr type="h" for="ch" forName="wedge1Tx" refType="h" fact="0.23"/>
          <dgm:constr type="l" for="ch" forName="wedge2" refType="w" fact="0.0941"/>
          <dgm:constr type="t" for="ch" forName="wedge2" refType="w" fact="0.0941"/>
          <dgm:constr type="w" for="ch" forName="wedge2" refType="w" fact="0.84"/>
          <dgm:constr type="h" for="ch" forName="wedge2" refType="h" fact="0.84"/>
          <dgm:constr type="l" for="ch" forName="dummy2a" refType="w" fact="0.9341"/>
          <dgm:constr type="t" for="ch" forName="dummy2a" refType="h" fact="0.5141"/>
          <dgm:constr type="l" for="ch" forName="dummy2b" refType="w" fact="0.5141"/>
          <dgm:constr type="t" for="ch" forName="dummy2b" refType="h" fact="0.9341"/>
          <dgm:constr type="l" for="ch" forName="wedge2Tx" refType="w" fact="0.54"/>
          <dgm:constr type="t" for="ch" forName="wedge2Tx" refType="h" fact="0.53"/>
          <dgm:constr type="w" for="ch" forName="wedge2Tx" refType="w" fact="0.31"/>
          <dgm:constr type="h" for="ch" forName="wedge2Tx" refType="h" fact="0.23"/>
          <dgm:constr type="l" for="ch" forName="wedge3" refType="w" fact="0.0659"/>
          <dgm:constr type="t" for="ch" forName="wedge3" refType="w" fact="0.0941"/>
          <dgm:constr type="w" for="ch" forName="wedge3" refType="w" fact="0.84"/>
          <dgm:constr type="h" for="ch" forName="wedge3" refType="h" fact="0.84"/>
          <dgm:constr type="l" for="ch" forName="dummy3a" refType="w" fact="0.4859"/>
          <dgm:constr type="t" for="ch" forName="dummy3a" refType="h" fact="0.9341"/>
          <dgm:constr type="l" for="ch" forName="dummy3b" refType="w" fact="0.0659"/>
          <dgm:constr type="t" for="ch" forName="dummy3b" refType="h" fact="0.5141"/>
          <dgm:constr type="r" for="ch" forName="wedge3Tx" refType="w" fact="0.46"/>
          <dgm:constr type="t" for="ch" forName="wedge3Tx" refType="h" fact="0.53"/>
          <dgm:constr type="w" for="ch" forName="wedge3Tx" refType="w" fact="0.31"/>
          <dgm:constr type="h" for="ch" forName="wedge3Tx" refType="h" fact="0.23"/>
          <dgm:constr type="l" for="ch" forName="wedge4" refType="w" fact="0.0659"/>
          <dgm:constr type="t" for="ch" forName="wedge4" refType="h" fact="0.0659"/>
          <dgm:constr type="w" for="ch" forName="wedge4" refType="w" fact="0.84"/>
          <dgm:constr type="h" for="ch" forName="wedge4" refType="h" fact="0.84"/>
          <dgm:constr type="l" for="ch" forName="dummy4a" refType="w" fact="0.0659"/>
          <dgm:constr type="t" for="ch" forName="dummy4a" refType="h" fact="0.4859"/>
          <dgm:constr type="l" for="ch" forName="dummy4b" refType="w" fact="0.4859"/>
          <dgm:constr type="t" for="ch" forName="dummy4b" refType="h" fact="0.0659"/>
          <dgm:constr type="r" for="ch" forName="wedge4Tx" refType="w" fact="0.46"/>
          <dgm:constr type="t" for="ch" forName="wedge4Tx" refType="h" fact="0.24"/>
          <dgm:constr type="w" for="ch" forName="wedge4Tx" refType="w" fact="0.31"/>
          <dgm:constr type="h" for="ch" forName="wedge4Tx" refType="h" fact="0.23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primFontSz" for="ch" ptType="node" op="equ"/>
        </dgm:constrLst>
      </dgm:if>
      <dgm:if name="Name5" axis="ch" ptType="node" func="cnt" op="equ" val="5">
        <dgm:constrLst>
          <dgm:constr type="l" for="ch" forName="wedge1" refType="w" fact="0.0918"/>
          <dgm:constr type="t" for="ch" forName="wedge1" refType="w" fact="0.0638"/>
          <dgm:constr type="w" for="ch" forName="wedge1" refType="w" fact="0.84"/>
          <dgm:constr type="h" for="ch" forName="wedge1" refType="h" fact="0.84"/>
          <dgm:constr type="l" for="ch" forName="dummy1a" refType="w" fact="0.5118"/>
          <dgm:constr type="t" for="ch" forName="dummy1a" refType="h" fact="0.0638"/>
          <dgm:constr type="l" for="ch" forName="dummy1b" refType="w" fact="0.9112"/>
          <dgm:constr type="t" for="ch" forName="dummy1b" refType="h" fact="0.354"/>
          <dgm:constr type="l" for="ch" forName="wedge1Tx" refType="w" fact="0.53"/>
          <dgm:constr type="t" for="ch" forName="wedge1Tx" refType="h" fact="0.205"/>
          <dgm:constr type="w" for="ch" forName="wedge1Tx" refType="w" fact="0.27"/>
          <dgm:constr type="h" for="ch" forName="wedge1Tx" refType="h" fact="0.18"/>
          <dgm:constr type="l" for="ch" forName="wedge2" refType="w" fact="0.099"/>
          <dgm:constr type="t" for="ch" forName="wedge2" refType="w" fact="0.0862"/>
          <dgm:constr type="w" for="ch" forName="wedge2" refType="w" fact="0.84"/>
          <dgm:constr type="h" for="ch" forName="wedge2" refType="h" fact="0.84"/>
          <dgm:constr type="l" for="ch" forName="dummy2a" refType="w" fact="0.9185"/>
          <dgm:constr type="t" for="ch" forName="dummy2a" refType="h" fact="0.3764"/>
          <dgm:constr type="l" for="ch" forName="dummy2b" refType="w" fact="0.7659"/>
          <dgm:constr type="t" for="ch" forName="dummy2b" refType="h" fact="0.846"/>
          <dgm:constr type="l" for="ch" forName="wedge2Tx" refType="w" fact="0.64"/>
          <dgm:constr type="t" for="ch" forName="wedge2Tx" refType="h" fact="0.47"/>
          <dgm:constr type="w" for="ch" forName="wedge2Tx" refType="w" fact="0.25"/>
          <dgm:constr type="h" for="ch" forName="wedge2Tx" refType="h" fact="0.2"/>
          <dgm:constr type="l" for="ch" forName="wedge3" refType="w" fact="0.08"/>
          <dgm:constr type="t" for="ch" forName="wedge3" refType="w" fact="0.1"/>
          <dgm:constr type="w" for="ch" forName="wedge3" refType="w" fact="0.84"/>
          <dgm:constr type="h" for="ch" forName="wedge3" refType="h" fact="0.84"/>
          <dgm:constr type="l" for="ch" forName="dummy3a" refType="w" fact="0.7469"/>
          <dgm:constr type="t" for="ch" forName="dummy3a" refType="h" fact="0.8598"/>
          <dgm:constr type="l" for="ch" forName="dummy3b" refType="w" fact="0.2531"/>
          <dgm:constr type="t" for="ch" forName="dummy3b" refType="h" fact="0.8598"/>
          <dgm:constr type="l" for="ch" forName="wedge3Tx" refType="w" fact="0.38"/>
          <dgm:constr type="t" for="ch" forName="wedge3Tx" refType="h" fact="0.69"/>
          <dgm:constr type="w" for="ch" forName="wedge3Tx" refType="w" fact="0.24"/>
          <dgm:constr type="h" for="ch" forName="wedge3Tx" refType="h" fact="0.22"/>
          <dgm:constr type="l" for="ch" forName="wedge4" refType="w" fact="0.061"/>
          <dgm:constr type="t" for="ch" forName="wedge4" refType="h" fact="0.0862"/>
          <dgm:constr type="w" for="ch" forName="wedge4" refType="w" fact="0.84"/>
          <dgm:constr type="h" for="ch" forName="wedge4" refType="h" fact="0.84"/>
          <dgm:constr type="l" for="ch" forName="dummy4a" refType="w" fact="0.2341"/>
          <dgm:constr type="t" for="ch" forName="dummy4a" refType="h" fact="0.846"/>
          <dgm:constr type="l" for="ch" forName="dummy4b" refType="w" fact="0.0815"/>
          <dgm:constr type="t" for="ch" forName="dummy4b" refType="h" fact="0.3764"/>
          <dgm:constr type="r" for="ch" forName="wedge4Tx" refType="w" fact="0.36"/>
          <dgm:constr type="t" for="ch" forName="wedge4Tx" refType="h" fact="0.47"/>
          <dgm:constr type="w" for="ch" forName="wedge4Tx" refType="w" fact="0.25"/>
          <dgm:constr type="h" for="ch" forName="wedge4Tx" refType="h" fact="0.2"/>
          <dgm:constr type="l" for="ch" forName="wedge5" refType="w" fact="0.0682"/>
          <dgm:constr type="t" for="ch" forName="wedge5" refType="h" fact="0.0638"/>
          <dgm:constr type="w" for="ch" forName="wedge5" refType="w" fact="0.84"/>
          <dgm:constr type="h" for="ch" forName="wedge5" refType="h" fact="0.84"/>
          <dgm:constr type="l" for="ch" forName="dummy5a" refType="w" fact="0.0888"/>
          <dgm:constr type="t" for="ch" forName="dummy5a" refType="h" fact="0.354"/>
          <dgm:constr type="l" for="ch" forName="dummy5b" refType="w" fact="0.4882"/>
          <dgm:constr type="t" for="ch" forName="dummy5b" refType="h" fact="0.0638"/>
          <dgm:constr type="r" for="ch" forName="wedge5Tx" refType="w" fact="0.47"/>
          <dgm:constr type="t" for="ch" forName="wedge5Tx" refType="h" fact="0.205"/>
          <dgm:constr type="w" for="ch" forName="wedge5Tx" refType="w" fact="0.27"/>
          <dgm:constr type="h" for="ch" forName="wedge5Tx" refType="h" fact="0.18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primFontSz" for="ch" ptType="node" op="equ"/>
        </dgm:constrLst>
      </dgm:if>
      <dgm:if name="Name6" axis="ch" ptType="node" func="cnt" op="equ" val="6">
        <dgm:constrLst>
          <dgm:constr type="l" for="ch" forName="wedge1" refType="w" fact="0.09"/>
          <dgm:constr type="t" for="ch" forName="wedge1" refType="w" fact="0.0627"/>
          <dgm:constr type="w" for="ch" forName="wedge1" refType="w" fact="0.84"/>
          <dgm:constr type="h" for="ch" forName="wedge1" refType="h" fact="0.84"/>
          <dgm:constr type="l" for="ch" forName="dummy1a" refType="w" fact="0.51"/>
          <dgm:constr type="t" for="ch" forName="dummy1a" refType="h" fact="0.0627"/>
          <dgm:constr type="l" for="ch" forName="dummy1b" refType="w" fact="0.8737"/>
          <dgm:constr type="t" for="ch" forName="dummy1b" refType="h" fact="0.2727"/>
          <dgm:constr type="l" for="ch" forName="wedge1Tx" refType="w" fact="0.53"/>
          <dgm:constr type="t" for="ch" forName="wedge1Tx" refType="h" fact="0.17"/>
          <dgm:constr type="w" for="ch" forName="wedge1Tx" refType="w" fact="0.22"/>
          <dgm:constr type="h" for="ch" forName="wedge1Tx" refType="h" fact="0.17"/>
          <dgm:constr type="l" for="ch" forName="wedge2" refType="w" fact="0.1"/>
          <dgm:constr type="t" for="ch" forName="wedge2" refType="w" fact="0.08"/>
          <dgm:constr type="w" for="ch" forName="wedge2" refType="w" fact="0.84"/>
          <dgm:constr type="h" for="ch" forName="wedge2" refType="h" fact="0.84"/>
          <dgm:constr type="l" for="ch" forName="dummy2a" refType="w" fact="0.8837"/>
          <dgm:constr type="t" for="ch" forName="dummy2a" refType="h" fact="0.29"/>
          <dgm:constr type="l" for="ch" forName="dummy2b" refType="w" fact="0.8837"/>
          <dgm:constr type="t" for="ch" forName="dummy2b" refType="h" fact="0.71"/>
          <dgm:constr type="l" for="ch" forName="wedge2Tx" refType="w" fact="0.67"/>
          <dgm:constr type="t" for="ch" forName="wedge2Tx" refType="h" fact="0.42"/>
          <dgm:constr type="w" for="ch" forName="wedge2Tx" refType="w" fact="0.23"/>
          <dgm:constr type="h" for="ch" forName="wedge2Tx" refType="h" fact="0.165"/>
          <dgm:constr type="l" for="ch" forName="wedge3" refType="w" fact="0.09"/>
          <dgm:constr type="t" for="ch" forName="wedge3" refType="w" fact="0.0973"/>
          <dgm:constr type="w" for="ch" forName="wedge3" refType="w" fact="0.84"/>
          <dgm:constr type="h" for="ch" forName="wedge3" refType="h" fact="0.84"/>
          <dgm:constr type="l" for="ch" forName="dummy3a" refType="w" fact="0.8737"/>
          <dgm:constr type="t" for="ch" forName="dummy3a" refType="h" fact="0.7273"/>
          <dgm:constr type="l" for="ch" forName="dummy3b" refType="w" fact="0.51"/>
          <dgm:constr type="t" for="ch" forName="dummy3b" refType="h" fact="0.9373"/>
          <dgm:constr type="l" for="ch" forName="wedge3Tx" refType="w" fact="0.53"/>
          <dgm:constr type="t" for="ch" forName="wedge3Tx" refType="h" fact="0.665"/>
          <dgm:constr type="w" for="ch" forName="wedge3Tx" refType="w" fact="0.22"/>
          <dgm:constr type="h" for="ch" forName="wedge3Tx" refType="h" fact="0.17"/>
          <dgm:constr type="l" for="ch" forName="wedge4" refType="w" fact="0.07"/>
          <dgm:constr type="t" for="ch" forName="wedge4" refType="h" fact="0.0973"/>
          <dgm:constr type="w" for="ch" forName="wedge4" refType="w" fact="0.84"/>
          <dgm:constr type="h" for="ch" forName="wedge4" refType="h" fact="0.84"/>
          <dgm:constr type="l" for="ch" forName="dummy4a" refType="w" fact="0.49"/>
          <dgm:constr type="t" for="ch" forName="dummy4a" refType="h" fact="0.9373"/>
          <dgm:constr type="l" for="ch" forName="dummy4b" refType="w" fact="0.1263"/>
          <dgm:constr type="t" for="ch" forName="dummy4b" refType="h" fact="0.7273"/>
          <dgm:constr type="r" for="ch" forName="wedge4Tx" refType="w" fact="0.47"/>
          <dgm:constr type="t" for="ch" forName="wedge4Tx" refType="h" fact="0.665"/>
          <dgm:constr type="w" for="ch" forName="wedge4Tx" refType="w" fact="0.22"/>
          <dgm:constr type="h" for="ch" forName="wedge4Tx" refType="h" fact="0.17"/>
          <dgm:constr type="l" for="ch" forName="wedge5" refType="w" fact="0.06"/>
          <dgm:constr type="t" for="ch" forName="wedge5" refType="h" fact="0.08"/>
          <dgm:constr type="w" for="ch" forName="wedge5" refType="w" fact="0.84"/>
          <dgm:constr type="h" for="ch" forName="wedge5" refType="h" fact="0.84"/>
          <dgm:constr type="l" for="ch" forName="dummy5a" refType="w" fact="0.1163"/>
          <dgm:constr type="t" for="ch" forName="dummy5a" refType="h" fact="0.71"/>
          <dgm:constr type="l" for="ch" forName="dummy5b" refType="w" fact="0.1163"/>
          <dgm:constr type="t" for="ch" forName="dummy5b" refType="h" fact="0.29"/>
          <dgm:constr type="r" for="ch" forName="wedge5Tx" refType="w" fact="0.33"/>
          <dgm:constr type="t" for="ch" forName="wedge5Tx" refType="h" fact="0.42"/>
          <dgm:constr type="w" for="ch" forName="wedge5Tx" refType="w" fact="0.23"/>
          <dgm:constr type="h" for="ch" forName="wedge5Tx" refType="h" fact="0.165"/>
          <dgm:constr type="l" for="ch" forName="wedge6" refType="w" fact="0.07"/>
          <dgm:constr type="t" for="ch" forName="wedge6" refType="h" fact="0.0627"/>
          <dgm:constr type="w" for="ch" forName="wedge6" refType="w" fact="0.84"/>
          <dgm:constr type="h" for="ch" forName="wedge6" refType="h" fact="0.84"/>
          <dgm:constr type="l" for="ch" forName="dummy6a" refType="w" fact="0.1263"/>
          <dgm:constr type="t" for="ch" forName="dummy6a" refType="h" fact="0.2727"/>
          <dgm:constr type="l" for="ch" forName="dummy6b" refType="w" fact="0.49"/>
          <dgm:constr type="t" for="ch" forName="dummy6b" refType="h" fact="0.0627"/>
          <dgm:constr type="r" for="ch" forName="wedge6Tx" refType="w" fact="0.47"/>
          <dgm:constr type="t" for="ch" forName="wedge6Tx" refType="h" fact="0.17"/>
          <dgm:constr type="w" for="ch" forName="wedge6Tx" refType="w" fact="0.22"/>
          <dgm:constr type="h" for="ch" forName="wedge6Tx" refType="h" fact="0.17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primFontSz" for="ch" ptType="node" op="equ"/>
        </dgm:constrLst>
      </dgm:if>
      <dgm:else name="Name7">
        <dgm:constrLst>
          <dgm:constr type="l" for="ch" forName="wedge1" refType="w" fact="0.0887"/>
          <dgm:constr type="t" for="ch" forName="wedge1" refType="w" fact="0.062"/>
          <dgm:constr type="w" for="ch" forName="wedge1" refType="w" fact="0.84"/>
          <dgm:constr type="h" for="ch" forName="wedge1" refType="h" fact="0.84"/>
          <dgm:constr type="l" for="ch" forName="dummy1a" refType="w" fact="0.5087"/>
          <dgm:constr type="t" for="ch" forName="dummy1a" refType="h" fact="0.062"/>
          <dgm:constr type="l" for="ch" forName="dummy1b" refType="w" fact="0.837"/>
          <dgm:constr type="t" for="ch" forName="dummy1b" refType="h" fact="0.2201"/>
          <dgm:constr type="l" for="ch" forName="wedge1Tx" refType="w" fact="0.53"/>
          <dgm:constr type="t" for="ch" forName="wedge1Tx" refType="h" fact="0.14"/>
          <dgm:constr type="w" for="ch" forName="wedge1Tx" refType="w" fact="0.2"/>
          <dgm:constr type="h" for="ch" forName="wedge1Tx" refType="h" fact="0.16"/>
          <dgm:constr type="l" for="ch" forName="wedge2" refType="w" fact="0.0995"/>
          <dgm:constr type="t" for="ch" forName="wedge2" refType="w" fact="0.0755"/>
          <dgm:constr type="w" for="ch" forName="wedge2" refType="w" fact="0.84"/>
          <dgm:constr type="h" for="ch" forName="wedge2" refType="h" fact="0.84"/>
          <dgm:constr type="l" for="ch" forName="dummy2a" refType="w" fact="0.8479"/>
          <dgm:constr type="t" for="ch" forName="dummy2a" refType="h" fact="0.2337"/>
          <dgm:constr type="l" for="ch" forName="dummy2b" refType="w" fact="0.929"/>
          <dgm:constr type="t" for="ch" forName="dummy2b" refType="h" fact="0.589"/>
          <dgm:constr type="l" for="ch" forName="wedge2Tx" refType="w" fact="0.67"/>
          <dgm:constr type="t" for="ch" forName="wedge2Tx" refType="h" fact="0.38"/>
          <dgm:constr type="w" for="ch" forName="wedge2Tx" refType="w" fact="0.23"/>
          <dgm:constr type="h" for="ch" forName="wedge2Tx" refType="h" fact="0.14"/>
          <dgm:constr type="l" for="ch" forName="wedge3" refType="w" fact="0.0956"/>
          <dgm:constr type="t" for="ch" forName="wedge3" refType="w" fact="0.0925"/>
          <dgm:constr type="w" for="ch" forName="wedge3" refType="w" fact="0.84"/>
          <dgm:constr type="h" for="ch" forName="wedge3" refType="h" fact="0.84"/>
          <dgm:constr type="l" for="ch" forName="dummy3a" refType="w" fact="0.9251"/>
          <dgm:constr type="t" for="ch" forName="dummy3a" refType="h" fact="0.6059"/>
          <dgm:constr type="l" for="ch" forName="dummy3b" refType="w" fact="0.6979"/>
          <dgm:constr type="t" for="ch" forName="dummy3b" refType="h" fact="0.8909"/>
          <dgm:constr type="l" for="ch" forName="wedge3Tx" refType="w" fact="0.635"/>
          <dgm:constr type="t" for="ch" forName="wedge3Tx" refType="h" fact="0.59"/>
          <dgm:constr type="w" for="ch" forName="wedge3Tx" refType="w" fact="0.2"/>
          <dgm:constr type="h" for="ch" forName="wedge3Tx" refType="h" fact="0.155"/>
          <dgm:constr type="l" for="ch" forName="wedge4" refType="w" fact="0.08"/>
          <dgm:constr type="t" for="ch" forName="wedge4" refType="h" fact="0.1"/>
          <dgm:constr type="w" for="ch" forName="wedge4" refType="w" fact="0.84"/>
          <dgm:constr type="h" for="ch" forName="wedge4" refType="h" fact="0.84"/>
          <dgm:constr type="l" for="ch" forName="dummy4a" refType="w" fact="0.6822"/>
          <dgm:constr type="t" for="ch" forName="dummy4a" refType="h" fact="0.8984"/>
          <dgm:constr type="l" for="ch" forName="dummy4b" refType="w" fact="0.3178"/>
          <dgm:constr type="t" for="ch" forName="dummy4b" refType="h" fact="0.8984"/>
          <dgm:constr type="l" for="ch" forName="wedge4Tx" refType="w" fact="0.4025"/>
          <dgm:constr type="t" for="ch" forName="wedge4Tx" refType="h" fact="0.76"/>
          <dgm:constr type="w" for="ch" forName="wedge4Tx" refType="w" fact="0.195"/>
          <dgm:constr type="h" for="ch" forName="wedge4Tx" refType="h" fact="0.14"/>
          <dgm:constr type="l" for="ch" forName="wedge5" refType="w" fact="0.0644"/>
          <dgm:constr type="t" for="ch" forName="wedge5" refType="h" fact="0.0925"/>
          <dgm:constr type="w" for="ch" forName="wedge5" refType="w" fact="0.84"/>
          <dgm:constr type="h" for="ch" forName="wedge5" refType="h" fact="0.84"/>
          <dgm:constr type="l" for="ch" forName="dummy5a" refType="w" fact="0.3021"/>
          <dgm:constr type="t" for="ch" forName="dummy5a" refType="h" fact="0.8909"/>
          <dgm:constr type="l" for="ch" forName="dummy5b" refType="w" fact="0.0749"/>
          <dgm:constr type="t" for="ch" forName="dummy5b" refType="h" fact="0.6059"/>
          <dgm:constr type="r" for="ch" forName="wedge5Tx" refType="w" fact="0.365"/>
          <dgm:constr type="t" for="ch" forName="wedge5Tx" refType="h" fact="0.59"/>
          <dgm:constr type="w" for="ch" forName="wedge5Tx" refType="w" fact="0.2"/>
          <dgm:constr type="h" for="ch" forName="wedge5Tx" refType="h" fact="0.155"/>
          <dgm:constr type="l" for="ch" forName="wedge6" refType="w" fact="0.0605"/>
          <dgm:constr type="t" for="ch" forName="wedge6" refType="h" fact="0.0755"/>
          <dgm:constr type="w" for="ch" forName="wedge6" refType="w" fact="0.84"/>
          <dgm:constr type="h" for="ch" forName="wedge6" refType="h" fact="0.84"/>
          <dgm:constr type="l" for="ch" forName="dummy6a" refType="w" fact="0.071"/>
          <dgm:constr type="t" for="ch" forName="dummy6a" refType="h" fact="0.589"/>
          <dgm:constr type="l" for="ch" forName="dummy6b" refType="w" fact="0.1521"/>
          <dgm:constr type="t" for="ch" forName="dummy6b" refType="h" fact="0.2337"/>
          <dgm:constr type="r" for="ch" forName="wedge6Tx" refType="w" fact="0.33"/>
          <dgm:constr type="t" for="ch" forName="wedge6Tx" refType="h" fact="0.38"/>
          <dgm:constr type="w" for="ch" forName="wedge6Tx" refType="w" fact="0.23"/>
          <dgm:constr type="h" for="ch" forName="wedge6Tx" refType="h" fact="0.14"/>
          <dgm:constr type="l" for="ch" forName="wedge7" refType="w" fact="0.0713"/>
          <dgm:constr type="t" for="ch" forName="wedge7" refType="h" fact="0.062"/>
          <dgm:constr type="w" for="ch" forName="wedge7" refType="w" fact="0.84"/>
          <dgm:constr type="h" for="ch" forName="wedge7" refType="h" fact="0.84"/>
          <dgm:constr type="l" for="ch" forName="dummy7a" refType="w" fact="0.163"/>
          <dgm:constr type="t" for="ch" forName="dummy7a" refType="h" fact="0.2201"/>
          <dgm:constr type="l" for="ch" forName="dummy7b" refType="w" fact="0.4913"/>
          <dgm:constr type="t" for="ch" forName="dummy7b" refType="h" fact="0.062"/>
          <dgm:constr type="r" for="ch" forName="wedge7Tx" refType="w" fact="0.47"/>
          <dgm:constr type="t" for="ch" forName="wedge7Tx" refType="h" fact="0.14"/>
          <dgm:constr type="w" for="ch" forName="wedge7Tx" refType="w" fact="0.2"/>
          <dgm:constr type="h" for="ch" forName="wedge7Tx" refType="h" fact="0.16"/>
          <dgm:constr type="h" for="ch" forName="arrowWedge1" refType="w" fact="0.08"/>
          <dgm:constr type="diam" for="ch" forName="arrowWedge1" refType="w" fact="0.84"/>
          <dgm:constr type="l" for="ch" forName="arrowWedge1" refType="w" fact="0.5"/>
          <dgm:constr type="t" for="ch" forName="arrowWedge1" refType="w" fact="0.5"/>
          <dgm:constr type="h" for="ch" forName="arrowWedge2" refType="w" fact="0.08"/>
          <dgm:constr type="diam" for="ch" forName="arrowWedge2" refType="w" fact="0.84"/>
          <dgm:constr type="l" for="ch" forName="arrowWedge2" refType="w" fact="0.5"/>
          <dgm:constr type="t" for="ch" forName="arrowWedge2" refType="w" fact="0.5"/>
          <dgm:constr type="h" for="ch" forName="arrowWedge3" refType="w" fact="0.08"/>
          <dgm:constr type="diam" for="ch" forName="arrowWedge3" refType="w" fact="0.84"/>
          <dgm:constr type="l" for="ch" forName="arrowWedge3" refType="w" fact="0.5"/>
          <dgm:constr type="t" for="ch" forName="arrowWedge3" refType="w" fact="0.5"/>
          <dgm:constr type="h" for="ch" forName="arrowWedge4" refType="w" fact="0.08"/>
          <dgm:constr type="diam" for="ch" forName="arrowWedge4" refType="w" fact="0.84"/>
          <dgm:constr type="l" for="ch" forName="arrowWedge4" refType="w" fact="0.5"/>
          <dgm:constr type="t" for="ch" forName="arrowWedge4" refType="w" fact="0.5"/>
          <dgm:constr type="h" for="ch" forName="arrowWedge5" refType="w" fact="0.08"/>
          <dgm:constr type="diam" for="ch" forName="arrowWedge5" refType="w" fact="0.84"/>
          <dgm:constr type="l" for="ch" forName="arrowWedge5" refType="w" fact="0.5"/>
          <dgm:constr type="t" for="ch" forName="arrowWedge5" refType="w" fact="0.5"/>
          <dgm:constr type="h" for="ch" forName="arrowWedge6" refType="w" fact="0.08"/>
          <dgm:constr type="diam" for="ch" forName="arrowWedge6" refType="w" fact="0.84"/>
          <dgm:constr type="l" for="ch" forName="arrowWedge6" refType="w" fact="0.5"/>
          <dgm:constr type="t" for="ch" forName="arrowWedge6" refType="w" fact="0.5"/>
          <dgm:constr type="h" for="ch" forName="arrowWedge7" refType="w" fact="0.08"/>
          <dgm:constr type="diam" for="ch" forName="arrowWedge7" refType="w" fact="0.84"/>
          <dgm:constr type="l" for="ch" forName="arrowWedge7" refType="w" fact="0.5"/>
          <dgm:constr type="t" for="ch" forName="arrowWedge7" refType="w" fact="0.5"/>
          <dgm:constr type="primFontSz" for="ch" ptType="node" op="equ"/>
        </dgm:constrLst>
      </dgm:else>
    </dgm:choose>
    <dgm:ruleLst/>
    <dgm:choose name="Name8">
      <dgm:if name="Name9" axis="ch" ptType="node" func="cnt" op="gte" val="1">
        <dgm:layoutNode name="wedge1">
          <dgm:alg type="sp"/>
          <dgm:choose name="Name10">
            <dgm:if name="Name11" axis="ch" ptType="node" func="cnt" op="equ" val="1">
              <dgm:shape xmlns:r="http://schemas.openxmlformats.org/officeDocument/2006/relationships" type="ellipse" r:blip="">
                <dgm:adjLst/>
              </dgm:shape>
            </dgm:if>
            <dgm:if name="Name12" axis="ch" ptType="node" func="cnt" op="equ" val="2">
              <dgm:shape xmlns:r="http://schemas.openxmlformats.org/officeDocument/2006/relationships" type="pie" r:blip="">
                <dgm:adjLst>
                  <dgm:adj idx="1" val="270"/>
                  <dgm:adj idx="2" val="90"/>
                </dgm:adjLst>
              </dgm:shape>
            </dgm:if>
            <dgm:if name="Name13" axis="ch" ptType="node" func="cnt" op="equ" val="3">
              <dgm:shape xmlns:r="http://schemas.openxmlformats.org/officeDocument/2006/relationships" type="pie" r:blip="">
                <dgm:adjLst>
                  <dgm:adj idx="1" val="270"/>
                  <dgm:adj idx="2" val="30"/>
                </dgm:adjLst>
              </dgm:shape>
            </dgm:if>
            <dgm:if name="Name14" axis="ch" ptType="node" func="cnt" op="equ" val="4">
              <dgm:shape xmlns:r="http://schemas.openxmlformats.org/officeDocument/2006/relationships" type="pie" r:blip="">
                <dgm:adjLst>
                  <dgm:adj idx="1" val="270"/>
                  <dgm:adj idx="2" val="0"/>
                </dgm:adjLst>
              </dgm:shape>
            </dgm:if>
            <dgm:if name="Name15" axis="ch" ptType="node" func="cnt" op="equ" val="5">
              <dgm:shape xmlns:r="http://schemas.openxmlformats.org/officeDocument/2006/relationships" type="pie" r:blip="">
                <dgm:adjLst>
                  <dgm:adj idx="1" val="270"/>
                  <dgm:adj idx="2" val="342"/>
                </dgm:adjLst>
              </dgm:shape>
            </dgm:if>
            <dgm:if name="Name16" axis="ch" ptType="node" func="cnt" op="equ" val="6">
              <dgm:shape xmlns:r="http://schemas.openxmlformats.org/officeDocument/2006/relationships" type="pie" r:blip="">
                <dgm:adjLst>
                  <dgm:adj idx="1" val="270"/>
                  <dgm:adj idx="2" val="330"/>
                </dgm:adjLst>
              </dgm:shape>
            </dgm:if>
            <dgm:else name="Name17">
              <dgm:shape xmlns:r="http://schemas.openxmlformats.org/officeDocument/2006/relationships" type="pie" r:blip="">
                <dgm:adjLst>
                  <dgm:adj idx="1" val="270"/>
                  <dgm:adj idx="2" val="321.4286"/>
                </dgm:adjLst>
              </dgm:shape>
            </dgm:else>
          </dgm:choose>
          <dgm:choose name="Name18">
            <dgm:if name="Name19" func="var" arg="dir" op="equ" val="norm">
              <dgm:presOf axis="ch desOrSelf" ptType="node node" st="1 1" cnt="1 0"/>
            </dgm:if>
            <dgm:else name="Name20">
              <dgm:choose name="Name21">
                <dgm:if name="Name22" axis="ch" ptType="node" func="cnt" op="equ" val="1">
                  <dgm:presOf axis="ch desOrSelf" ptType="node node" st="1 1" cnt="1 0"/>
                </dgm:if>
                <dgm:if name="Name23" axis="ch" ptType="node" func="cnt" op="equ" val="2">
                  <dgm:presOf axis="ch desOrSelf" ptType="node node" st="2 1" cnt="1 0"/>
                </dgm:if>
                <dgm:if name="Name24" axis="ch" ptType="node" func="cnt" op="equ" val="3">
                  <dgm:presOf axis="ch desOrSelf" ptType="node node" st="3 1" cnt="1 0"/>
                </dgm:if>
                <dgm:if name="Name25" axis="ch" ptType="node" func="cnt" op="equ" val="4">
                  <dgm:presOf axis="ch desOrSelf" ptType="node node" st="4 1" cnt="1 0"/>
                </dgm:if>
                <dgm:if name="Name26" axis="ch" ptType="node" func="cnt" op="equ" val="5">
                  <dgm:presOf axis="ch desOrSelf" ptType="node node" st="5 1" cnt="1 0"/>
                </dgm:if>
                <dgm:if name="Name27" axis="ch" ptType="node" func="cnt" op="equ" val="6">
                  <dgm:presOf axis="ch desOrSelf" ptType="node node" st="6 1" cnt="1 0"/>
                </dgm:if>
                <dgm:else name="Name28">
                  <dgm:presOf axis="ch desOrSelf" ptType="node node" st="7 1" cnt="1 0"/>
                </dgm:else>
              </dgm:choose>
            </dgm:else>
          </dgm:choose>
          <dgm:constrLst/>
          <dgm:ruleLst/>
        </dgm:layoutNode>
        <dgm:layoutNode name="dummy1a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1b" moveWith="wedge1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1Tx" moveWith="wedge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29">
            <dgm:if name="Name30" func="var" arg="dir" op="equ" val="norm">
              <dgm:presOf axis="ch desOrSelf" ptType="node node" st="1 1" cnt="1 0"/>
            </dgm:if>
            <dgm:else name="Name31">
              <dgm:choose name="Name32">
                <dgm:if name="Name33" axis="ch" ptType="node" func="cnt" op="equ" val="1">
                  <dgm:presOf axis="ch desOrSelf" ptType="node node" st="1 1" cnt="1 0"/>
                </dgm:if>
                <dgm:if name="Name34" axis="ch" ptType="node" func="cnt" op="equ" val="2">
                  <dgm:presOf axis="ch desOrSelf" ptType="node node" st="2 1" cnt="1 0"/>
                </dgm:if>
                <dgm:if name="Name35" axis="ch" ptType="node" func="cnt" op="equ" val="3">
                  <dgm:presOf axis="ch desOrSelf" ptType="node node" st="3 1" cnt="1 0"/>
                </dgm:if>
                <dgm:if name="Name36" axis="ch" ptType="node" func="cnt" op="equ" val="4">
                  <dgm:presOf axis="ch desOrSelf" ptType="node node" st="4 1" cnt="1 0"/>
                </dgm:if>
                <dgm:if name="Name37" axis="ch" ptType="node" func="cnt" op="equ" val="5">
                  <dgm:presOf axis="ch desOrSelf" ptType="node node" st="5 1" cnt="1 0"/>
                </dgm:if>
                <dgm:if name="Name38" axis="ch" ptType="node" func="cnt" op="equ" val="6">
                  <dgm:presOf axis="ch desOrSelf" ptType="node node" st="6 1" cnt="1 0"/>
                </dgm:if>
                <dgm:else name="Name39">
                  <dgm:presOf axis="ch desOrSelf" ptType="node node" st="7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40"/>
    </dgm:choose>
    <dgm:choose name="Name41">
      <dgm:if name="Name42" axis="ch" ptType="node" func="cnt" op="gte" val="2">
        <dgm:layoutNode name="wedge2">
          <dgm:alg type="sp"/>
          <dgm:choose name="Name43">
            <dgm:if name="Name44" axis="ch" ptType="node" func="cnt" op="equ" val="2">
              <dgm:shape xmlns:r="http://schemas.openxmlformats.org/officeDocument/2006/relationships" type="pie" r:blip="">
                <dgm:adjLst>
                  <dgm:adj idx="1" val="90"/>
                  <dgm:adj idx="2" val="270"/>
                </dgm:adjLst>
              </dgm:shape>
            </dgm:if>
            <dgm:if name="Name45" axis="ch" ptType="node" func="cnt" op="equ" val="3">
              <dgm:shape xmlns:r="http://schemas.openxmlformats.org/officeDocument/2006/relationships" type="pie" r:blip="">
                <dgm:adjLst>
                  <dgm:adj idx="1" val="30"/>
                  <dgm:adj idx="2" val="150"/>
                </dgm:adjLst>
              </dgm:shape>
            </dgm:if>
            <dgm:if name="Name46" axis="ch" ptType="node" func="cnt" op="equ" val="4">
              <dgm:shape xmlns:r="http://schemas.openxmlformats.org/officeDocument/2006/relationships" type="pie" r:blip="">
                <dgm:adjLst>
                  <dgm:adj idx="1" val="0"/>
                  <dgm:adj idx="2" val="90"/>
                </dgm:adjLst>
              </dgm:shape>
            </dgm:if>
            <dgm:if name="Name47" axis="ch" ptType="node" func="cnt" op="equ" val="5">
              <dgm:shape xmlns:r="http://schemas.openxmlformats.org/officeDocument/2006/relationships" type="pie" r:blip="">
                <dgm:adjLst>
                  <dgm:adj idx="1" val="342"/>
                  <dgm:adj idx="2" val="54"/>
                </dgm:adjLst>
              </dgm:shape>
            </dgm:if>
            <dgm:if name="Name48" axis="ch" ptType="node" func="cnt" op="equ" val="6">
              <dgm:shape xmlns:r="http://schemas.openxmlformats.org/officeDocument/2006/relationships" type="pie" r:blip="">
                <dgm:adjLst>
                  <dgm:adj idx="1" val="330"/>
                  <dgm:adj idx="2" val="30"/>
                </dgm:adjLst>
              </dgm:shape>
            </dgm:if>
            <dgm:else name="Name49">
              <dgm:shape xmlns:r="http://schemas.openxmlformats.org/officeDocument/2006/relationships" type="pie" r:blip="">
                <dgm:adjLst>
                  <dgm:adj idx="1" val="321.4286"/>
                  <dgm:adj idx="2" val="12.85714"/>
                </dgm:adjLst>
              </dgm:shape>
            </dgm:else>
          </dgm:choose>
          <dgm:choose name="Name50">
            <dgm:if name="Name51" func="var" arg="dir" op="equ" val="norm">
              <dgm:presOf axis="ch desOrSelf" ptType="node node" st="2 1" cnt="1 0"/>
            </dgm:if>
            <dgm:else name="Name52">
              <dgm:choose name="Name53">
                <dgm:if name="Name54" axis="ch" ptType="node" func="cnt" op="equ" val="2">
                  <dgm:presOf axis="ch desOrSelf" ptType="node node" st="1 1" cnt="1 0"/>
                </dgm:if>
                <dgm:if name="Name55" axis="ch" ptType="node" func="cnt" op="equ" val="3">
                  <dgm:presOf axis="ch desOrSelf" ptType="node node" st="2 1" cnt="1 0"/>
                </dgm:if>
                <dgm:if name="Name56" axis="ch" ptType="node" func="cnt" op="equ" val="4">
                  <dgm:presOf axis="ch desOrSelf" ptType="node node" st="3 1" cnt="1 0"/>
                </dgm:if>
                <dgm:if name="Name57" axis="ch" ptType="node" func="cnt" op="equ" val="5">
                  <dgm:presOf axis="ch desOrSelf" ptType="node node" st="4 1" cnt="1 0"/>
                </dgm:if>
                <dgm:if name="Name58" axis="ch" ptType="node" func="cnt" op="equ" val="6">
                  <dgm:presOf axis="ch desOrSelf" ptType="node node" st="5 1" cnt="1 0"/>
                </dgm:if>
                <dgm:else name="Name59">
                  <dgm:presOf axis="ch desOrSelf" ptType="node node" st="6 1" cnt="1 0"/>
                </dgm:else>
              </dgm:choose>
            </dgm:else>
          </dgm:choose>
          <dgm:constrLst/>
          <dgm:ruleLst/>
        </dgm:layoutNode>
        <dgm:layoutNode name="dummy2a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2b" moveWith="wedge2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2Tx" moveWith="wedge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60">
            <dgm:if name="Name61" func="var" arg="dir" op="equ" val="norm">
              <dgm:presOf axis="ch desOrSelf" ptType="node node" st="2 1" cnt="1 0"/>
            </dgm:if>
            <dgm:else name="Name62">
              <dgm:choose name="Name63">
                <dgm:if name="Name64" axis="ch" ptType="node" func="cnt" op="equ" val="2">
                  <dgm:presOf axis="ch desOrSelf" ptType="node node" st="1 1" cnt="1 0"/>
                </dgm:if>
                <dgm:if name="Name65" axis="ch" ptType="node" func="cnt" op="equ" val="3">
                  <dgm:presOf axis="ch desOrSelf" ptType="node node" st="2 1" cnt="1 0"/>
                </dgm:if>
                <dgm:if name="Name66" axis="ch" ptType="node" func="cnt" op="equ" val="4">
                  <dgm:presOf axis="ch desOrSelf" ptType="node node" st="3 1" cnt="1 0"/>
                </dgm:if>
                <dgm:if name="Name67" axis="ch" ptType="node" func="cnt" op="equ" val="5">
                  <dgm:presOf axis="ch desOrSelf" ptType="node node" st="4 1" cnt="1 0"/>
                </dgm:if>
                <dgm:if name="Name68" axis="ch" ptType="node" func="cnt" op="equ" val="6">
                  <dgm:presOf axis="ch desOrSelf" ptType="node node" st="5 1" cnt="1 0"/>
                </dgm:if>
                <dgm:else name="Name69">
                  <dgm:presOf axis="ch desOrSelf" ptType="node node" st="6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70"/>
    </dgm:choose>
    <dgm:choose name="Name71">
      <dgm:if name="Name72" axis="ch" ptType="node" func="cnt" op="gte" val="3">
        <dgm:layoutNode name="wedge3">
          <dgm:alg type="sp"/>
          <dgm:choose name="Name73">
            <dgm:if name="Name74" axis="ch" ptType="node" func="cnt" op="equ" val="3">
              <dgm:shape xmlns:r="http://schemas.openxmlformats.org/officeDocument/2006/relationships" type="pie" r:blip="">
                <dgm:adjLst>
                  <dgm:adj idx="1" val="150"/>
                  <dgm:adj idx="2" val="270"/>
                </dgm:adjLst>
              </dgm:shape>
            </dgm:if>
            <dgm:if name="Name75" axis="ch" ptType="node" func="cnt" op="equ" val="4">
              <dgm:shape xmlns:r="http://schemas.openxmlformats.org/officeDocument/2006/relationships" type="pie" r:blip="">
                <dgm:adjLst>
                  <dgm:adj idx="1" val="90"/>
                  <dgm:adj idx="2" val="180"/>
                </dgm:adjLst>
              </dgm:shape>
            </dgm:if>
            <dgm:if name="Name76" axis="ch" ptType="node" func="cnt" op="equ" val="5">
              <dgm:shape xmlns:r="http://schemas.openxmlformats.org/officeDocument/2006/relationships" type="pie" r:blip="">
                <dgm:adjLst>
                  <dgm:adj idx="1" val="54"/>
                  <dgm:adj idx="2" val="126"/>
                </dgm:adjLst>
              </dgm:shape>
            </dgm:if>
            <dgm:if name="Name77" axis="ch" ptType="node" func="cnt" op="equ" val="6">
              <dgm:shape xmlns:r="http://schemas.openxmlformats.org/officeDocument/2006/relationships" type="pie" r:blip="">
                <dgm:adjLst>
                  <dgm:adj idx="1" val="30"/>
                  <dgm:adj idx="2" val="90"/>
                </dgm:adjLst>
              </dgm:shape>
            </dgm:if>
            <dgm:else name="Name78">
              <dgm:shape xmlns:r="http://schemas.openxmlformats.org/officeDocument/2006/relationships" type="pie" r:blip="">
                <dgm:adjLst>
                  <dgm:adj idx="1" val="12.85714"/>
                  <dgm:adj idx="2" val="64.28571"/>
                </dgm:adjLst>
              </dgm:shape>
            </dgm:else>
          </dgm:choose>
          <dgm:choose name="Name79">
            <dgm:if name="Name80" func="var" arg="dir" op="equ" val="norm">
              <dgm:presOf axis="ch desOrSelf" ptType="node node" st="3 1" cnt="1 0"/>
            </dgm:if>
            <dgm:else name="Name81">
              <dgm:choose name="Name82">
                <dgm:if name="Name83" axis="ch" ptType="node" func="cnt" op="equ" val="3">
                  <dgm:presOf axis="ch desOrSelf" ptType="node node" st="1 1" cnt="1 0"/>
                </dgm:if>
                <dgm:if name="Name84" axis="ch" ptType="node" func="cnt" op="equ" val="4">
                  <dgm:presOf axis="ch desOrSelf" ptType="node node" st="2 1" cnt="1 0"/>
                </dgm:if>
                <dgm:if name="Name85" axis="ch" ptType="node" func="cnt" op="equ" val="5">
                  <dgm:presOf axis="ch desOrSelf" ptType="node node" st="3 1" cnt="1 0"/>
                </dgm:if>
                <dgm:if name="Name86" axis="ch" ptType="node" func="cnt" op="equ" val="6">
                  <dgm:presOf axis="ch desOrSelf" ptType="node node" st="4 1" cnt="1 0"/>
                </dgm:if>
                <dgm:else name="Name87">
                  <dgm:presOf axis="ch desOrSelf" ptType="node node" st="5 1" cnt="1 0"/>
                </dgm:else>
              </dgm:choose>
            </dgm:else>
          </dgm:choose>
          <dgm:constrLst/>
          <dgm:ruleLst/>
        </dgm:layoutNode>
        <dgm:layoutNode name="dummy3a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3b" moveWith="wedge3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3Tx" moveWith="wedge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88">
            <dgm:if name="Name89" func="var" arg="dir" op="equ" val="norm">
              <dgm:presOf axis="ch desOrSelf" ptType="node node" st="3 1" cnt="1 0"/>
            </dgm:if>
            <dgm:else name="Name90">
              <dgm:choose name="Name91">
                <dgm:if name="Name92" axis="ch" ptType="node" func="cnt" op="equ" val="3">
                  <dgm:presOf axis="ch desOrSelf" ptType="node node" st="1 1" cnt="1 0"/>
                </dgm:if>
                <dgm:if name="Name93" axis="ch" ptType="node" func="cnt" op="equ" val="4">
                  <dgm:presOf axis="ch desOrSelf" ptType="node node" st="2 1" cnt="1 0"/>
                </dgm:if>
                <dgm:if name="Name94" axis="ch" ptType="node" func="cnt" op="equ" val="5">
                  <dgm:presOf axis="ch desOrSelf" ptType="node node" st="3 1" cnt="1 0"/>
                </dgm:if>
                <dgm:if name="Name95" axis="ch" ptType="node" func="cnt" op="equ" val="6">
                  <dgm:presOf axis="ch desOrSelf" ptType="node node" st="4 1" cnt="1 0"/>
                </dgm:if>
                <dgm:else name="Name96">
                  <dgm:presOf axis="ch desOrSelf" ptType="node node" st="5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97"/>
    </dgm:choose>
    <dgm:choose name="Name98">
      <dgm:if name="Name99" axis="ch" ptType="node" func="cnt" op="gte" val="4">
        <dgm:layoutNode name="wedge4">
          <dgm:alg type="sp"/>
          <dgm:choose name="Name100">
            <dgm:if name="Name101" axis="ch" ptType="node" func="cnt" op="equ" val="4">
              <dgm:shape xmlns:r="http://schemas.openxmlformats.org/officeDocument/2006/relationships" type="pie" r:blip="">
                <dgm:adjLst>
                  <dgm:adj idx="1" val="180"/>
                  <dgm:adj idx="2" val="270"/>
                </dgm:adjLst>
              </dgm:shape>
            </dgm:if>
            <dgm:if name="Name102" axis="ch" ptType="node" func="cnt" op="equ" val="5">
              <dgm:shape xmlns:r="http://schemas.openxmlformats.org/officeDocument/2006/relationships" type="pie" r:blip="">
                <dgm:adjLst>
                  <dgm:adj idx="1" val="126"/>
                  <dgm:adj idx="2" val="198"/>
                </dgm:adjLst>
              </dgm:shape>
            </dgm:if>
            <dgm:if name="Name103" axis="ch" ptType="node" func="cnt" op="equ" val="6">
              <dgm:shape xmlns:r="http://schemas.openxmlformats.org/officeDocument/2006/relationships" type="pie" r:blip="">
                <dgm:adjLst>
                  <dgm:adj idx="1" val="90"/>
                  <dgm:adj idx="2" val="150"/>
                </dgm:adjLst>
              </dgm:shape>
            </dgm:if>
            <dgm:else name="Name104">
              <dgm:shape xmlns:r="http://schemas.openxmlformats.org/officeDocument/2006/relationships" type="pie" r:blip="">
                <dgm:adjLst>
                  <dgm:adj idx="1" val="64.2871"/>
                  <dgm:adj idx="2" val="115.7143"/>
                </dgm:adjLst>
              </dgm:shape>
            </dgm:else>
          </dgm:choose>
          <dgm:choose name="Name105">
            <dgm:if name="Name106" func="var" arg="dir" op="equ" val="norm">
              <dgm:presOf axis="ch desOrSelf" ptType="node node" st="4 1" cnt="1 0"/>
            </dgm:if>
            <dgm:else name="Name107">
              <dgm:choose name="Name108">
                <dgm:if name="Name109" axis="ch" ptType="node" func="cnt" op="equ" val="4">
                  <dgm:presOf axis="ch desOrSelf" ptType="node node" st="1 1" cnt="1 0"/>
                </dgm:if>
                <dgm:if name="Name110" axis="ch" ptType="node" func="cnt" op="equ" val="5">
                  <dgm:presOf axis="ch desOrSelf" ptType="node node" st="2 1" cnt="1 0"/>
                </dgm:if>
                <dgm:if name="Name111" axis="ch" ptType="node" func="cnt" op="equ" val="6">
                  <dgm:presOf axis="ch desOrSelf" ptType="node node" st="3 1" cnt="1 0"/>
                </dgm:if>
                <dgm:else name="Name112">
                  <dgm:presOf axis="ch desOrSelf" ptType="node node" st="4 1" cnt="1 0"/>
                </dgm:else>
              </dgm:choose>
            </dgm:else>
          </dgm:choose>
          <dgm:constrLst/>
          <dgm:ruleLst/>
        </dgm:layoutNode>
        <dgm:layoutNode name="dummy4a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4b" moveWith="wedge4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4Tx" moveWith="wedge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13">
            <dgm:if name="Name114" func="var" arg="dir" op="equ" val="norm">
              <dgm:presOf axis="ch desOrSelf" ptType="node node" st="4 1" cnt="1 0"/>
            </dgm:if>
            <dgm:else name="Name115">
              <dgm:choose name="Name116">
                <dgm:if name="Name117" axis="ch" ptType="node" func="cnt" op="equ" val="4">
                  <dgm:presOf axis="ch desOrSelf" ptType="node node" st="1 1" cnt="1 0"/>
                </dgm:if>
                <dgm:if name="Name118" axis="ch" ptType="node" func="cnt" op="equ" val="5">
                  <dgm:presOf axis="ch desOrSelf" ptType="node node" st="2 1" cnt="1 0"/>
                </dgm:if>
                <dgm:if name="Name119" axis="ch" ptType="node" func="cnt" op="equ" val="6">
                  <dgm:presOf axis="ch desOrSelf" ptType="node node" st="3 1" cnt="1 0"/>
                </dgm:if>
                <dgm:else name="Name120">
                  <dgm:presOf axis="ch desOrSelf" ptType="node node" st="4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21"/>
    </dgm:choose>
    <dgm:choose name="Name122">
      <dgm:if name="Name123" axis="ch" ptType="node" func="cnt" op="gte" val="5">
        <dgm:layoutNode name="wedge5">
          <dgm:alg type="sp"/>
          <dgm:choose name="Name124">
            <dgm:if name="Name125" axis="ch" ptType="node" func="cnt" op="equ" val="5">
              <dgm:shape xmlns:r="http://schemas.openxmlformats.org/officeDocument/2006/relationships" type="pie" r:blip="">
                <dgm:adjLst>
                  <dgm:adj idx="1" val="198"/>
                  <dgm:adj idx="2" val="270"/>
                </dgm:adjLst>
              </dgm:shape>
            </dgm:if>
            <dgm:if name="Name126" axis="ch" ptType="node" func="cnt" op="equ" val="6">
              <dgm:shape xmlns:r="http://schemas.openxmlformats.org/officeDocument/2006/relationships" type="pie" r:blip="">
                <dgm:adjLst>
                  <dgm:adj idx="1" val="150"/>
                  <dgm:adj idx="2" val="210"/>
                </dgm:adjLst>
              </dgm:shape>
            </dgm:if>
            <dgm:else name="Name127">
              <dgm:shape xmlns:r="http://schemas.openxmlformats.org/officeDocument/2006/relationships" type="pie" r:blip="">
                <dgm:adjLst>
                  <dgm:adj idx="1" val="115.7143"/>
                  <dgm:adj idx="2" val="167.1429"/>
                </dgm:adjLst>
              </dgm:shape>
            </dgm:else>
          </dgm:choose>
          <dgm:choose name="Name128">
            <dgm:if name="Name129" func="var" arg="dir" op="equ" val="norm">
              <dgm:presOf axis="ch desOrSelf" ptType="node node" st="5 1" cnt="1 0"/>
            </dgm:if>
            <dgm:else name="Name130">
              <dgm:choose name="Name131">
                <dgm:if name="Name132" axis="ch" ptType="node" func="cnt" op="equ" val="5">
                  <dgm:presOf axis="ch desOrSelf" ptType="node node" st="1 1" cnt="1 0"/>
                </dgm:if>
                <dgm:if name="Name133" axis="ch" ptType="node" func="cnt" op="equ" val="6">
                  <dgm:presOf axis="ch desOrSelf" ptType="node node" st="2 1" cnt="1 0"/>
                </dgm:if>
                <dgm:else name="Name134">
                  <dgm:presOf axis="ch desOrSelf" ptType="node node" st="3 1" cnt="1 0"/>
                </dgm:else>
              </dgm:choose>
            </dgm:else>
          </dgm:choose>
          <dgm:constrLst/>
          <dgm:ruleLst/>
        </dgm:layoutNode>
        <dgm:layoutNode name="dummy5a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5b" moveWith="wedge5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5Tx" moveWith="wedge5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35">
            <dgm:if name="Name136" func="var" arg="dir" op="equ" val="norm">
              <dgm:presOf axis="ch desOrSelf" ptType="node node" st="5 1" cnt="1 0"/>
            </dgm:if>
            <dgm:else name="Name137">
              <dgm:choose name="Name138">
                <dgm:if name="Name139" axis="ch" ptType="node" func="cnt" op="equ" val="5">
                  <dgm:presOf axis="ch desOrSelf" ptType="node node" st="1 1" cnt="1 0"/>
                </dgm:if>
                <dgm:if name="Name140" axis="ch" ptType="node" func="cnt" op="equ" val="6">
                  <dgm:presOf axis="ch desOrSelf" ptType="node node" st="2 1" cnt="1 0"/>
                </dgm:if>
                <dgm:else name="Name141">
                  <dgm:presOf axis="ch desOrSelf" ptType="node node" st="3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42"/>
    </dgm:choose>
    <dgm:choose name="Name143">
      <dgm:if name="Name144" axis="ch" ptType="node" func="cnt" op="gte" val="6">
        <dgm:layoutNode name="wedge6">
          <dgm:alg type="sp"/>
          <dgm:choose name="Name145">
            <dgm:if name="Name146" axis="ch" ptType="node" func="cnt" op="equ" val="6">
              <dgm:shape xmlns:r="http://schemas.openxmlformats.org/officeDocument/2006/relationships" type="pie" r:blip="">
                <dgm:adjLst>
                  <dgm:adj idx="1" val="210"/>
                  <dgm:adj idx="2" val="270"/>
                </dgm:adjLst>
              </dgm:shape>
            </dgm:if>
            <dgm:else name="Name147">
              <dgm:shape xmlns:r="http://schemas.openxmlformats.org/officeDocument/2006/relationships" type="pie" r:blip="">
                <dgm:adjLst>
                  <dgm:adj idx="1" val="167.1429"/>
                  <dgm:adj idx="2" val="218.5714"/>
                </dgm:adjLst>
              </dgm:shape>
            </dgm:else>
          </dgm:choose>
          <dgm:choose name="Name148">
            <dgm:if name="Name149" func="var" arg="dir" op="equ" val="norm">
              <dgm:presOf axis="ch desOrSelf" ptType="node node" st="6 1" cnt="1 0"/>
            </dgm:if>
            <dgm:else name="Name150">
              <dgm:choose name="Name151">
                <dgm:if name="Name152" axis="ch" ptType="node" func="cnt" op="equ" val="6">
                  <dgm:presOf axis="ch desOrSelf" ptType="node node" st="1 1" cnt="1 0"/>
                </dgm:if>
                <dgm:else name="Name153">
                  <dgm:presOf axis="ch desOrSelf" ptType="node node" st="2 1" cnt="1 0"/>
                </dgm:else>
              </dgm:choose>
            </dgm:else>
          </dgm:choose>
          <dgm:constrLst/>
          <dgm:ruleLst/>
        </dgm:layoutNode>
        <dgm:layoutNode name="dummy6a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6b" moveWith="wedge6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6Tx" moveWith="wedge6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54">
            <dgm:if name="Name155" func="var" arg="dir" op="equ" val="norm">
              <dgm:presOf axis="ch desOrSelf" ptType="node node" st="6 1" cnt="1 0"/>
            </dgm:if>
            <dgm:else name="Name156">
              <dgm:choose name="Name157">
                <dgm:if name="Name158" axis="ch" ptType="node" func="cnt" op="equ" val="6">
                  <dgm:presOf axis="ch desOrSelf" ptType="node node" st="1 1" cnt="1 0"/>
                </dgm:if>
                <dgm:else name="Name159">
                  <dgm:presOf axis="ch desOrSelf" ptType="node node" st="2 1" cnt="1 0"/>
                </dgm:else>
              </dgm:choose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0"/>
    </dgm:choose>
    <dgm:choose name="Name161">
      <dgm:if name="Name162" axis="ch" ptType="node" func="cnt" op="gte" val="7">
        <dgm:layoutNode name="wedge7">
          <dgm:alg type="sp"/>
          <dgm:shape xmlns:r="http://schemas.openxmlformats.org/officeDocument/2006/relationships" type="pie" r:blip="">
            <dgm:adjLst>
              <dgm:adj idx="1" val="218.5714"/>
              <dgm:adj idx="2" val="270"/>
            </dgm:adjLst>
          </dgm:shape>
          <dgm:choose name="Name163">
            <dgm:if name="Name164" func="var" arg="dir" op="equ" val="norm">
              <dgm:presOf axis="ch desOrSelf" ptType="node node" st="7 1" cnt="1 0"/>
            </dgm:if>
            <dgm:else name="Name165">
              <dgm:presOf axis="ch desOrSelf" ptType="node node" st="1 1" cnt="1 0"/>
            </dgm:else>
          </dgm:choose>
          <dgm:constrLst/>
          <dgm:ruleLst/>
        </dgm:layoutNode>
        <dgm:layoutNode name="dummy7a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dummy7b" moveWith="wedge7">
          <dgm:alg type="sp"/>
          <dgm:shape xmlns:r="http://schemas.openxmlformats.org/officeDocument/2006/relationships" r:blip="">
            <dgm:adjLst/>
          </dgm:shape>
          <dgm:presOf/>
          <dgm:constrLst>
            <dgm:constr type="w" val="1"/>
            <dgm:constr type="h" val="1"/>
          </dgm:constrLst>
          <dgm:ruleLst/>
        </dgm:layoutNode>
        <dgm:layoutNode name="wedge7Tx" moveWith="wedge7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ect" r:blip="" hideGeom="1">
            <dgm:adjLst/>
          </dgm:shape>
          <dgm:choose name="Name166">
            <dgm:if name="Name167" func="var" arg="dir" op="equ" val="norm">
              <dgm:presOf axis="ch desOrSelf" ptType="node node" st="7 1" cnt="1 0"/>
            </dgm:if>
            <dgm:else name="Name168">
              <dgm:presOf axis="ch desOrSelf" ptType="node node" st="1 1" cnt="1 0"/>
            </dgm:else>
          </dgm:choose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  <dgm:constr type="primFontSz" val="65"/>
          </dgm:constrLst>
          <dgm:ruleLst>
            <dgm:rule type="primFontSz" val="5" fact="NaN" max="NaN"/>
          </dgm:ruleLst>
        </dgm:layoutNode>
      </dgm:if>
      <dgm:else name="Name169"/>
    </dgm:choose>
    <dgm:choose name="Name170">
      <dgm:if name="Name171" axis="ch" ptType="node" func="cnt" op="equ" val="1">
        <dgm:forEach name="Name172" axis="ch" ptType="sibTrans" hideLastTrans="0" cnt="1">
          <dgm:layoutNode name="arrowWedge1single" styleLbl="fgSibTrans2D1">
            <dgm:choose name="Name173">
              <dgm:if name="Name174" func="var" arg="dir" op="equ" val="norm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arr"/>
                  <dgm:param type="endSty" val="noArr"/>
                </dgm:alg>
              </dgm:if>
              <dgm:else name="Name175">
                <dgm:alg type="conn">
                  <dgm:param type="connRout" val="longCurve"/>
                  <dgm:param type="srcNode" val="dummy1a"/>
                  <dgm:param type="dstNode" val="dummy1b"/>
                  <dgm:param type="begPts" val="tL"/>
                  <dgm:param type="endPts" val="tR"/>
                  <dgm:param type="begSty" val="noArr"/>
                  <dgm:param type="endSty" val="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if name="Name176" axis="ch" ptType="node" func="cnt" op="gte" val="2">
        <dgm:forEach name="Name177" axis="ch" ptType="sibTrans" hideLastTrans="0" cnt="1">
          <dgm:layoutNode name="arrowWedge1" styleLbl="fgSibTrans2D1">
            <dgm:choose name="Name178">
              <dgm:if name="Name179" func="var" arg="dir" op="equ" val="norm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noArr"/>
                  <dgm:param type="endSty" val="arr"/>
                </dgm:alg>
              </dgm:if>
              <dgm:else name="Name180">
                <dgm:alg type="conn">
                  <dgm:param type="connRout" val="curve"/>
                  <dgm:param type="srcNode" val="dummy1a"/>
                  <dgm:param type="dstNode" val="dummy1b"/>
                  <dgm:param type="begPts" val="tL"/>
                  <dgm:param type="endPts" val="tL"/>
                  <dgm:param type="begSty" val="arr"/>
                  <dgm:param type="endSty" val="noArr"/>
                </dgm:alg>
              </dgm:else>
            </dgm:choose>
            <dgm:shape xmlns:r="http://schemas.openxmlformats.org/officeDocument/2006/relationships" type="conn" r:blip="">
              <dgm:adjLst/>
            </dgm:shape>
            <dgm:presOf/>
            <dgm:constrLst>
              <dgm:constr type="w" val="1"/>
              <dgm:constr type="begPad"/>
              <dgm:constr type="endPad"/>
            </dgm:constrLst>
            <dgm:ruleLst/>
          </dgm:layoutNode>
        </dgm:forEach>
      </dgm:if>
      <dgm:else name="Name181"/>
    </dgm:choose>
    <dgm:forEach name="Name182" axis="ch" ptType="sibTrans" hideLastTrans="0" st="2" cnt="1">
      <dgm:layoutNode name="arrowWedge2" styleLbl="fgSibTrans2D1">
        <dgm:choose name="Name183">
          <dgm:if name="Name184" func="var" arg="dir" op="equ" val="norm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5">
            <dgm:alg type="conn">
              <dgm:param type="connRout" val="curve"/>
              <dgm:param type="srcNode" val="dummy2a"/>
              <dgm:param type="dstNode" val="dummy2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86" axis="ch" ptType="sibTrans" hideLastTrans="0" st="3" cnt="1">
      <dgm:layoutNode name="arrowWedge3" styleLbl="fgSibTrans2D1">
        <dgm:choose name="Name187">
          <dgm:if name="Name188" func="var" arg="dir" op="equ" val="norm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89">
            <dgm:alg type="conn">
              <dgm:param type="connRout" val="curve"/>
              <dgm:param type="srcNode" val="dummy3a"/>
              <dgm:param type="dstNode" val="dummy3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0" axis="ch" ptType="sibTrans" hideLastTrans="0" st="4" cnt="1">
      <dgm:layoutNode name="arrowWedge4" styleLbl="fgSibTrans2D1">
        <dgm:choose name="Name191">
          <dgm:if name="Name192" func="var" arg="dir" op="equ" val="norm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3">
            <dgm:alg type="conn">
              <dgm:param type="connRout" val="curve"/>
              <dgm:param type="srcNode" val="dummy4a"/>
              <dgm:param type="dstNode" val="dummy4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4" axis="ch" ptType="sibTrans" hideLastTrans="0" st="5" cnt="1">
      <dgm:layoutNode name="arrowWedge5" styleLbl="fgSibTrans2D1">
        <dgm:choose name="Name195">
          <dgm:if name="Name196" func="var" arg="dir" op="equ" val="norm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197">
            <dgm:alg type="conn">
              <dgm:param type="connRout" val="curve"/>
              <dgm:param type="srcNode" val="dummy5a"/>
              <dgm:param type="dstNode" val="dummy5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198" axis="ch" ptType="sibTrans" hideLastTrans="0" st="6" cnt="1">
      <dgm:layoutNode name="arrowWedge6" styleLbl="fgSibTrans2D1">
        <dgm:choose name="Name199">
          <dgm:if name="Name200" func="var" arg="dir" op="equ" val="norm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1">
            <dgm:alg type="conn">
              <dgm:param type="connRout" val="curve"/>
              <dgm:param type="srcNode" val="dummy6a"/>
              <dgm:param type="dstNode" val="dummy6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  <dgm:forEach name="Name202" axis="ch" ptType="sibTrans" hideLastTrans="0" st="7" cnt="1">
      <dgm:layoutNode name="arrowWedge7" styleLbl="fgSibTrans2D1">
        <dgm:choose name="Name203">
          <dgm:if name="Name204" func="var" arg="dir" op="equ" val="norm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noArr"/>
              <dgm:param type="endSty" val="arr"/>
            </dgm:alg>
          </dgm:if>
          <dgm:else name="Name205">
            <dgm:alg type="conn">
              <dgm:param type="connRout" val="curve"/>
              <dgm:param type="srcNode" val="dummy7a"/>
              <dgm:param type="dstNode" val="dummy7b"/>
              <dgm:param type="begPts" val="tL"/>
              <dgm:param type="endPts" val="tL"/>
              <dgm:param type="begSty" val="arr"/>
              <dgm:param type="endSty" val="noArr"/>
            </dgm:alg>
          </dgm:else>
        </dgm:choose>
        <dgm:shape xmlns:r="http://schemas.openxmlformats.org/officeDocument/2006/relationships" type="conn" r:blip="">
          <dgm:adjLst/>
        </dgm:shape>
        <dgm:presOf/>
        <dgm:constrLst>
          <dgm:constr type="w" val="1"/>
          <dgm:constr type="begPad"/>
          <dgm:constr type="endPad"/>
        </dgm:constrLst>
        <dgm:ruleLst/>
      </dgm:layoutNod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E749028-7B03-4B02-885C-D77113521619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4AF040-EF21-481B-90AC-C83BDA3491B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45430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744567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latin typeface="Bahnschrift SemiBold" panose="020B0502040204020203" pitchFamily="34" charset="0"/>
              </a:defRPr>
            </a:lvl1pPr>
          </a:lstStyle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latin typeface="Bahnschrift" panose="020B0502040204020203" pitchFamily="34" charset="0"/>
              </a:defRPr>
            </a:lvl1pPr>
            <a:lvl2pPr>
              <a:defRPr>
                <a:latin typeface="Bahnschrift" panose="020B0502040204020203" pitchFamily="34" charset="0"/>
              </a:defRPr>
            </a:lvl2pPr>
            <a:lvl3pPr>
              <a:defRPr>
                <a:latin typeface="Bahnschrift" panose="020B0502040204020203" pitchFamily="34" charset="0"/>
              </a:defRPr>
            </a:lvl3pPr>
            <a:lvl4pPr>
              <a:defRPr>
                <a:latin typeface="Bahnschrift" panose="020B0502040204020203" pitchFamily="34" charset="0"/>
              </a:defRPr>
            </a:lvl4pPr>
            <a:lvl5pPr>
              <a:defRPr>
                <a:latin typeface="Bahnschrift" panose="020B0502040204020203" pitchFamily="34" charset="0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35803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2054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38367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72486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6209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125726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252310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2688485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92499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6860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 l="-1000" r="-1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F6F51E0-DBB7-4D25-9D37-AF761FC91A0D}" type="datetimeFigureOut">
              <a:rPr lang="en-GB" smtClean="0"/>
              <a:t>29/06/2026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E09F03E-0454-4873-96B1-F60F4F6155F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78788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jpeg"/><Relationship Id="rId5" Type="http://schemas.openxmlformats.org/officeDocument/2006/relationships/image" Target="../media/image5.jpeg"/><Relationship Id="rId4" Type="http://schemas.openxmlformats.org/officeDocument/2006/relationships/image" Target="../media/image4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hyperlink" Target="zeta_mathematical_visualizer.htm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18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0.png"/><Relationship Id="rId5" Type="http://schemas.openxmlformats.org/officeDocument/2006/relationships/image" Target="../media/image160.png"/><Relationship Id="rId4" Type="http://schemas.openxmlformats.org/officeDocument/2006/relationships/image" Target="../media/image150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7" Type="http://schemas.openxmlformats.org/officeDocument/2006/relationships/image" Target="../media/image210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0.png"/><Relationship Id="rId5" Type="http://schemas.openxmlformats.org/officeDocument/2006/relationships/image" Target="../media/image190.png"/><Relationship Id="rId4" Type="http://schemas.openxmlformats.org/officeDocument/2006/relationships/image" Target="../media/image150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3" Type="http://schemas.openxmlformats.org/officeDocument/2006/relationships/image" Target="../media/image26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9.png"/><Relationship Id="rId11" Type="http://schemas.openxmlformats.org/officeDocument/2006/relationships/image" Target="../media/image26.svg"/><Relationship Id="rId5" Type="http://schemas.openxmlformats.org/officeDocument/2006/relationships/image" Target="../media/image28.png"/><Relationship Id="rId10" Type="http://schemas.openxmlformats.org/officeDocument/2006/relationships/image" Target="../media/image25.svg"/><Relationship Id="rId4" Type="http://schemas.openxmlformats.org/officeDocument/2006/relationships/image" Target="../media/image27.png"/><Relationship Id="rId9" Type="http://schemas.openxmlformats.org/officeDocument/2006/relationships/image" Target="../media/image32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1">
            <a:extLst>
              <a:ext uri="{FF2B5EF4-FFF2-40B4-BE49-F238E27FC236}">
                <a16:creationId xmlns:a16="http://schemas.microsoft.com/office/drawing/2014/main" id="{68311E98-335A-BADE-A217-9B66AC600E08}"/>
              </a:ext>
            </a:extLst>
          </p:cNvPr>
          <p:cNvSpPr/>
          <p:nvPr/>
        </p:nvSpPr>
        <p:spPr>
          <a:xfrm>
            <a:off x="-292274" y="1352146"/>
            <a:ext cx="12776548" cy="4299624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Reward Encoding during a two-armed bandit task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739746"/>
            <a:ext cx="9144000" cy="1518054"/>
          </a:xfrm>
        </p:spPr>
        <p:txBody>
          <a:bodyPr/>
          <a:lstStyle/>
          <a:p>
            <a:r>
              <a:rPr lang="de-DE" dirty="0">
                <a:latin typeface="Bahnschrift" panose="020B0502040204020203" pitchFamily="34" charset="0"/>
              </a:rPr>
              <a:t>CNB Lab · Manuel Stammler · </a:t>
            </a:r>
            <a:r>
              <a:rPr lang="de-DE" sz="2000" dirty="0">
                <a:latin typeface="Bahnschrift" panose="020B0502040204020203" pitchFamily="34" charset="0"/>
              </a:rPr>
              <a:t>01.07.2026</a:t>
            </a:r>
            <a:endParaRPr lang="en-GB" sz="2000" dirty="0">
              <a:latin typeface="Bahnschrift" panose="020B0502040204020203" pitchFamily="34" charset="0"/>
            </a:endParaRP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BFA64836-FAE0-6082-597A-94B1ABD8C5B5}"/>
              </a:ext>
            </a:extLst>
          </p:cNvPr>
          <p:cNvSpPr txBox="1"/>
          <p:nvPr/>
        </p:nvSpPr>
        <p:spPr>
          <a:xfrm>
            <a:off x="4762141" y="4980543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i="1" dirty="0">
              <a:solidFill>
                <a:schemeClr val="accent3"/>
              </a:solidFill>
              <a:latin typeface="Bahnschrift" panose="020B0502040204020203" pitchFamily="34" charset="0"/>
            </a:endParaRP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053F261-3A91-4CA9-7C23-714F14F35EEF}"/>
              </a:ext>
            </a:extLst>
          </p:cNvPr>
          <p:cNvSpPr/>
          <p:nvPr/>
        </p:nvSpPr>
        <p:spPr>
          <a:xfrm>
            <a:off x="4545249" y="4481035"/>
            <a:ext cx="3101501" cy="499508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- </a:t>
            </a:r>
            <a:r>
              <a:rPr lang="de-AT" i="1" dirty="0" err="1">
                <a:solidFill>
                  <a:schemeClr val="accent3"/>
                </a:solidFill>
                <a:latin typeface="Bahnschrift" panose="020B0502040204020203" pitchFamily="34" charset="0"/>
              </a:rPr>
              <a:t>Preliminary</a:t>
            </a:r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 </a:t>
            </a:r>
            <a:r>
              <a:rPr lang="de-AT" i="1" dirty="0" err="1">
                <a:solidFill>
                  <a:schemeClr val="accent3"/>
                </a:solidFill>
                <a:latin typeface="Bahnschrift" panose="020B0502040204020203" pitchFamily="34" charset="0"/>
              </a:rPr>
              <a:t>Findings</a:t>
            </a:r>
            <a:r>
              <a:rPr lang="de-AT" i="1" dirty="0">
                <a:solidFill>
                  <a:schemeClr val="accent3"/>
                </a:solidFill>
                <a:latin typeface="Bahnschrift" panose="020B0502040204020203" pitchFamily="34" charset="0"/>
              </a:rPr>
              <a:t> -</a:t>
            </a:r>
            <a:endParaRPr lang="en-US" i="1" dirty="0">
              <a:solidFill>
                <a:schemeClr val="accent3"/>
              </a:solidFill>
              <a:latin typeface="Bahnschrift" panose="020B0502040204020203" pitchFamily="34" charset="0"/>
            </a:endParaRPr>
          </a:p>
        </p:txBody>
      </p:sp>
      <p:cxnSp>
        <p:nvCxnSpPr>
          <p:cNvPr id="10" name="Gerader Verbinder 9">
            <a:extLst>
              <a:ext uri="{FF2B5EF4-FFF2-40B4-BE49-F238E27FC236}">
                <a16:creationId xmlns:a16="http://schemas.microsoft.com/office/drawing/2014/main" id="{AB42E287-BB3E-73C0-A51F-1ABC8E677099}"/>
              </a:ext>
            </a:extLst>
          </p:cNvPr>
          <p:cNvCxnSpPr/>
          <p:nvPr/>
        </p:nvCxnSpPr>
        <p:spPr>
          <a:xfrm>
            <a:off x="2276272" y="3509963"/>
            <a:ext cx="7616758" cy="0"/>
          </a:xfrm>
          <a:prstGeom prst="line">
            <a:avLst/>
          </a:prstGeom>
          <a:ln w="38100">
            <a:solidFill>
              <a:srgbClr val="0CB87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68388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-278953" y="1407985"/>
            <a:ext cx="12776548" cy="5558872"/>
          </a:xfrm>
          <a:prstGeom prst="rect">
            <a:avLst/>
          </a:prstGeom>
          <a:solidFill>
            <a:srgbClr val="FFFDF7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Rectangle 1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ounded Rectangle 7"/>
          <p:cNvSpPr/>
          <p:nvPr/>
        </p:nvSpPr>
        <p:spPr>
          <a:xfrm>
            <a:off x="838201" y="365125"/>
            <a:ext cx="4154714" cy="912132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Project summary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45585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F4875B6E-600E-B7F3-4F41-95FCDC3AF294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0753DEEA-E640-8FE9-D6D0-74CDDF07C7E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8429" y="3551395"/>
            <a:ext cx="1543046" cy="2743194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557D7CBF-6343-9F61-58AC-B0C3A94720FA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59161" y="416309"/>
            <a:ext cx="1694638" cy="3012692"/>
          </a:xfrm>
          <a:prstGeom prst="rect">
            <a:avLst/>
          </a:prstGeom>
        </p:spPr>
      </p:pic>
      <p:sp>
        <p:nvSpPr>
          <p:cNvPr id="23" name="Rectangle 1">
            <a:extLst>
              <a:ext uri="{FF2B5EF4-FFF2-40B4-BE49-F238E27FC236}">
                <a16:creationId xmlns:a16="http://schemas.microsoft.com/office/drawing/2014/main" id="{30BD6577-97BB-FA0F-B466-5F9C8E068385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prstClr val="black"/>
              </a:buClr>
              <a:buSzTx/>
              <a:buFontTx/>
              <a:buNone/>
              <a:tabLst/>
              <a:defRPr/>
            </a:pPr>
            <a:r>
              <a:rPr kumimoji="0" lang="de-DE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Bahnschrift" panose="020B0502040204020203" pitchFamily="34" charset="0"/>
                <a:ea typeface="+mn-ea"/>
                <a:cs typeface="+mn-cs"/>
              </a:rPr>
              <a:t>    Salzkammergut</a:t>
            </a:r>
            <a:endParaRPr kumimoji="0" lang="de-DE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Bahnschrift" panose="020B0502040204020203" pitchFamily="34" charset="0"/>
              <a:ea typeface="+mn-ea"/>
              <a:cs typeface="+mn-cs"/>
            </a:endParaRP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387893AC-5000-9F03-3725-FAC9E76339A7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8291" y="821191"/>
            <a:ext cx="3966368" cy="2643976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E7C9F4DC-1BEC-A958-08ED-B179A946694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332437" y="3551395"/>
            <a:ext cx="2608860" cy="1739062"/>
          </a:xfrm>
          <a:prstGeom prst="rect">
            <a:avLst/>
          </a:prstGeom>
        </p:spPr>
      </p:pic>
      <p:pic>
        <p:nvPicPr>
          <p:cNvPr id="15" name="Grafik 14">
            <a:extLst>
              <a:ext uri="{FF2B5EF4-FFF2-40B4-BE49-F238E27FC236}">
                <a16:creationId xmlns:a16="http://schemas.microsoft.com/office/drawing/2014/main" id="{77507B0C-2797-2758-F38A-81D4642DB0BB}"/>
              </a:ext>
            </a:extLst>
          </p:cNvPr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60433" y="3551395"/>
            <a:ext cx="1543046" cy="2743193"/>
          </a:xfrm>
          <a:prstGeom prst="rect">
            <a:avLst/>
          </a:prstGeom>
        </p:spPr>
      </p:pic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DA6E508B-91E6-A16E-935E-537BA37E3C18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A0681CB9-AD55-587D-A99F-B31A6847907C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EB88FD50-47E5-2BD3-31EE-9686512815CE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79AE1061-F0DE-4477-29F4-91AE43BD8BC9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</p:spTree>
    <p:extLst>
      <p:ext uri="{BB962C8B-B14F-4D97-AF65-F5344CB8AC3E}">
        <p14:creationId xmlns:p14="http://schemas.microsoft.com/office/powerpoint/2010/main" val="2306856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300"/>
                            </p:stCondLst>
                            <p:childTnLst>
                              <p:par>
                                <p:cTn id="17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400"/>
                            </p:stCondLst>
                            <p:childTnLst>
                              <p:par>
                                <p:cTn id="21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1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FC38D7E-EF5F-01F5-66B8-21DE711E24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6C81C306-53DD-CF56-AD58-916CE616DFD4}"/>
              </a:ext>
            </a:extLst>
          </p:cNvPr>
          <p:cNvSpPr/>
          <p:nvPr/>
        </p:nvSpPr>
        <p:spPr>
          <a:xfrm>
            <a:off x="5291423" y="-1"/>
            <a:ext cx="6889883" cy="6858001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55C29797-ADB5-E90A-CDF6-B92AD5F66666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352722DE-CA00-0BB8-5720-F46A3F5A57C0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2B906E58-DDDA-A628-6313-B3CAC5E4F4BC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485AF12C-6A53-3751-9969-61125435318E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8208E304-5295-9570-2E8B-3AE0C555A984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D509AD2-043D-A360-6ECC-783436562B2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74077" y="855790"/>
            <a:ext cx="2717783" cy="3623711"/>
          </a:xfrm>
          <a:prstGeom prst="rect">
            <a:avLst/>
          </a:prstGeom>
        </p:spPr>
      </p:pic>
      <p:pic>
        <p:nvPicPr>
          <p:cNvPr id="10" name="Grafik 9">
            <a:extLst>
              <a:ext uri="{FF2B5EF4-FFF2-40B4-BE49-F238E27FC236}">
                <a16:creationId xmlns:a16="http://schemas.microsoft.com/office/drawing/2014/main" id="{411251EA-C252-072D-8245-F0A14B72DC5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917" b="10898"/>
          <a:stretch>
            <a:fillRect/>
          </a:stretch>
        </p:blipFill>
        <p:spPr>
          <a:xfrm>
            <a:off x="8556492" y="439838"/>
            <a:ext cx="3442987" cy="1993116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102B0A89-5515-6AD7-605A-67B50E93D78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56492" y="2533502"/>
            <a:ext cx="2273839" cy="4042382"/>
          </a:xfrm>
          <a:prstGeom prst="rect">
            <a:avLst/>
          </a:prstGeom>
        </p:spPr>
      </p:pic>
      <p:sp>
        <p:nvSpPr>
          <p:cNvPr id="22" name="Rounded Rectangle 7">
            <a:extLst>
              <a:ext uri="{FF2B5EF4-FFF2-40B4-BE49-F238E27FC236}">
                <a16:creationId xmlns:a16="http://schemas.microsoft.com/office/drawing/2014/main" id="{3091F324-6B47-85C5-4CA7-5AE7CDFE7A17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double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degree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in Biological Chemistry</a:t>
            </a: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probiotic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treatment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fish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endoparasites</a:t>
            </a:r>
            <a:endParaRPr lang="de-DE" sz="20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82369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"/>
                            </p:stCondLst>
                            <p:childTnLst>
                              <p:par>
                                <p:cTn id="13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1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DF71F7E-B46E-CA5E-88E3-56D0F4AF7A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397600D5-B34B-78AC-93CE-045DF4FB51F3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8F6D6CBE-3899-4362-1143-9D72E7E532D4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9DB28394-62E7-3D0F-D8E5-6404881E883C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15392267-D0EB-69CD-4E74-5BF1F7691CB1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4124A9AE-556A-C473-CCFF-470DA59EAE17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Linz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16AF1AED-BF95-12EA-6735-45B82B1E3FEA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dirty="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Vienna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FA47080A-F686-3C0F-069B-9AFB3F7CF41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0119" y="3551395"/>
            <a:ext cx="4219575" cy="3164682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AF1CEE6F-45D6-BE90-9D82-4084FD3CC82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52552" y="114300"/>
            <a:ext cx="4419600" cy="3314700"/>
          </a:xfrm>
          <a:prstGeom prst="rect">
            <a:avLst/>
          </a:prstGeom>
        </p:spPr>
      </p:pic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075336A9-6AB5-A02C-A98F-017B31CB3D22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double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degree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in Biological Chemistry</a:t>
            </a: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HPLC Analysis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CBD-Oil compounds</a:t>
            </a:r>
          </a:p>
        </p:txBody>
      </p:sp>
    </p:spTree>
    <p:extLst>
      <p:ext uri="{BB962C8B-B14F-4D97-AF65-F5344CB8AC3E}">
        <p14:creationId xmlns:p14="http://schemas.microsoft.com/office/powerpoint/2010/main" val="21242753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"/>
                            </p:stCondLst>
                            <p:childTnLst>
                              <p:par>
                                <p:cTn id="9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1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328A516-0511-C054-5F02-3058CF47F6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">
            <a:extLst>
              <a:ext uri="{FF2B5EF4-FFF2-40B4-BE49-F238E27FC236}">
                <a16:creationId xmlns:a16="http://schemas.microsoft.com/office/drawing/2014/main" id="{50143554-5C07-0623-C12F-562F882E5B96}"/>
              </a:ext>
            </a:extLst>
          </p:cNvPr>
          <p:cNvSpPr/>
          <p:nvPr/>
        </p:nvSpPr>
        <p:spPr>
          <a:xfrm>
            <a:off x="5291423" y="-126805"/>
            <a:ext cx="12776548" cy="7356400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" name="Rectangle 1">
            <a:extLst>
              <a:ext uri="{FF2B5EF4-FFF2-40B4-BE49-F238E27FC236}">
                <a16:creationId xmlns:a16="http://schemas.microsoft.com/office/drawing/2014/main" id="{EF9DFDB6-5DEA-566C-48CB-F6A6A3EF440C}"/>
              </a:ext>
            </a:extLst>
          </p:cNvPr>
          <p:cNvSpPr/>
          <p:nvPr/>
        </p:nvSpPr>
        <p:spPr>
          <a:xfrm>
            <a:off x="10694" y="1671088"/>
            <a:ext cx="5280729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Salzkammergut</a:t>
            </a:r>
            <a:endParaRPr lang="de-DE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17" name="Rounded Rectangle 7">
            <a:extLst>
              <a:ext uri="{FF2B5EF4-FFF2-40B4-BE49-F238E27FC236}">
                <a16:creationId xmlns:a16="http://schemas.microsoft.com/office/drawing/2014/main" id="{1819DCA5-C4C7-4650-FCD7-B3D9DD2C606F}"/>
              </a:ext>
            </a:extLst>
          </p:cNvPr>
          <p:cNvSpPr/>
          <p:nvPr/>
        </p:nvSpPr>
        <p:spPr>
          <a:xfrm>
            <a:off x="192521" y="205986"/>
            <a:ext cx="4969639" cy="1230410"/>
          </a:xfrm>
          <a:prstGeom prst="roundRect">
            <a:avLst>
              <a:gd name="adj" fmla="val 50000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Who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this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guy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Geneva" panose="020B0503030404040204" pitchFamily="34" charset="0"/>
              </a:rPr>
              <a:t>even</a:t>
            </a:r>
            <a:r>
              <a:rPr lang="de-DE" sz="3200" b="1" dirty="0">
                <a:solidFill>
                  <a:schemeClr val="tx1"/>
                </a:solidFill>
                <a:latin typeface="Geneva" panose="020B0503030404040204" pitchFamily="34" charset="0"/>
              </a:rPr>
              <a:t>?</a:t>
            </a:r>
            <a:endParaRPr lang="en-GB" sz="3200" b="1" dirty="0">
              <a:solidFill>
                <a:schemeClr val="tx1"/>
              </a:solidFill>
              <a:latin typeface="Geneva" panose="020B0503030404040204" pitchFamily="34" charset="0"/>
            </a:endParaRPr>
          </a:p>
        </p:txBody>
      </p:sp>
      <p:sp>
        <p:nvSpPr>
          <p:cNvPr id="25" name="Rectangle 1">
            <a:extLst>
              <a:ext uri="{FF2B5EF4-FFF2-40B4-BE49-F238E27FC236}">
                <a16:creationId xmlns:a16="http://schemas.microsoft.com/office/drawing/2014/main" id="{910E6305-FBB0-4DA2-14CD-80A807916F14}"/>
              </a:ext>
            </a:extLst>
          </p:cNvPr>
          <p:cNvSpPr/>
          <p:nvPr/>
        </p:nvSpPr>
        <p:spPr>
          <a:xfrm>
            <a:off x="0" y="2667646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Budweis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7" name="Rectangle 1">
            <a:extLst>
              <a:ext uri="{FF2B5EF4-FFF2-40B4-BE49-F238E27FC236}">
                <a16:creationId xmlns:a16="http://schemas.microsoft.com/office/drawing/2014/main" id="{13280C77-660D-4FB5-410C-649A5B68BA99}"/>
              </a:ext>
            </a:extLst>
          </p:cNvPr>
          <p:cNvSpPr/>
          <p:nvPr/>
        </p:nvSpPr>
        <p:spPr>
          <a:xfrm>
            <a:off x="-1" y="3664204"/>
            <a:ext cx="5291423" cy="996558"/>
          </a:xfrm>
          <a:prstGeom prst="rect">
            <a:avLst/>
          </a:prstGeom>
          <a:solidFill>
            <a:srgbClr val="CFF1E6">
              <a:alpha val="46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>
                <a:solidFill>
                  <a:schemeClr val="bg1">
                    <a:lumMod val="75000"/>
                  </a:schemeClr>
                </a:solidFill>
                <a:latin typeface="Bahnschrift" panose="020B0502040204020203" pitchFamily="34" charset="0"/>
              </a:rPr>
              <a:t>    Linz</a:t>
            </a:r>
            <a:endParaRPr lang="en-GB" sz="2800" dirty="0">
              <a:solidFill>
                <a:schemeClr val="bg1">
                  <a:lumMod val="75000"/>
                </a:schemeClr>
              </a:solidFill>
              <a:latin typeface="Bahnschrift" panose="020B0502040204020203" pitchFamily="34" charset="0"/>
            </a:endParaRPr>
          </a:p>
        </p:txBody>
      </p:sp>
      <p:sp>
        <p:nvSpPr>
          <p:cNvPr id="29" name="Rectangle 1">
            <a:extLst>
              <a:ext uri="{FF2B5EF4-FFF2-40B4-BE49-F238E27FC236}">
                <a16:creationId xmlns:a16="http://schemas.microsoft.com/office/drawing/2014/main" id="{B929E011-8B33-2651-368A-DE909457389B}"/>
              </a:ext>
            </a:extLst>
          </p:cNvPr>
          <p:cNvSpPr/>
          <p:nvPr/>
        </p:nvSpPr>
        <p:spPr>
          <a:xfrm>
            <a:off x="-2" y="4660762"/>
            <a:ext cx="5291423" cy="996558"/>
          </a:xfrm>
          <a:prstGeom prst="rect">
            <a:avLst/>
          </a:prstGeom>
          <a:solidFill>
            <a:srgbClr val="CFF1E6"/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buClr>
                <a:prstClr val="black"/>
              </a:buClr>
            </a:pPr>
            <a:r>
              <a:rPr lang="en-GB" sz="2800">
                <a:solidFill>
                  <a:prstClr val="black"/>
                </a:solidFill>
                <a:latin typeface="Bahnschrift" panose="020B0502040204020203" pitchFamily="34" charset="0"/>
              </a:rPr>
              <a:t>    Vienna</a:t>
            </a:r>
            <a:endParaRPr lang="en-GB" sz="2800" dirty="0">
              <a:solidFill>
                <a:prstClr val="black"/>
              </a:solidFill>
              <a:latin typeface="Bahnschrift" panose="020B0502040204020203" pitchFamily="34" charset="0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5691518-FF33-6021-B802-F01B1003B6C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50833" y="1671088"/>
            <a:ext cx="6441167" cy="2491395"/>
          </a:xfrm>
          <a:prstGeom prst="rect">
            <a:avLst/>
          </a:prstGeom>
        </p:spPr>
      </p:pic>
      <p:sp>
        <p:nvSpPr>
          <p:cNvPr id="7" name="Rounded Rectangle 7">
            <a:extLst>
              <a:ext uri="{FF2B5EF4-FFF2-40B4-BE49-F238E27FC236}">
                <a16:creationId xmlns:a16="http://schemas.microsoft.com/office/drawing/2014/main" id="{35D68C68-1554-E1FD-33EA-76D0DCE98747}"/>
              </a:ext>
            </a:extLst>
          </p:cNvPr>
          <p:cNvSpPr/>
          <p:nvPr/>
        </p:nvSpPr>
        <p:spPr>
          <a:xfrm>
            <a:off x="5646407" y="4580049"/>
            <a:ext cx="6179914" cy="1481034"/>
          </a:xfrm>
          <a:prstGeom prst="roundRect">
            <a:avLst>
              <a:gd name="adj" fmla="val 50000"/>
            </a:avLst>
          </a:prstGeom>
          <a:solidFill>
            <a:srgbClr val="FFFDF7">
              <a:alpha val="64000"/>
            </a:srgbClr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Master‘s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programm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Neuroscience</a:t>
            </a:r>
            <a:endParaRPr lang="de-DE" sz="20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marL="342900" indent="-342900">
              <a:buFontTx/>
              <a:buChar char="-"/>
            </a:pP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thesis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on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prediction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error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2000" dirty="0" err="1">
                <a:solidFill>
                  <a:schemeClr val="tx1"/>
                </a:solidFill>
                <a:latin typeface="Bahnschrift" panose="020B0502040204020203" pitchFamily="34" charset="0"/>
              </a:rPr>
              <a:t>encoding</a:t>
            </a:r>
            <a:r>
              <a:rPr lang="de-DE" sz="20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9947005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38" b="9335"/>
          <a:stretch/>
        </p:blipFill>
        <p:spPr>
          <a:xfrm>
            <a:off x="6516914" y="1825625"/>
            <a:ext cx="5675086" cy="4484915"/>
          </a:xfrm>
          <a:prstGeom prst="rect">
            <a:avLst/>
          </a:prstGeom>
          <a:effectLst>
            <a:softEdge rad="76200"/>
          </a:effectLst>
        </p:spPr>
      </p:pic>
      <p:sp>
        <p:nvSpPr>
          <p:cNvPr id="7" name="TextBox 6"/>
          <p:cNvSpPr txBox="1"/>
          <p:nvPr/>
        </p:nvSpPr>
        <p:spPr>
          <a:xfrm>
            <a:off x="6905625" y="2038350"/>
            <a:ext cx="1868075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Middle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9409973" y="2117993"/>
            <a:ext cx="1880002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Supramarginal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296525" y="2660054"/>
            <a:ext cx="1326004" cy="338554"/>
          </a:xfrm>
          <a:prstGeom prst="rect">
            <a:avLst/>
          </a:prstGeom>
          <a:solidFill>
            <a:srgbClr val="FFFFFF"/>
          </a:solidFill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Angular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TextBox 9"/>
          <p:cNvSpPr txBox="1"/>
          <p:nvPr/>
        </p:nvSpPr>
        <p:spPr>
          <a:xfrm>
            <a:off x="6765131" y="5794473"/>
            <a:ext cx="190020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6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Inferior frontal gyrus</a:t>
            </a:r>
            <a:endParaRPr lang="en-GB" sz="16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53251657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5678714" cy="4351338"/>
          </a:xfrm>
        </p:spPr>
        <p:txBody>
          <a:bodyPr/>
          <a:lstStyle/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Stroke patient </a:t>
            </a:r>
            <a:r>
              <a:rPr lang="de-DE" dirty="0">
                <a:latin typeface="Bahnschrift" panose="020B0502040204020203" pitchFamily="34" charset="0"/>
              </a:rPr>
              <a:t>with chronically implanted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electrode array</a:t>
            </a:r>
          </a:p>
          <a:p>
            <a:r>
              <a:rPr lang="de-DE" dirty="0">
                <a:latin typeface="Bahnschrift" panose="020B0502040204020203" pitchFamily="34" charset="0"/>
              </a:rPr>
              <a:t>Spikes sorted into units and sampled at </a:t>
            </a: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30kHz</a:t>
            </a:r>
          </a:p>
          <a:p>
            <a:pPr>
              <a:buClr>
                <a:schemeClr val="tx1"/>
              </a:buClr>
            </a:pPr>
            <a:r>
              <a:rPr lang="de-DE" dirty="0">
                <a:solidFill>
                  <a:srgbClr val="088259"/>
                </a:solidFill>
                <a:latin typeface="Bahnschrift" panose="020B0502040204020203" pitchFamily="34" charset="0"/>
              </a:rPr>
              <a:t>Four</a:t>
            </a:r>
            <a:r>
              <a:rPr lang="de-DE" dirty="0">
                <a:latin typeface="Bahnschrift" panose="020B0502040204020203" pitchFamily="34" charset="0"/>
              </a:rPr>
              <a:t> recorded cortical regions 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Frontal: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MFG &amp; IFG</a:t>
            </a:r>
          </a:p>
          <a:p>
            <a:pPr lvl="1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Parietal</a:t>
            </a:r>
          </a:p>
          <a:p>
            <a:pPr lvl="2">
              <a:buClr>
                <a:schemeClr val="tx1"/>
              </a:buClr>
              <a:buFont typeface="Wingdings" panose="05000000000000000000" pitchFamily="2" charset="2"/>
              <a:buChar char="§"/>
            </a:pPr>
            <a:r>
              <a:rPr lang="de-DE" dirty="0">
                <a:latin typeface="Bahnschrift" panose="020B0502040204020203" pitchFamily="34" charset="0"/>
              </a:rPr>
              <a:t>SMG &amp; AG</a:t>
            </a:r>
          </a:p>
          <a:p>
            <a:pPr lvl="1">
              <a:buClr>
                <a:schemeClr val="tx1"/>
              </a:buClr>
            </a:pPr>
            <a:endParaRPr lang="en-GB" dirty="0"/>
          </a:p>
        </p:txBody>
      </p:sp>
      <p:sp>
        <p:nvSpPr>
          <p:cNvPr id="11" name="Rectangle 10"/>
          <p:cNvSpPr/>
          <p:nvPr/>
        </p:nvSpPr>
        <p:spPr>
          <a:xfrm>
            <a:off x="6962775" y="5848350"/>
            <a:ext cx="1604963" cy="200025"/>
          </a:xfrm>
          <a:prstGeom prst="rect">
            <a:avLst/>
          </a:prstGeom>
          <a:solidFill>
            <a:srgbClr val="FDFDFD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9266"/>
          <a:stretch/>
        </p:blipFill>
        <p:spPr>
          <a:xfrm>
            <a:off x="7594525" y="316561"/>
            <a:ext cx="3835475" cy="6262978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>
                <a:latin typeface="Bahnschrift SemiBold" panose="020B0502040204020203" pitchFamily="34" charset="0"/>
              </a:rPr>
              <a:t>Project Summary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FFD3012-39E5-C9B3-2EA7-EBE9B9CE4F28}"/>
              </a:ext>
            </a:extLst>
          </p:cNvPr>
          <p:cNvSpPr txBox="1">
            <a:spLocks/>
          </p:cNvSpPr>
          <p:nvPr/>
        </p:nvSpPr>
        <p:spPr>
          <a:xfrm>
            <a:off x="7134224" y="6419995"/>
            <a:ext cx="3286125" cy="31908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Clr>
                <a:schemeClr val="tx1"/>
              </a:buClr>
              <a:buNone/>
            </a:pPr>
            <a:r>
              <a:rPr lang="en-GB" sz="900" dirty="0"/>
              <a:t>Image: Simon Jacob Lab; Chen </a:t>
            </a:r>
            <a:r>
              <a:rPr lang="en-GB" sz="900" dirty="0" err="1"/>
              <a:t>Hongbiao</a:t>
            </a:r>
            <a:endParaRPr lang="en-GB" sz="900" dirty="0"/>
          </a:p>
        </p:txBody>
      </p:sp>
    </p:spTree>
    <p:extLst>
      <p:ext uri="{BB962C8B-B14F-4D97-AF65-F5344CB8AC3E}">
        <p14:creationId xmlns:p14="http://schemas.microsoft.com/office/powerpoint/2010/main" val="409509200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Project Summary</a:t>
            </a:r>
            <a:endParaRPr lang="en-GB" dirty="0"/>
          </a:p>
        </p:txBody>
      </p:sp>
      <p:sp>
        <p:nvSpPr>
          <p:cNvPr id="17" name="Rectangle 16"/>
          <p:cNvSpPr/>
          <p:nvPr/>
        </p:nvSpPr>
        <p:spPr>
          <a:xfrm>
            <a:off x="-242696" y="1416582"/>
            <a:ext cx="12646152" cy="3758705"/>
          </a:xfrm>
          <a:prstGeom prst="rect">
            <a:avLst/>
          </a:prstGeom>
          <a:solidFill>
            <a:srgbClr val="FFFDF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18" name="Table 1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95664"/>
              </p:ext>
            </p:extLst>
          </p:nvPr>
        </p:nvGraphicFramePr>
        <p:xfrm>
          <a:off x="2016380" y="3958806"/>
          <a:ext cx="8128000" cy="22250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941969498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176881244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de-DE" sz="1800" b="1" dirty="0">
                          <a:latin typeface="Bahnschrift" panose="020B0502040204020203" pitchFamily="34" charset="0"/>
                        </a:rPr>
                        <a:t>Safe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45986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sz="1800" b="1" dirty="0">
                          <a:latin typeface="Bahnschrift" panose="020B0502040204020203" pitchFamily="34" charset="0"/>
                        </a:rPr>
                        <a:t>Gamble</a:t>
                      </a:r>
                      <a:r>
                        <a:rPr lang="de-DE" sz="1800" b="1" baseline="0" dirty="0">
                          <a:latin typeface="Bahnschrift" panose="020B0502040204020203" pitchFamily="34" charset="0"/>
                        </a:rPr>
                        <a:t> Side</a:t>
                      </a:r>
                      <a:endParaRPr lang="en-GB" sz="1800" b="1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94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038668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1x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4x reward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158674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guaranteed probability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7EFE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latin typeface="Bahnschrift" panose="020B0502040204020203" pitchFamily="34" charset="0"/>
                        </a:rPr>
                        <a:t>varying probability: {0.1, 0.2, 0.4, 0.8}</a:t>
                      </a:r>
                      <a:endParaRPr lang="en-GB" b="0" dirty="0">
                        <a:latin typeface="Bahnschrift" panose="020B0502040204020203" pitchFamily="34" charset="0"/>
                      </a:endParaRPr>
                    </a:p>
                  </a:txBody>
                  <a:tcPr>
                    <a:lnB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2473179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~3 seconds trial start to trial end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17742246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~2h per session duration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FFF6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226702"/>
                  </a:ext>
                </a:extLst>
              </a:tr>
              <a:tr h="370840"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b="0" dirty="0">
                          <a:latin typeface="Bahnschrift" panose="020B0502040204020203" pitchFamily="34" charset="0"/>
                        </a:rPr>
                        <a:t>          randomized probability schedule per session</a:t>
                      </a:r>
                    </a:p>
                  </a:txBody>
                  <a:tcPr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87778732"/>
                  </a:ext>
                </a:extLst>
              </a:tr>
            </a:tbl>
          </a:graphicData>
        </a:graphic>
      </p:graphicFrame>
      <p:grpSp>
        <p:nvGrpSpPr>
          <p:cNvPr id="21" name="Group 20"/>
          <p:cNvGrpSpPr/>
          <p:nvPr/>
        </p:nvGrpSpPr>
        <p:grpSpPr>
          <a:xfrm>
            <a:off x="0" y="81775"/>
            <a:ext cx="12160760" cy="3593681"/>
            <a:chOff x="0" y="81775"/>
            <a:chExt cx="12160760" cy="3593681"/>
          </a:xfrm>
        </p:grpSpPr>
        <p:pic>
          <p:nvPicPr>
            <p:cNvPr id="16" name="Picture 15"/>
            <p:cNvPicPr>
              <a:picLocks noChangeAspect="1"/>
            </p:cNvPicPr>
            <p:nvPr/>
          </p:nvPicPr>
          <p:blipFill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81775"/>
              <a:ext cx="12160760" cy="3593681"/>
            </a:xfrm>
            <a:prstGeom prst="rect">
              <a:avLst/>
            </a:prstGeom>
            <a:effectLst>
              <a:softEdge rad="63500"/>
            </a:effectLst>
          </p:spPr>
        </p:pic>
        <p:sp>
          <p:nvSpPr>
            <p:cNvPr id="20" name="TextBox 19"/>
            <p:cNvSpPr txBox="1"/>
            <p:nvPr/>
          </p:nvSpPr>
          <p:spPr>
            <a:xfrm>
              <a:off x="4424856" y="81775"/>
              <a:ext cx="3212739" cy="307777"/>
            </a:xfrm>
            <a:prstGeom prst="rect">
              <a:avLst/>
            </a:prstGeom>
            <a:solidFill>
              <a:schemeClr val="bg1"/>
            </a:solidFill>
          </p:spPr>
          <p:txBody>
            <a:bodyPr wrap="none" rtlCol="0">
              <a:spAutoFit/>
            </a:bodyPr>
            <a:lstStyle/>
            <a:p>
              <a:r>
                <a:rPr lang="de-DE" sz="1400" dirty="0">
                  <a:latin typeface="Bahnschrift" panose="020B0502040204020203" pitchFamily="34" charset="0"/>
                </a:rPr>
                <a:t>Choice Behaviour – Session 21.05.2025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617514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2.08333E-6 4.44444E-6 L 0.00534 -0.222 " pathEditMode="relative" rAng="0" ptsTypes="AA">
                                      <p:cBhvr>
                                        <p:cTn id="6" dur="2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60" y="-1111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250"/>
                            </p:stCondLst>
                            <p:childTnLst>
                              <p:par>
                                <p:cTn id="8" presetID="10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8842931"/>
              </p:ext>
            </p:extLst>
          </p:nvPr>
        </p:nvGraphicFramePr>
        <p:xfrm>
          <a:off x="838200" y="2300945"/>
          <a:ext cx="10515600" cy="3505200"/>
        </p:xfrm>
        <a:graphic>
          <a:graphicData uri="http://schemas.openxmlformats.org/drawingml/2006/table">
            <a:tbl>
              <a:tblPr/>
              <a:tblGrid>
                <a:gridCol w="1752600">
                  <a:extLst>
                    <a:ext uri="{9D8B030D-6E8A-4147-A177-3AD203B41FA5}">
                      <a16:colId xmlns:a16="http://schemas.microsoft.com/office/drawing/2014/main" val="1770245171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176471046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3480711944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75523058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2062309776"/>
                    </a:ext>
                  </a:extLst>
                </a:gridCol>
                <a:gridCol w="1752600">
                  <a:extLst>
                    <a:ext uri="{9D8B030D-6E8A-4147-A177-3AD203B41FA5}">
                      <a16:colId xmlns:a16="http://schemas.microsoft.com/office/drawing/2014/main" val="44484170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Session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Trials (resp.)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Units (</a:t>
                      </a:r>
                      <a:r>
                        <a:rPr lang="en-GB" b="1" dirty="0" err="1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su</a:t>
                      </a:r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/mu)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Rec. (min)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Gamble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solidFill>
                            <a:schemeClr val="bg1"/>
                          </a:solidFill>
                          <a:effectLst/>
                          <a:latin typeface="Bahnschrift SemiBold" panose="020B0502040204020203" pitchFamily="34" charset="0"/>
                        </a:rPr>
                        <a:t>Reward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44C89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067891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20250521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1009 (939)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252 (180/72)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0.42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0.77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558486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20250602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1018 (947)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214 (152/62)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118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59167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20250605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1037 (962)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241 (167/74)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143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0.82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396370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635 (507)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215 (165/50)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70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0.33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395140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911 (772)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220 (167/53)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129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0.38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0134061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20250709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694 (639)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225 (184/41)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105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22596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984 (902)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249 (191/58)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135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0.36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0.81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357721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20250714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1006 (959)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>
                          <a:effectLst/>
                          <a:latin typeface="Bahnschrift" panose="020B0502040204020203" pitchFamily="34" charset="0"/>
                        </a:rPr>
                        <a:t>229 (180/49)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116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0.40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7234950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Total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7294 (6627)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1845 (1386/459)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>
                          <a:effectLst/>
                          <a:latin typeface="Bahnschrift" panose="020B0502040204020203" pitchFamily="34" charset="0"/>
                        </a:rPr>
                        <a:t>—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0.37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GB" b="1" dirty="0">
                          <a:effectLst/>
                          <a:latin typeface="Bahnschrift" panose="020B0502040204020203" pitchFamily="34" charset="0"/>
                        </a:rPr>
                        <a:t>0.80</a:t>
                      </a: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/>
                      </a:solidFill>
                      <a:prstDash val="sysDash"/>
                      <a:round/>
                      <a:headEnd type="none" w="med" len="med"/>
                      <a:tailEnd type="none" w="med" len="med"/>
                    </a:lnB>
                    <a:solidFill>
                      <a:srgbClr val="FFFD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0920000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38200" y="479255"/>
            <a:ext cx="1904999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8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sessions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4347754" y="51437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6,627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responding trials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438605" y="479254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6600" b="1" dirty="0">
                <a:solidFill>
                  <a:schemeClr val="tx1"/>
                </a:solidFill>
                <a:latin typeface="Bahnschrift" panose="020B0502040204020203" pitchFamily="34" charset="0"/>
              </a:rPr>
              <a:t>37%</a:t>
            </a:r>
            <a:endParaRPr lang="de-DE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pPr algn="ctr"/>
            <a:r>
              <a:rPr lang="de-DE" sz="20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 rate</a:t>
            </a:r>
            <a:endParaRPr lang="en-GB" sz="3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7262949" y="285752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check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these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values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08299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750"/>
                            </p:stCondLst>
                            <p:childTnLst>
                              <p:par>
                                <p:cTn id="17" presetID="22" presetClass="entr" presetSubtype="1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9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" fill="hold">
                            <p:stCondLst>
                              <p:cond delay="1000"/>
                            </p:stCondLst>
                            <p:childTnLst>
                              <p:par>
                                <p:cTn id="2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  <p:bldP spid="9" grpId="0" animBg="1"/>
      <p:bldP spid="10" grpId="0" animBg="1"/>
      <p:bldP spid="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/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Are 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C00000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arm?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66114" y="179519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2 · Latent Variable encoding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Do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neuronal firing rates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encode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prediction errors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estimated from a computational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model of behaviour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38182248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Rectangle 4"/>
          <p:cNvSpPr/>
          <p:nvPr/>
        </p:nvSpPr>
        <p:spPr>
          <a:xfrm>
            <a:off x="-419100" y="-122585"/>
            <a:ext cx="4314824" cy="72377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057524" y="1907827"/>
            <a:ext cx="762000" cy="4578524"/>
          </a:xfrm>
        </p:spPr>
        <p:txBody>
          <a:bodyPr/>
          <a:lstStyle/>
          <a:p>
            <a:pPr marL="0" indent="0">
              <a:buNone/>
            </a:pPr>
            <a:r>
              <a:rPr lang="de-DE" sz="5400" b="1" dirty="0"/>
              <a:t>Z</a:t>
            </a:r>
          </a:p>
          <a:p>
            <a:pPr marL="0" indent="0">
              <a:buNone/>
            </a:pPr>
            <a:r>
              <a:rPr lang="de-DE" sz="5400" b="1" dirty="0"/>
              <a:t>E</a:t>
            </a:r>
          </a:p>
          <a:p>
            <a:pPr marL="0" indent="0">
              <a:buNone/>
            </a:pPr>
            <a:r>
              <a:rPr lang="de-DE" sz="5400" b="1" dirty="0"/>
              <a:t>T   </a:t>
            </a:r>
          </a:p>
          <a:p>
            <a:pPr marL="0" indent="0">
              <a:buNone/>
            </a:pPr>
            <a:r>
              <a:rPr lang="de-DE" sz="5400" b="1" dirty="0"/>
              <a:t>A</a:t>
            </a:r>
            <a:endParaRPr lang="de-DE" sz="4000" b="1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6" name="Rectangle 5"/>
          <p:cNvSpPr/>
          <p:nvPr/>
        </p:nvSpPr>
        <p:spPr>
          <a:xfrm>
            <a:off x="-755203" y="-122586"/>
            <a:ext cx="13137703" cy="1628775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Content Placeholder 2"/>
          <p:cNvSpPr txBox="1">
            <a:spLocks/>
          </p:cNvSpPr>
          <p:nvPr/>
        </p:nvSpPr>
        <p:spPr>
          <a:xfrm>
            <a:off x="3895724" y="1907827"/>
            <a:ext cx="11163300" cy="457852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enith of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vent-based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ime locked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de-DE" sz="5400" dirty="0"/>
              <a:t>nomalies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sz="4000" dirty="0"/>
          </a:p>
        </p:txBody>
      </p:sp>
    </p:spTree>
    <p:extLst>
      <p:ext uri="{BB962C8B-B14F-4D97-AF65-F5344CB8AC3E}">
        <p14:creationId xmlns:p14="http://schemas.microsoft.com/office/powerpoint/2010/main" val="31468028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xit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6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" dur="250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0-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250"/>
                            </p:stCondLst>
                            <p:childTnLst>
                              <p:par>
                                <p:cTn id="10" presetID="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" fill="hold">
                            <p:stCondLst>
                              <p:cond delay="750"/>
                            </p:stCondLst>
                            <p:childTnLst>
                              <p:par>
                                <p:cTn id="1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25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25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25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500"/>
                            </p:stCondLst>
                            <p:childTnLst>
                              <p:par>
                                <p:cTn id="3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25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test for time-locked spiking	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en-GB" dirty="0"/>
              <a:t>Pool spike times relative to the event across all trials.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Build their </a:t>
            </a:r>
            <a:r>
              <a:rPr lang="en-GB" b="1" dirty="0"/>
              <a:t>cumulative distribution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Compare to the flat line expected if spikes were </a:t>
            </a:r>
            <a:r>
              <a:rPr lang="en-GB" b="1" dirty="0"/>
              <a:t>uniformly</a:t>
            </a:r>
            <a:r>
              <a:rPr lang="en-GB" dirty="0"/>
              <a:t> spread (no time-locking).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The </a:t>
            </a:r>
            <a:r>
              <a:rPr lang="en-GB" b="1" dirty="0"/>
              <a:t>largest deviation</a:t>
            </a:r>
            <a:r>
              <a:rPr lang="en-GB" dirty="0"/>
              <a:t> from that line is ZETA; its timing is the </a:t>
            </a:r>
            <a:r>
              <a:rPr lang="en-GB" b="1" dirty="0"/>
              <a:t>zenith</a:t>
            </a:r>
            <a:r>
              <a:rPr lang="en-GB" dirty="0"/>
              <a:t>.</a:t>
            </a:r>
          </a:p>
          <a:p>
            <a:pPr marL="514350" indent="-514350">
              <a:buFont typeface="+mj-lt"/>
              <a:buAutoNum type="arabicPeriod"/>
            </a:pPr>
            <a:r>
              <a:rPr lang="en-GB" dirty="0"/>
              <a:t>Significance from </a:t>
            </a:r>
            <a:r>
              <a:rPr lang="en-GB" b="1" dirty="0"/>
              <a:t>jittered</a:t>
            </a:r>
            <a:r>
              <a:rPr lang="en-GB" dirty="0"/>
              <a:t> resampling of event times.</a:t>
            </a:r>
          </a:p>
        </p:txBody>
      </p:sp>
      <p:sp>
        <p:nvSpPr>
          <p:cNvPr id="4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7262949" y="285752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More visual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80281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pic>
        <p:nvPicPr>
          <p:cNvPr id="7" name="Picture 6">
            <a:hlinkClick r:id="rId2" action="ppaction://hlinkfile"/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49815" y="1765333"/>
            <a:ext cx="7892370" cy="4957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840156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5614" y="1549101"/>
            <a:ext cx="5529798" cy="516048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72825"/>
            <a:ext cx="12556851" cy="148081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  <p:sp>
        <p:nvSpPr>
          <p:cNvPr id="11" name="Rounded Rectangle 10"/>
          <p:cNvSpPr/>
          <p:nvPr/>
        </p:nvSpPr>
        <p:spPr>
          <a:xfrm>
            <a:off x="6928693" y="211174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Normalized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 cumulative spike count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Mean-subtracted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spike density deviation</a:t>
            </a: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3680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2894"/>
            <a:ext cx="3928813" cy="366642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812" y="2406320"/>
            <a:ext cx="8165505" cy="352996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06210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312894"/>
            <a:ext cx="3928813" cy="3666420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8812" y="2406320"/>
            <a:ext cx="8165505" cy="352996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de-DE" dirty="0"/>
              <a:t>ZETA visualization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8426018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FBE3696-AFF0-48BF-06A1-D0D49A7EAA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ZETA </a:t>
            </a:r>
            <a:r>
              <a:rPr lang="de-AT" dirty="0" err="1"/>
              <a:t>Results</a:t>
            </a:r>
            <a:endParaRPr lang="en-US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B286E00-2FCA-A965-B93F-CF648CFD95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3552" y="1825625"/>
            <a:ext cx="4834654" cy="4351338"/>
          </a:xfrm>
        </p:spPr>
        <p:txBody>
          <a:bodyPr>
            <a:normAutofit lnSpcReduction="10000"/>
          </a:bodyPr>
          <a:lstStyle/>
          <a:p>
            <a:r>
              <a:rPr lang="de-AT" dirty="0" err="1"/>
              <a:t>most</a:t>
            </a:r>
            <a:r>
              <a:rPr lang="de-AT" dirty="0"/>
              <a:t> </a:t>
            </a:r>
            <a:r>
              <a:rPr lang="de-AT" dirty="0" err="1"/>
              <a:t>neurons</a:t>
            </a:r>
            <a:r>
              <a:rPr lang="de-AT" dirty="0"/>
              <a:t> </a:t>
            </a:r>
            <a:r>
              <a:rPr lang="de-AT" dirty="0" err="1"/>
              <a:t>come</a:t>
            </a:r>
            <a:r>
              <a:rPr lang="de-AT" dirty="0"/>
              <a:t> out </a:t>
            </a:r>
            <a:r>
              <a:rPr lang="de-AT" dirty="0" err="1"/>
              <a:t>as</a:t>
            </a:r>
            <a:r>
              <a:rPr lang="de-AT" dirty="0"/>
              <a:t> „responsive“</a:t>
            </a:r>
          </a:p>
          <a:p>
            <a:pPr marL="0" indent="0">
              <a:buNone/>
            </a:pPr>
            <a:endParaRPr lang="de-AT" dirty="0"/>
          </a:p>
          <a:p>
            <a:pPr marL="0" indent="0">
              <a:buNone/>
            </a:pPr>
            <a:r>
              <a:rPr lang="de-AT" b="1" dirty="0"/>
              <a:t>Possible </a:t>
            </a:r>
            <a:r>
              <a:rPr lang="de-AT" b="1" dirty="0" err="1"/>
              <a:t>reasons</a:t>
            </a:r>
            <a:r>
              <a:rPr lang="de-AT" b="1" dirty="0"/>
              <a:t>:</a:t>
            </a:r>
          </a:p>
          <a:p>
            <a:r>
              <a:rPr lang="de-AT" dirty="0"/>
              <a:t>ZETA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more</a:t>
            </a:r>
            <a:r>
              <a:rPr lang="de-AT" dirty="0"/>
              <a:t> sensitive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binned</a:t>
            </a:r>
            <a:r>
              <a:rPr lang="de-AT" dirty="0"/>
              <a:t> t-test/ANOVA</a:t>
            </a:r>
          </a:p>
          <a:p>
            <a:r>
              <a:rPr lang="de-AT" dirty="0"/>
              <a:t>ZETA </a:t>
            </a:r>
            <a:r>
              <a:rPr lang="de-AT" dirty="0" err="1"/>
              <a:t>asks</a:t>
            </a:r>
            <a:r>
              <a:rPr lang="de-AT" dirty="0"/>
              <a:t>: </a:t>
            </a:r>
            <a:r>
              <a:rPr lang="de-AT" dirty="0" err="1"/>
              <a:t>Is</a:t>
            </a:r>
            <a:r>
              <a:rPr lang="de-AT" dirty="0"/>
              <a:t>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spike</a:t>
            </a:r>
            <a:r>
              <a:rPr lang="de-AT" dirty="0"/>
              <a:t> </a:t>
            </a:r>
            <a:r>
              <a:rPr lang="de-AT" dirty="0" err="1"/>
              <a:t>timing</a:t>
            </a:r>
            <a:r>
              <a:rPr lang="de-AT" dirty="0"/>
              <a:t> after </a:t>
            </a:r>
            <a:r>
              <a:rPr lang="de-AT" dirty="0" err="1"/>
              <a:t>the</a:t>
            </a:r>
            <a:r>
              <a:rPr lang="de-AT" dirty="0"/>
              <a:t> </a:t>
            </a:r>
            <a:r>
              <a:rPr lang="de-AT" dirty="0" err="1"/>
              <a:t>event</a:t>
            </a:r>
            <a:r>
              <a:rPr lang="de-AT" dirty="0"/>
              <a:t> </a:t>
            </a:r>
            <a:r>
              <a:rPr lang="de-AT" b="1" dirty="0" err="1"/>
              <a:t>anything</a:t>
            </a:r>
            <a:r>
              <a:rPr lang="de-AT" b="1" dirty="0"/>
              <a:t> </a:t>
            </a:r>
            <a:r>
              <a:rPr lang="de-AT" b="1" dirty="0" err="1"/>
              <a:t>other</a:t>
            </a:r>
            <a:r>
              <a:rPr lang="de-AT" b="1" dirty="0"/>
              <a:t> </a:t>
            </a:r>
            <a:r>
              <a:rPr lang="de-AT" dirty="0" err="1"/>
              <a:t>than</a:t>
            </a:r>
            <a:r>
              <a:rPr lang="de-AT" dirty="0"/>
              <a:t> </a:t>
            </a:r>
            <a:r>
              <a:rPr lang="de-AT" dirty="0" err="1"/>
              <a:t>constant</a:t>
            </a:r>
            <a:r>
              <a:rPr lang="de-AT" dirty="0"/>
              <a:t>/flat?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51551" y="1515790"/>
            <a:ext cx="6519146" cy="4638502"/>
          </a:xfrm>
          <a:prstGeom prst="rect">
            <a:avLst/>
          </a:prstGeom>
          <a:ln w="76200">
            <a:solidFill>
              <a:srgbClr val="0AB77E"/>
            </a:solidFill>
          </a:ln>
        </p:spPr>
      </p:pic>
    </p:spTree>
    <p:extLst>
      <p:ext uri="{BB962C8B-B14F-4D97-AF65-F5344CB8AC3E}">
        <p14:creationId xmlns:p14="http://schemas.microsoft.com/office/powerpoint/2010/main" val="32820139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" y="1512008"/>
            <a:ext cx="5733757" cy="5345992"/>
          </a:xfrm>
        </p:spPr>
      </p:pic>
      <p:sp>
        <p:nvSpPr>
          <p:cNvPr id="7" name="Rectangle 6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ounded Rectangle 5"/>
          <p:cNvSpPr/>
          <p:nvPr/>
        </p:nvSpPr>
        <p:spPr>
          <a:xfrm>
            <a:off x="6725493" y="2167405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Cumulative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 Spikes/Trial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⇦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Mean-subtracted difference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in cumulative spikes/trial</a:t>
            </a: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sp>
        <p:nvSpPr>
          <p:cNvPr id="3" name="Rounded Rectangle 8">
            <a:extLst>
              <a:ext uri="{FF2B5EF4-FFF2-40B4-BE49-F238E27FC236}">
                <a16:creationId xmlns:a16="http://schemas.microsoft.com/office/drawing/2014/main" id="{3F45D3EE-92C0-13A1-72E2-B30AABC82EC6}"/>
              </a:ext>
            </a:extLst>
          </p:cNvPr>
          <p:cNvSpPr/>
          <p:nvPr/>
        </p:nvSpPr>
        <p:spPr>
          <a:xfrm>
            <a:off x="3180805" y="3086121"/>
            <a:ext cx="3839120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what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exactly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is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the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meaning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of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the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 ZETA </a:t>
            </a:r>
            <a:r>
              <a:rPr lang="de-DE" sz="3200" b="1" dirty="0" err="1">
                <a:solidFill>
                  <a:schemeClr val="tx1"/>
                </a:solidFill>
                <a:latin typeface="Bahnschrift" panose="020B0502040204020203" pitchFamily="34" charset="0"/>
              </a:rPr>
              <a:t>value</a:t>
            </a:r>
            <a:r>
              <a:rPr lang="de-DE" sz="3200" b="1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5264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" fill="hold">
                            <p:stCondLst>
                              <p:cond delay="250"/>
                            </p:stCondLst>
                            <p:childTnLst>
                              <p:par>
                                <p:cTn id="12" presetID="1" presetClass="entr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250"/>
                            </p:stCondLst>
                            <p:childTnLst>
                              <p:par>
                                <p:cTn id="1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3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5151" y="1956744"/>
            <a:ext cx="7852049" cy="43551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5" name="Content Placeholder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242" y="2168872"/>
            <a:ext cx="3982909" cy="3713551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5827239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253" y="1576873"/>
            <a:ext cx="12078549" cy="4499056"/>
          </a:xfrm>
        </p:spPr>
      </p:pic>
      <p:sp>
        <p:nvSpPr>
          <p:cNvPr id="3" name="Rounded Rectangle 2"/>
          <p:cNvSpPr/>
          <p:nvPr/>
        </p:nvSpPr>
        <p:spPr>
          <a:xfrm>
            <a:off x="269033" y="6251511"/>
            <a:ext cx="11084767" cy="531844"/>
          </a:xfrm>
          <a:prstGeom prst="roundRect">
            <a:avLst/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lang="de-DE" sz="2400" dirty="0">
                <a:solidFill>
                  <a:srgbClr val="FF9E28"/>
                </a:solidFill>
                <a:latin typeface="Bahnschrift" panose="020B0502040204020203" pitchFamily="34" charset="0"/>
              </a:rPr>
              <a:t>—</a:t>
            </a:r>
            <a:r>
              <a:rPr lang="de-DE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Gamble + Rew; </a:t>
            </a:r>
            <a:r>
              <a:rPr lang="de-DE" sz="2400" dirty="0">
                <a:solidFill>
                  <a:srgbClr val="B32424"/>
                </a:solidFill>
                <a:latin typeface="Bahnschrift" panose="020B0502040204020203" pitchFamily="34" charset="0"/>
              </a:rPr>
              <a:t>—</a:t>
            </a:r>
            <a:r>
              <a:rPr lang="de-DE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Gamble + No Rew; </a:t>
            </a:r>
            <a:r>
              <a:rPr lang="de-DE" sz="2400" dirty="0">
                <a:solidFill>
                  <a:srgbClr val="48996B"/>
                </a:solidFill>
                <a:latin typeface="Bahnschrift" panose="020B0502040204020203" pitchFamily="34" charset="0"/>
              </a:rPr>
              <a:t>—</a:t>
            </a:r>
            <a:r>
              <a:rPr lang="de-DE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 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Safe + Rew; </a:t>
            </a:r>
            <a:r>
              <a:rPr lang="de-DE" dirty="0">
                <a:solidFill>
                  <a:srgbClr val="FF0000"/>
                </a:solidFill>
                <a:latin typeface="Bahnschrift" panose="020B0502040204020203" pitchFamily="34" charset="0"/>
              </a:rPr>
              <a:t>---</a:t>
            </a:r>
            <a:r>
              <a:rPr lang="de-DE" dirty="0">
                <a:solidFill>
                  <a:schemeClr val="tx1"/>
                </a:solidFill>
                <a:latin typeface="Bahnschrift" panose="020B0502040204020203" pitchFamily="34" charset="0"/>
              </a:rPr>
              <a:t> Reward  </a:t>
            </a:r>
            <a:endParaRPr lang="en-GB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3976464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visualization</a:t>
            </a:r>
            <a:endParaRPr lang="en-GB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310" y="1549372"/>
            <a:ext cx="12127380" cy="4653411"/>
          </a:xfrm>
        </p:spPr>
      </p:pic>
    </p:spTree>
    <p:extLst>
      <p:ext uri="{BB962C8B-B14F-4D97-AF65-F5344CB8AC3E}">
        <p14:creationId xmlns:p14="http://schemas.microsoft.com/office/powerpoint/2010/main" val="413427519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ZETA2 results</a:t>
            </a:r>
            <a:endParaRPr lang="en-GB" dirty="0"/>
          </a:p>
        </p:txBody>
      </p:sp>
      <p:sp>
        <p:nvSpPr>
          <p:cNvPr id="5" name="Rounded Rectangle 4"/>
          <p:cNvSpPr/>
          <p:nvPr/>
        </p:nvSpPr>
        <p:spPr>
          <a:xfrm>
            <a:off x="7882758" y="2228193"/>
            <a:ext cx="4064961" cy="3614456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reward outcome selectivity is primarily frontal</a:t>
            </a:r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en-GB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4153989" y="1991619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Percentage?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9506" y="1505888"/>
            <a:ext cx="7089333" cy="5044202"/>
          </a:xfrm>
          <a:prstGeom prst="rect">
            <a:avLst/>
          </a:prstGeom>
          <a:ln w="76200">
            <a:solidFill>
              <a:srgbClr val="0AB77E"/>
            </a:solidFill>
          </a:ln>
        </p:spPr>
      </p:pic>
      <p:sp>
        <p:nvSpPr>
          <p:cNvPr id="9" name="Content Placeholder 8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570068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7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2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50"/>
                            </p:stCondLst>
                            <p:childTnLst>
                              <p:par>
                                <p:cTn id="1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338EF-BF94-7B55-A4D2-1827AAC8A0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5C846-530C-88D6-6168-5ECF2447A6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E2BA866-D3F9-18B9-9C34-0FBE0C093114}"/>
              </a:ext>
            </a:extLst>
          </p:cNvPr>
          <p:cNvSpPr/>
          <p:nvPr/>
        </p:nvSpPr>
        <p:spPr>
          <a:xfrm>
            <a:off x="838200" y="1795192"/>
            <a:ext cx="4517571" cy="3939403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1 · Selectivity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Are there neurons that respond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differently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to </a:t>
            </a:r>
            <a:r>
              <a:rPr lang="de-DE" sz="2800" dirty="0">
                <a:solidFill>
                  <a:srgbClr val="FF9412"/>
                </a:solidFill>
                <a:latin typeface="Bahnschrift" panose="020B0502040204020203" pitchFamily="34" charset="0"/>
              </a:rPr>
              <a:t>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vs </a:t>
            </a:r>
            <a:r>
              <a:rPr lang="de-DE" sz="2800" dirty="0">
                <a:solidFill>
                  <a:srgbClr val="C00000"/>
                </a:solidFill>
                <a:latin typeface="Bahnschrift" panose="020B0502040204020203" pitchFamily="34" charset="0"/>
              </a:rPr>
              <a:t>no reward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in the </a:t>
            </a:r>
            <a:r>
              <a:rPr lang="de-DE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gamble</a:t>
            </a:r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 arm?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FE8BC9CB-A270-A1A7-41C1-7DB1E9BBFC01}"/>
              </a:ext>
            </a:extLst>
          </p:cNvPr>
          <p:cNvSpPr txBox="1"/>
          <p:nvPr/>
        </p:nvSpPr>
        <p:spPr>
          <a:xfrm>
            <a:off x="8220075" y="3349394"/>
            <a:ext cx="200025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4800" dirty="0" smtClean="0">
                <a:latin typeface="Bahnschrift" panose="020B0502040204020203" pitchFamily="34" charset="0"/>
              </a:rPr>
              <a:t>Yes</a:t>
            </a:r>
            <a:endParaRPr lang="en-US" sz="4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338150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4" grpId="0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Why behavioural modelling?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7216833" cy="4351338"/>
          </a:xfrm>
        </p:spPr>
        <p:txBody>
          <a:bodyPr/>
          <a:lstStyle/>
          <a:p>
            <a:r>
              <a:rPr lang="de-DE" dirty="0"/>
              <a:t>We can only observe the </a:t>
            </a:r>
            <a:r>
              <a:rPr lang="de-DE" b="1" dirty="0">
                <a:solidFill>
                  <a:srgbClr val="0CB87F"/>
                </a:solidFill>
              </a:rPr>
              <a:t>choices</a:t>
            </a:r>
            <a:r>
              <a:rPr lang="de-DE" dirty="0"/>
              <a:t> made and their </a:t>
            </a:r>
            <a:r>
              <a:rPr lang="de-DE" b="1" dirty="0">
                <a:solidFill>
                  <a:srgbClr val="0CB87F"/>
                </a:solidFill>
              </a:rPr>
              <a:t>outcomes </a:t>
            </a:r>
            <a:r>
              <a:rPr lang="de-DE" dirty="0"/>
              <a:t>but not the </a:t>
            </a:r>
            <a:r>
              <a:rPr lang="de-DE" b="1" dirty="0">
                <a:solidFill>
                  <a:srgbClr val="FF9412"/>
                </a:solidFill>
              </a:rPr>
              <a:t>cognitive variables </a:t>
            </a:r>
            <a:r>
              <a:rPr lang="de-DE" dirty="0"/>
              <a:t>that drive them:</a:t>
            </a:r>
          </a:p>
          <a:p>
            <a:pPr lvl="1"/>
            <a:r>
              <a:rPr lang="de-DE" dirty="0"/>
              <a:t>Belief about probability</a:t>
            </a:r>
          </a:p>
          <a:p>
            <a:pPr lvl="1"/>
            <a:r>
              <a:rPr lang="de-DE" dirty="0"/>
              <a:t>Prediction error</a:t>
            </a:r>
          </a:p>
          <a:p>
            <a:pPr lvl="1"/>
            <a:r>
              <a:rPr lang="de-DE" dirty="0"/>
              <a:t>Expected Reward</a:t>
            </a:r>
          </a:p>
          <a:p>
            <a:pPr lvl="1"/>
            <a:r>
              <a:rPr lang="de-DE" dirty="0"/>
              <a:t>...</a:t>
            </a:r>
          </a:p>
          <a:p>
            <a:r>
              <a:rPr lang="de-DE" dirty="0"/>
              <a:t>A behavioural model is </a:t>
            </a:r>
            <a:r>
              <a:rPr lang="de-DE" b="1" dirty="0"/>
              <a:t>a generative rule </a:t>
            </a:r>
            <a:r>
              <a:rPr lang="de-DE" dirty="0"/>
              <a:t>fit to the participants choice</a:t>
            </a:r>
          </a:p>
          <a:p>
            <a:endParaRPr lang="en-GB" dirty="0"/>
          </a:p>
        </p:txBody>
      </p:sp>
      <p:graphicFrame>
        <p:nvGraphicFramePr>
          <p:cNvPr id="5" name="Diagram 4"/>
          <p:cNvGraphicFramePr/>
          <p:nvPr>
            <p:extLst>
              <p:ext uri="{D42A27DB-BD31-4B8C-83A1-F6EECF244321}">
                <p14:modId xmlns:p14="http://schemas.microsoft.com/office/powerpoint/2010/main" val="4080177821"/>
              </p:ext>
            </p:extLst>
          </p:nvPr>
        </p:nvGraphicFramePr>
        <p:xfrm>
          <a:off x="6986382" y="1825625"/>
          <a:ext cx="5682211" cy="37525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9901778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1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AsOne/>
      </p:bldGraphic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temperature</a:t>
                  </a:r>
                  <a:endParaRPr lang="en-GB" sz="24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/>
                <p:cNvSpPr txBox="1"/>
                <p:nvPr/>
              </p:nvSpPr>
              <p:spPr>
                <a:xfrm>
                  <a:off x="4245525" y="4569568"/>
                  <a:ext cx="370094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5525" y="4569568"/>
                  <a:ext cx="3700949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/>
          <p:cNvSpPr txBox="1"/>
          <p:nvPr/>
        </p:nvSpPr>
        <p:spPr>
          <a:xfrm>
            <a:off x="927100" y="1886858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Their difference is used to calculate the probability to gamble:</a:t>
            </a: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7946474" y="4545597"/>
                <a:ext cx="2507295" cy="150231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46474" y="4545597"/>
                <a:ext cx="2507295" cy="1502310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90069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xit" presetSubtype="0" fill="hold" grpId="2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5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17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24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9" grpId="1" animBg="1"/>
      <p:bldP spid="9" grpId="2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p:grpSp>
        <p:nvGrpSpPr>
          <p:cNvPr id="4" name="Group 3"/>
          <p:cNvGrpSpPr/>
          <p:nvPr/>
        </p:nvGrpSpPr>
        <p:grpSpPr>
          <a:xfrm>
            <a:off x="838200" y="2443454"/>
            <a:ext cx="10515600" cy="1475178"/>
            <a:chOff x="838200" y="2226352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/>
                <p:cNvSpPr/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sSub>
                        <m:sSubPr>
                          <m:ctrlPr>
                            <a:rPr lang="en-GB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𝛿</m:t>
                          </m:r>
                        </m:e>
                        <m:sub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prediction error (“surprise”); </a:t>
                  </a:r>
                  <a14:m>
                    <m:oMath xmlns:m="http://schemas.openxmlformats.org/officeDocument/2006/math">
                      <m:r>
                        <a:rPr lang="en-GB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= learning rate</a:t>
                  </a:r>
                </a:p>
              </p:txBody>
            </p:sp>
          </mc:Choice>
          <mc:Fallback xmlns="">
            <p:sp>
              <p:nvSpPr>
                <p:cNvPr id="6" name="Rounded Rectangle 5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2226352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2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TextBox 4"/>
                <p:cNvSpPr txBox="1"/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l-GR" sz="28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l-GR" sz="280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m:rPr>
                            <m:nor/>
                          </m:rPr>
                          <a:rPr lang="de-DE" sz="2800" b="0" i="1" smtClean="0">
                            <a:latin typeface="Cambria Math" panose="02040503050406030204" pitchFamily="18" charset="0"/>
                          </a:rPr>
                          <m:t> =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 − 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5" name="TextBox 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186907" y="2396061"/>
                  <a:ext cx="1993559" cy="430887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" name="TextBox 6"/>
                <p:cNvSpPr txBox="1"/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b="0" i="1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  <m:sSub>
                          <m:sSubPr>
                            <m:ctrlP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𝛿</m:t>
                            </m:r>
                          </m:e>
                          <m:sub>
                            <m:r>
                              <a:rPr lang="de-DE" sz="28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oMath>
                    </m:oMathPara>
                  </a14:m>
                  <a:endParaRPr lang="en-GB" sz="2800" dirty="0"/>
                </a:p>
              </p:txBody>
            </p:sp>
          </mc:Choice>
          <mc:Fallback xmlns="">
            <p:sp>
              <p:nvSpPr>
                <p:cNvPr id="7" name="TextBox 6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522600" y="2395475"/>
                  <a:ext cx="2492285" cy="430887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1" name="Group 10"/>
          <p:cNvGrpSpPr/>
          <p:nvPr/>
        </p:nvGrpSpPr>
        <p:grpSpPr>
          <a:xfrm>
            <a:off x="838200" y="4817765"/>
            <a:ext cx="10515600" cy="1475178"/>
            <a:chOff x="838200" y="4266223"/>
            <a:chExt cx="10515600" cy="147517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" name="Rounded Rectangle 7"/>
                <p:cNvSpPr/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:endParaRPr lang="en-GB" sz="2800" i="1" dirty="0">
                    <a:solidFill>
                      <a:schemeClr val="tx1"/>
                    </a:solidFill>
                    <a:latin typeface="Cambria Math" panose="02040503050406030204" pitchFamily="18" charset="0"/>
                    <a:ea typeface="Cambria Math" panose="02040503050406030204" pitchFamily="18" charset="0"/>
                  </a:endParaRPr>
                </a:p>
                <a:p>
                  <a:pPr algn="ctr"/>
                  <a14:m>
                    <m:oMath xmlns:m="http://schemas.openxmlformats.org/officeDocument/2006/math">
                      <m:r>
                        <a:rPr lang="de-DE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𝛽</m:t>
                      </m:r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:r>
                    <a:rPr lang="de-DE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temperature;</a:t>
                  </a:r>
                  <a:r>
                    <a:rPr lang="de-DE" sz="2400" dirty="0">
                      <a:solidFill>
                        <a:schemeClr val="tx1"/>
                      </a:solidFill>
                      <a:ea typeface="Cambria Math" panose="02040503050406030204" pitchFamily="18" charset="0"/>
                    </a:rPr>
                    <a:t>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de-DE" sz="24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𝑐</m:t>
                          </m:r>
                        </m:e>
                        <m:sub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de-DE" sz="2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de-DE" sz="2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±1=</m:t>
                      </m:r>
                    </m:oMath>
                  </a14:m>
                  <a:r>
                    <a:rPr lang="en-GB" sz="2400" i="1" dirty="0">
                      <a:solidFill>
                        <a:schemeClr val="tx1"/>
                      </a:solidFill>
                      <a:latin typeface="Cambria Math" panose="02040503050406030204" pitchFamily="18" charset="0"/>
                      <a:ea typeface="Cambria Math" panose="02040503050406030204" pitchFamily="18" charset="0"/>
                    </a:rPr>
                    <a:t> </a:t>
                  </a:r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previous choice; </a:t>
                  </a:r>
                  <a14:m>
                    <m:oMath xmlns:m="http://schemas.openxmlformats.org/officeDocument/2006/math">
                      <m:r>
                        <m:rPr>
                          <m:sty m:val="p"/>
                        </m:rPr>
                        <a:rPr lang="el-GR" sz="24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ϕ</m:t>
                      </m:r>
                      <m:r>
                        <a:rPr lang="de-DE" sz="2400" b="0" i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en-GB" sz="24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weights perseveration</a:t>
                  </a:r>
                </a:p>
              </p:txBody>
            </p:sp>
          </mc:Choice>
          <mc:Fallback xmlns="">
            <p:sp>
              <p:nvSpPr>
                <p:cNvPr id="8" name="Rounded Rectangle 7"/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38200" y="4266223"/>
                  <a:ext cx="10515600" cy="147517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5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TextBox 2"/>
                <p:cNvSpPr txBox="1"/>
                <p:nvPr/>
              </p:nvSpPr>
              <p:spPr>
                <a:xfrm>
                  <a:off x="3297221" y="4543897"/>
                  <a:ext cx="5017849" cy="430887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GB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𝑃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𝑔𝑎𝑚𝑏𝑙𝑒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𝜎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𝛽</m:t>
                        </m:r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∆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de-DE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𝜙</m:t>
                        </m:r>
                        <m:sSub>
                          <m:sSubPr>
                            <m:ctrlPr>
                              <a:rPr lang="de-DE" sz="28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de-DE" sz="2800" i="1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de-DE" sz="2800" i="1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GB" sz="2800" i="1" dirty="0">
                    <a:latin typeface="Cambria Math" panose="02040503050406030204" pitchFamily="18" charset="0"/>
                  </a:endParaRPr>
                </a:p>
              </p:txBody>
            </p:sp>
          </mc:Choice>
          <mc:Fallback xmlns="">
            <p:sp>
              <p:nvSpPr>
                <p:cNvPr id="3" name="TextBox 2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97221" y="4543897"/>
                  <a:ext cx="5017849" cy="430887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0" name="TextBox 9"/>
          <p:cNvSpPr txBox="1"/>
          <p:nvPr/>
        </p:nvSpPr>
        <p:spPr>
          <a:xfrm>
            <a:off x="927100" y="1886858"/>
            <a:ext cx="103378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For each side: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Their difference is used to calculate the probability to gamble:</a:t>
            </a:r>
          </a:p>
          <a:p>
            <a:endParaRPr lang="en-GB" sz="2800" dirty="0">
              <a:latin typeface="Bahnschrift" panose="020B0502040204020203" pitchFamily="34" charset="0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12557098" y="2439693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557098" y="2439693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9309824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Rescorla wagner/ Q-learning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Rounded Rectangle 8"/>
              <p:cNvSpPr/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de-DE" sz="2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1</m:t>
                      </m:r>
                      <m:f>
                        <m:fPr>
                          <m:ctrlP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de-DE" sz="24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sSup>
                            <m:sSupPr>
                              <m:ctrlP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𝛽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(∆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𝑉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𝜅</m:t>
                              </m:r>
                              <m:sSub>
                                <m:sSubPr>
                                  <m:ctrlP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de-DE" sz="24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sub>
                              </m:sSub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de-DE" sz="24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  <m:r>
                                <a:rPr lang="de-DE" sz="24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GB" sz="24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9" name="Rounded Rectangle 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607034" y="1392425"/>
                <a:ext cx="4106573" cy="2871189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TextBox 9"/>
          <p:cNvSpPr txBox="1"/>
          <p:nvPr/>
        </p:nvSpPr>
        <p:spPr>
          <a:xfrm>
            <a:off x="927100" y="1930400"/>
            <a:ext cx="10337800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2800" dirty="0">
                <a:latin typeface="Bahnschrift" panose="020B0502040204020203" pitchFamily="34" charset="0"/>
              </a:rPr>
              <a:t>This allows us to simulate what the model would do and see how well it would match the participants choices, but this is </a:t>
            </a:r>
            <a:r>
              <a:rPr lang="de-DE" sz="2800" b="1" dirty="0">
                <a:latin typeface="Bahnschrift" panose="020B0502040204020203" pitchFamily="34" charset="0"/>
              </a:rPr>
              <a:t>not </a:t>
            </a:r>
            <a:r>
              <a:rPr lang="de-DE" sz="2800" dirty="0">
                <a:latin typeface="Bahnschrift" panose="020B0502040204020203" pitchFamily="34" charset="0"/>
              </a:rPr>
              <a:t>what we want.</a:t>
            </a:r>
          </a:p>
          <a:p>
            <a:endParaRPr lang="de-DE" sz="2800" dirty="0">
              <a:latin typeface="Bahnschrift" panose="020B0502040204020203" pitchFamily="34" charset="0"/>
            </a:endParaRPr>
          </a:p>
          <a:p>
            <a:endParaRPr lang="de-DE" sz="2800" dirty="0">
              <a:latin typeface="Bahnschrift" panose="020B0502040204020203" pitchFamily="34" charset="0"/>
            </a:endParaRPr>
          </a:p>
          <a:p>
            <a:r>
              <a:rPr lang="de-DE" sz="2800" dirty="0">
                <a:latin typeface="Bahnschrift" panose="020B0502040204020203" pitchFamily="34" charset="0"/>
              </a:rPr>
              <a:t>Instead the model </a:t>
            </a:r>
            <a:r>
              <a:rPr lang="de-DE" sz="2800" b="1" dirty="0">
                <a:latin typeface="Bahnschrift" panose="020B0502040204020203" pitchFamily="34" charset="0"/>
              </a:rPr>
              <a:t>shadows</a:t>
            </a:r>
            <a:r>
              <a:rPr lang="de-DE" sz="2800" dirty="0">
                <a:latin typeface="Bahnschrift" panose="020B0502040204020203" pitchFamily="34" charset="0"/>
              </a:rPr>
              <a:t> the participants choices and at each step determines how likely their choices are using the model weights. </a:t>
            </a:r>
            <a:endParaRPr lang="en-GB" sz="2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549996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 4"/>
          <p:cNvSpPr/>
          <p:nvPr/>
        </p:nvSpPr>
        <p:spPr>
          <a:xfrm>
            <a:off x="-162839" y="5723898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ounded Rectangle 8">
            <a:extLst>
              <a:ext uri="{FF2B5EF4-FFF2-40B4-BE49-F238E27FC236}">
                <a16:creationId xmlns:a16="http://schemas.microsoft.com/office/drawing/2014/main" id="{E4DA88D5-3355-65A7-49E6-A8851A2ADA16}"/>
              </a:ext>
            </a:extLst>
          </p:cNvPr>
          <p:cNvSpPr/>
          <p:nvPr/>
        </p:nvSpPr>
        <p:spPr>
          <a:xfrm>
            <a:off x="7262949" y="2857521"/>
            <a:ext cx="2915195" cy="1516561"/>
          </a:xfrm>
          <a:prstGeom prst="roundRect">
            <a:avLst>
              <a:gd name="adj" fmla="val 37941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DE" sz="3200" b="1" dirty="0" smtClean="0">
                <a:solidFill>
                  <a:schemeClr val="tx1"/>
                </a:solidFill>
                <a:latin typeface="Bahnschrift" panose="020B0502040204020203" pitchFamily="34" charset="0"/>
              </a:rPr>
              <a:t>Show less</a:t>
            </a:r>
            <a:endParaRPr lang="en-GB" sz="1200" b="1" dirty="0">
              <a:solidFill>
                <a:schemeClr val="tx1"/>
              </a:solidFill>
              <a:latin typeface="Bahnschrift" panose="020B0502040204020203" pitchFamily="34" charset="0"/>
            </a:endParaRPr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365125"/>
            <a:ext cx="12192000" cy="6242051"/>
          </a:xfrm>
        </p:spPr>
      </p:pic>
    </p:spTree>
    <p:extLst>
      <p:ext uri="{BB962C8B-B14F-4D97-AF65-F5344CB8AC3E}">
        <p14:creationId xmlns:p14="http://schemas.microsoft.com/office/powerpoint/2010/main" val="32998664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lnSpc>
                <a:spcPct val="150000"/>
              </a:lnSpc>
            </a:pPr>
            <a:r>
              <a:rPr lang="de-DE" b="1" dirty="0"/>
              <a:t>What </a:t>
            </a:r>
            <a:r>
              <a:rPr lang="de-DE" b="1" dirty="0" err="1"/>
              <a:t>is</a:t>
            </a:r>
            <a:r>
              <a:rPr lang="de-DE" b="1" dirty="0"/>
              <a:t> </a:t>
            </a:r>
            <a:r>
              <a:rPr lang="de-DE" b="1" dirty="0" err="1"/>
              <a:t>it</a:t>
            </a:r>
            <a:r>
              <a:rPr lang="de-DE" b="1" dirty="0"/>
              <a:t>?</a:t>
            </a:r>
          </a:p>
          <a:p>
            <a:pPr lvl="1">
              <a:lnSpc>
                <a:spcPct val="150000"/>
              </a:lnSpc>
            </a:pPr>
            <a:r>
              <a:rPr lang="de-DE" dirty="0"/>
              <a:t>A </a:t>
            </a:r>
            <a:r>
              <a:rPr lang="de-DE" dirty="0" err="1"/>
              <a:t>Bayesian</a:t>
            </a:r>
            <a:r>
              <a:rPr lang="de-DE" dirty="0"/>
              <a:t> </a:t>
            </a:r>
            <a:r>
              <a:rPr lang="de-DE" dirty="0" err="1"/>
              <a:t>observer</a:t>
            </a:r>
            <a:r>
              <a:rPr lang="de-DE" dirty="0"/>
              <a:t> that </a:t>
            </a:r>
            <a:r>
              <a:rPr lang="de-DE" dirty="0" err="1"/>
              <a:t>infers</a:t>
            </a:r>
            <a:r>
              <a:rPr lang="de-DE" dirty="0"/>
              <a:t> </a:t>
            </a:r>
            <a:r>
              <a:rPr lang="de-DE" dirty="0" err="1"/>
              <a:t>both</a:t>
            </a:r>
            <a:r>
              <a:rPr lang="de-DE" dirty="0"/>
              <a:t>: </a:t>
            </a:r>
          </a:p>
          <a:p>
            <a:pPr lvl="2">
              <a:lnSpc>
                <a:spcPct val="150000"/>
              </a:lnSpc>
            </a:pP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hidden</a:t>
            </a:r>
            <a:r>
              <a:rPr lang="de-DE" sz="2400" dirty="0"/>
              <a:t>, </a:t>
            </a:r>
            <a:r>
              <a:rPr lang="de-DE" sz="2400" dirty="0" err="1"/>
              <a:t>drifting</a:t>
            </a:r>
            <a:r>
              <a:rPr lang="de-DE" sz="2400" dirty="0"/>
              <a:t> </a:t>
            </a:r>
            <a:r>
              <a:rPr lang="de-DE" sz="2400" b="1" dirty="0" err="1"/>
              <a:t>reward</a:t>
            </a:r>
            <a:r>
              <a:rPr lang="de-DE" sz="2400" b="1" dirty="0"/>
              <a:t> </a:t>
            </a:r>
            <a:r>
              <a:rPr lang="de-DE" sz="2400" b="1" dirty="0" err="1"/>
              <a:t>probability</a:t>
            </a:r>
            <a:endParaRPr lang="de-DE" sz="2400" b="1" dirty="0"/>
          </a:p>
          <a:p>
            <a:pPr lvl="2">
              <a:lnSpc>
                <a:spcPct val="150000"/>
              </a:lnSpc>
            </a:pPr>
            <a:r>
              <a:rPr lang="de-DE" sz="2400" dirty="0"/>
              <a:t>how fast </a:t>
            </a:r>
            <a:r>
              <a:rPr lang="de-DE" sz="2400" dirty="0" err="1"/>
              <a:t>the</a:t>
            </a:r>
            <a:r>
              <a:rPr lang="de-DE" sz="2400" dirty="0"/>
              <a:t> </a:t>
            </a:r>
            <a:r>
              <a:rPr lang="de-DE" sz="2400" dirty="0" err="1"/>
              <a:t>probability</a:t>
            </a:r>
            <a:r>
              <a:rPr lang="de-DE" sz="2400" dirty="0"/>
              <a:t> </a:t>
            </a:r>
            <a:r>
              <a:rPr lang="de-DE" sz="2400" dirty="0" err="1"/>
              <a:t>is</a:t>
            </a:r>
            <a:r>
              <a:rPr lang="de-DE" sz="2400" dirty="0"/>
              <a:t> </a:t>
            </a:r>
            <a:r>
              <a:rPr lang="de-DE" sz="2400" dirty="0" err="1"/>
              <a:t>changing</a:t>
            </a:r>
            <a:r>
              <a:rPr lang="de-DE" sz="2400" dirty="0"/>
              <a:t>: </a:t>
            </a:r>
            <a:r>
              <a:rPr lang="de-DE" sz="2400" b="1" dirty="0" err="1"/>
              <a:t>the</a:t>
            </a:r>
            <a:r>
              <a:rPr lang="de-DE" sz="2400" b="1" dirty="0"/>
              <a:t> </a:t>
            </a:r>
            <a:r>
              <a:rPr lang="de-DE" sz="2400" b="1" dirty="0" err="1"/>
              <a:t>volatility</a:t>
            </a:r>
            <a:endParaRPr lang="de-DE" sz="2400" b="1" dirty="0"/>
          </a:p>
        </p:txBody>
      </p:sp>
    </p:spTree>
    <p:extLst>
      <p:ext uri="{BB962C8B-B14F-4D97-AF65-F5344CB8AC3E}">
        <p14:creationId xmlns:p14="http://schemas.microsoft.com/office/powerpoint/2010/main" val="40135911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A24062-FE02-D332-ACCC-2BC29D297B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FC6EC0-4680-977E-157D-B70D093C68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Hierarchical Gaussian Filter</a:t>
            </a:r>
            <a:endParaRPr lang="en-GB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E7D93-5799-2FF4-8FE2-BE951CCCEFA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en-US" b="1" dirty="0"/>
                  <a:t>Why use it instead of RW?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RW's learning rate 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 is </a:t>
                </a:r>
                <a:r>
                  <a:rPr lang="en-US" b="1" dirty="0"/>
                  <a:t>fixed</a:t>
                </a:r>
                <a:r>
                  <a:rPr lang="en-US" dirty="0"/>
                  <a:t>. The HGF's learning rate is </a:t>
                </a:r>
                <a:r>
                  <a:rPr lang="en-US" b="1" dirty="0"/>
                  <a:t>dynamic</a:t>
                </a:r>
                <a:r>
                  <a:rPr lang="en-US" dirty="0"/>
                  <a:t> and rises when the environment seems volatile.</a:t>
                </a:r>
              </a:p>
              <a:p>
                <a:pPr lvl="1">
                  <a:lnSpc>
                    <a:spcPct val="150000"/>
                  </a:lnSpc>
                </a:pPr>
                <a:r>
                  <a:rPr lang="en-US" dirty="0"/>
                  <a:t>This potentially represents </a:t>
                </a:r>
                <a:r>
                  <a:rPr lang="en-US" b="1" dirty="0"/>
                  <a:t>adaptive</a:t>
                </a:r>
                <a:r>
                  <a:rPr lang="en-US" dirty="0"/>
                  <a:t> learning: learn fast when the world is changing, slow when it's stable.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841E7D93-5799-2FF4-8FE2-BE951CCCEFA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22857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DF7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A4D2C0-71C3-A36D-C240-19C1408E96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Rectangle 1">
            <a:extLst>
              <a:ext uri="{FF2B5EF4-FFF2-40B4-BE49-F238E27FC236}">
                <a16:creationId xmlns:a16="http://schemas.microsoft.com/office/drawing/2014/main" id="{9953E334-562A-1506-26C0-BF18DCB52639}"/>
              </a:ext>
            </a:extLst>
          </p:cNvPr>
          <p:cNvSpPr/>
          <p:nvPr/>
        </p:nvSpPr>
        <p:spPr>
          <a:xfrm>
            <a:off x="0" y="2903160"/>
            <a:ext cx="12191997" cy="3589709"/>
          </a:xfrm>
          <a:prstGeom prst="rect">
            <a:avLst/>
          </a:prstGeom>
          <a:solidFill>
            <a:srgbClr val="CFF1E6">
              <a:alpha val="47000"/>
            </a:srgb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“Belief”</a:t>
            </a:r>
          </a:p>
        </p:txBody>
      </p:sp>
      <p:sp>
        <p:nvSpPr>
          <p:cNvPr id="15" name="Rectangle 1">
            <a:extLst>
              <a:ext uri="{FF2B5EF4-FFF2-40B4-BE49-F238E27FC236}">
                <a16:creationId xmlns:a16="http://schemas.microsoft.com/office/drawing/2014/main" id="{B28D5CDD-321A-4847-71AC-6456A93EB245}"/>
              </a:ext>
            </a:extLst>
          </p:cNvPr>
          <p:cNvSpPr/>
          <p:nvPr/>
        </p:nvSpPr>
        <p:spPr>
          <a:xfrm>
            <a:off x="138935" y="3089945"/>
            <a:ext cx="3600000" cy="2891964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1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ounded Rectangle 8">
                <a:extLst>
                  <a:ext uri="{FF2B5EF4-FFF2-40B4-BE49-F238E27FC236}">
                    <a16:creationId xmlns:a16="http://schemas.microsoft.com/office/drawing/2014/main" id="{434BEED3-DF36-CD4B-9589-85B925764561}"/>
                  </a:ext>
                </a:extLst>
              </p:cNvPr>
              <p:cNvSpPr/>
              <p:nvPr/>
            </p:nvSpPr>
            <p:spPr>
              <a:xfrm>
                <a:off x="319526" y="4717867"/>
                <a:ext cx="2639332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prediction error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3" name="Rounded Rectangle 8">
                <a:extLst>
                  <a:ext uri="{FF2B5EF4-FFF2-40B4-BE49-F238E27FC236}">
                    <a16:creationId xmlns:a16="http://schemas.microsoft.com/office/drawing/2014/main" id="{434BEED3-DF36-CD4B-9589-85B92576456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26" y="4717867"/>
                <a:ext cx="2639332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Rectangle 1">
            <a:extLst>
              <a:ext uri="{FF2B5EF4-FFF2-40B4-BE49-F238E27FC236}">
                <a16:creationId xmlns:a16="http://schemas.microsoft.com/office/drawing/2014/main" id="{EF7D8214-EDDF-6A9B-B289-793C067D8451}"/>
              </a:ext>
            </a:extLst>
          </p:cNvPr>
          <p:cNvSpPr/>
          <p:nvPr/>
        </p:nvSpPr>
        <p:spPr>
          <a:xfrm>
            <a:off x="4296000" y="3089945"/>
            <a:ext cx="3600000" cy="28881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2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Rounded Rectangle 8">
                <a:extLst>
                  <a:ext uri="{FF2B5EF4-FFF2-40B4-BE49-F238E27FC236}">
                    <a16:creationId xmlns:a16="http://schemas.microsoft.com/office/drawing/2014/main" id="{42B0618E-08A8-A4FE-C533-A1D0249A16BD}"/>
                  </a:ext>
                </a:extLst>
              </p:cNvPr>
              <p:cNvSpPr/>
              <p:nvPr/>
            </p:nvSpPr>
            <p:spPr>
              <a:xfrm>
                <a:off x="4450663" y="4195630"/>
                <a:ext cx="3309464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sSub>
                          <m:sSubPr>
                            <m:ctrlPr>
                              <a:rPr lang="de-AT" sz="16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de-AT" sz="160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de-AT" sz="1600" b="0" i="1" dirty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den>
                    </m:f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variable learning rate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17" name="Rounded Rectangle 8">
                <a:extLst>
                  <a:ext uri="{FF2B5EF4-FFF2-40B4-BE49-F238E27FC236}">
                    <a16:creationId xmlns:a16="http://schemas.microsoft.com/office/drawing/2014/main" id="{42B0618E-08A8-A4FE-C533-A1D0249A16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663" y="4195630"/>
                <a:ext cx="3309464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3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ounded Rectangle 8">
                <a:extLst>
                  <a:ext uri="{FF2B5EF4-FFF2-40B4-BE49-F238E27FC236}">
                    <a16:creationId xmlns:a16="http://schemas.microsoft.com/office/drawing/2014/main" id="{2059F914-8D4B-80AF-1BED-BEE5AD43B17C}"/>
                  </a:ext>
                </a:extLst>
              </p:cNvPr>
              <p:cNvSpPr/>
              <p:nvPr/>
            </p:nvSpPr>
            <p:spPr>
              <a:xfrm>
                <a:off x="4450663" y="3248323"/>
                <a:ext cx="3309464" cy="770267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tendency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{−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18" name="Rounded Rectangle 8">
                <a:extLst>
                  <a:ext uri="{FF2B5EF4-FFF2-40B4-BE49-F238E27FC236}">
                    <a16:creationId xmlns:a16="http://schemas.microsoft.com/office/drawing/2014/main" id="{2059F914-8D4B-80AF-1BED-BEE5AD43B17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50663" y="3248323"/>
                <a:ext cx="3309464" cy="770267"/>
              </a:xfrm>
              <a:prstGeom prst="roundRect">
                <a:avLst>
                  <a:gd name="adj" fmla="val 5845"/>
                </a:avLst>
              </a:prstGeom>
              <a:blipFill>
                <a:blip r:embed="rId4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7" name="Rectangle 1">
            <a:extLst>
              <a:ext uri="{FF2B5EF4-FFF2-40B4-BE49-F238E27FC236}">
                <a16:creationId xmlns:a16="http://schemas.microsoft.com/office/drawing/2014/main" id="{3BDC6601-E698-8954-2BB9-94C8F9F1C48B}"/>
              </a:ext>
            </a:extLst>
          </p:cNvPr>
          <p:cNvSpPr/>
          <p:nvPr/>
        </p:nvSpPr>
        <p:spPr>
          <a:xfrm>
            <a:off x="-278953" y="-395763"/>
            <a:ext cx="12776548" cy="1803748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" name="Rectangle 1">
            <a:extLst>
              <a:ext uri="{FF2B5EF4-FFF2-40B4-BE49-F238E27FC236}">
                <a16:creationId xmlns:a16="http://schemas.microsoft.com/office/drawing/2014/main" id="{29E83E3E-5F32-DC8C-8054-8181C3F4BC64}"/>
              </a:ext>
            </a:extLst>
          </p:cNvPr>
          <p:cNvSpPr/>
          <p:nvPr/>
        </p:nvSpPr>
        <p:spPr>
          <a:xfrm>
            <a:off x="8453065" y="3089945"/>
            <a:ext cx="3600000" cy="2888160"/>
          </a:xfrm>
          <a:prstGeom prst="rect">
            <a:avLst/>
          </a:prstGeom>
          <a:solidFill>
            <a:srgbClr val="CFF1E6"/>
          </a:solidFill>
          <a:ln w="76200">
            <a:solidFill>
              <a:srgbClr val="0CB87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Level 3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ounded Rectangle 8">
                <a:extLst>
                  <a:ext uri="{FF2B5EF4-FFF2-40B4-BE49-F238E27FC236}">
                    <a16:creationId xmlns:a16="http://schemas.microsoft.com/office/drawing/2014/main" id="{C6C9CB4A-8038-90BF-F71A-000B6551A2D6}"/>
                  </a:ext>
                </a:extLst>
              </p:cNvPr>
              <p:cNvSpPr/>
              <p:nvPr/>
            </p:nvSpPr>
            <p:spPr>
              <a:xfrm>
                <a:off x="8605650" y="4108875"/>
                <a:ext cx="3309464" cy="770267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volatility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{−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∞</m:t>
                    </m:r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GB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</a:t>
                </a:r>
              </a:p>
            </p:txBody>
          </p:sp>
        </mc:Choice>
        <mc:Fallback xmlns="">
          <p:sp>
            <p:nvSpPr>
              <p:cNvPr id="21" name="Rounded Rectangle 8">
                <a:extLst>
                  <a:ext uri="{FF2B5EF4-FFF2-40B4-BE49-F238E27FC236}">
                    <a16:creationId xmlns:a16="http://schemas.microsoft.com/office/drawing/2014/main" id="{C6C9CB4A-8038-90BF-F71A-000B6551A2D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5650" y="4108875"/>
                <a:ext cx="3309464" cy="770267"/>
              </a:xfrm>
              <a:prstGeom prst="roundRect">
                <a:avLst>
                  <a:gd name="adj" fmla="val 5845"/>
                </a:avLst>
              </a:prstGeom>
              <a:blipFill>
                <a:blip r:embed="rId5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3" name="Rounded Rectangle 5">
                <a:extLst>
                  <a:ext uri="{FF2B5EF4-FFF2-40B4-BE49-F238E27FC236}">
                    <a16:creationId xmlns:a16="http://schemas.microsoft.com/office/drawing/2014/main" id="{927315D4-7799-30D6-AC13-346068C5DB9D}"/>
                  </a:ext>
                </a:extLst>
              </p:cNvPr>
              <p:cNvSpPr/>
              <p:nvPr/>
            </p:nvSpPr>
            <p:spPr>
              <a:xfrm>
                <a:off x="4478656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AT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tendency</a:t>
                </a:r>
              </a:p>
              <a:p>
                <a:endParaRPr lang="en-GB" sz="16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23" name="Rounded Rectangle 5">
                <a:extLst>
                  <a:ext uri="{FF2B5EF4-FFF2-40B4-BE49-F238E27FC236}">
                    <a16:creationId xmlns:a16="http://schemas.microsoft.com/office/drawing/2014/main" id="{927315D4-7799-30D6-AC13-346068C5DB9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656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blipFill>
                <a:blip r:embed="rId6"/>
                <a:stretch>
                  <a:fillRect b="-25275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Rounded Rectangle 5">
                <a:extLst>
                  <a:ext uri="{FF2B5EF4-FFF2-40B4-BE49-F238E27FC236}">
                    <a16:creationId xmlns:a16="http://schemas.microsoft.com/office/drawing/2014/main" id="{6DF731C0-CD63-7CA8-7030-D203D4461577}"/>
                  </a:ext>
                </a:extLst>
              </p:cNvPr>
              <p:cNvSpPr/>
              <p:nvPr/>
            </p:nvSpPr>
            <p:spPr>
              <a:xfrm>
                <a:off x="8598333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de-AT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volatility</a:t>
                </a:r>
              </a:p>
              <a:p>
                <a:endParaRPr lang="en-GB" sz="1600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25" name="Rounded Rectangle 5">
                <a:extLst>
                  <a:ext uri="{FF2B5EF4-FFF2-40B4-BE49-F238E27FC236}">
                    <a16:creationId xmlns:a16="http://schemas.microsoft.com/office/drawing/2014/main" id="{6DF731C0-CD63-7CA8-7030-D203D446157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598333" y="2034695"/>
                <a:ext cx="1914715" cy="474162"/>
              </a:xfrm>
              <a:prstGeom prst="roundRect">
                <a:avLst>
                  <a:gd name="adj" fmla="val 5845"/>
                </a:avLst>
              </a:prstGeom>
              <a:blipFill>
                <a:blip r:embed="rId7"/>
                <a:stretch>
                  <a:fillRect b="-25275"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6" name="Gerade Verbindung mit Pfeil 25">
            <a:extLst>
              <a:ext uri="{FF2B5EF4-FFF2-40B4-BE49-F238E27FC236}">
                <a16:creationId xmlns:a16="http://schemas.microsoft.com/office/drawing/2014/main" id="{BFED02B5-6D48-069C-FC79-344E0086571D}"/>
              </a:ext>
            </a:extLst>
          </p:cNvPr>
          <p:cNvCxnSpPr>
            <a:cxnSpLocks/>
            <a:stCxn id="25" idx="1"/>
            <a:endCxn id="23" idx="3"/>
          </p:cNvCxnSpPr>
          <p:nvPr/>
        </p:nvCxnSpPr>
        <p:spPr>
          <a:xfrm flipH="1">
            <a:off x="6393371" y="2271776"/>
            <a:ext cx="2204962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CE1845DF-D283-F866-995B-BC18362A6F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-120067"/>
            <a:ext cx="10515600" cy="1325563"/>
          </a:xfrm>
        </p:spPr>
        <p:txBody>
          <a:bodyPr>
            <a:normAutofit/>
          </a:bodyPr>
          <a:lstStyle/>
          <a:p>
            <a:r>
              <a:rPr lang="de-DE" sz="3200" dirty="0" err="1"/>
              <a:t>Hierarchical</a:t>
            </a:r>
            <a:r>
              <a:rPr lang="de-DE" sz="3200" dirty="0"/>
              <a:t> </a:t>
            </a:r>
            <a:r>
              <a:rPr lang="de-DE" sz="3200" dirty="0" err="1"/>
              <a:t>Gaussian</a:t>
            </a:r>
            <a:r>
              <a:rPr lang="de-DE" sz="3200" dirty="0"/>
              <a:t> Filter</a:t>
            </a:r>
            <a:endParaRPr lang="en-GB" sz="32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Rounded Rectangle 8">
                <a:extLst>
                  <a:ext uri="{FF2B5EF4-FFF2-40B4-BE49-F238E27FC236}">
                    <a16:creationId xmlns:a16="http://schemas.microsoft.com/office/drawing/2014/main" id="{0B501E44-96E5-9E2A-CC10-FCD1DF0897BD}"/>
                  </a:ext>
                </a:extLst>
              </p:cNvPr>
              <p:cNvSpPr/>
              <p:nvPr/>
            </p:nvSpPr>
            <p:spPr>
              <a:xfrm>
                <a:off x="4478656" y="4992630"/>
                <a:ext cx="3275144" cy="591553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de-AT" sz="16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volatility prediction error</a:t>
                </a:r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34" name="Rounded Rectangle 8">
                <a:extLst>
                  <a:ext uri="{FF2B5EF4-FFF2-40B4-BE49-F238E27FC236}">
                    <a16:creationId xmlns:a16="http://schemas.microsoft.com/office/drawing/2014/main" id="{0B501E44-96E5-9E2A-CC10-FCD1DF0897B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78656" y="4992630"/>
                <a:ext cx="3275144" cy="591553"/>
              </a:xfrm>
              <a:prstGeom prst="roundRect">
                <a:avLst>
                  <a:gd name="adj" fmla="val 5845"/>
                </a:avLst>
              </a:prstGeom>
              <a:blipFill>
                <a:blip r:embed="rId8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8" name="Gruppieren 77">
            <a:extLst>
              <a:ext uri="{FF2B5EF4-FFF2-40B4-BE49-F238E27FC236}">
                <a16:creationId xmlns:a16="http://schemas.microsoft.com/office/drawing/2014/main" id="{B1F728F4-88A8-DED3-6FA0-B231059C86F3}"/>
              </a:ext>
            </a:extLst>
          </p:cNvPr>
          <p:cNvGrpSpPr/>
          <p:nvPr/>
        </p:nvGrpSpPr>
        <p:grpSpPr>
          <a:xfrm>
            <a:off x="299799" y="1599799"/>
            <a:ext cx="1973895" cy="909058"/>
            <a:chOff x="299799" y="1599799"/>
            <a:chExt cx="1973895" cy="909058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C951CDE-04C3-0755-DF44-6B668B3C5F9A}"/>
                    </a:ext>
                  </a:extLst>
                </p:cNvPr>
                <p:cNvSpPr/>
                <p:nvPr/>
              </p:nvSpPr>
              <p:spPr>
                <a:xfrm>
                  <a:off x="299799" y="1599799"/>
                  <a:ext cx="1973895" cy="909058"/>
                </a:xfrm>
                <a:prstGeom prst="roundRect">
                  <a:avLst>
                    <a:gd name="adj" fmla="val 5845"/>
                  </a:avLst>
                </a:prstGeom>
                <a:solidFill>
                  <a:srgbClr val="FFFDF7"/>
                </a:solid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de-AT" sz="16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de-AT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de-AT" sz="16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de-AT" sz="1600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</m:oMath>
                  </a14:m>
                  <a:r>
                    <a:rPr lang="de-AT" sz="16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</a:t>
                  </a:r>
                  <a:r>
                    <a:rPr lang="de-AT" sz="1600" dirty="0" err="1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outcome</a:t>
                  </a:r>
                  <a:r>
                    <a:rPr lang="de-AT" sz="1600" dirty="0">
                      <a:solidFill>
                        <a:schemeClr val="tx1"/>
                      </a:solidFill>
                      <a:latin typeface="Bahnschrift" panose="020B0502040204020203" pitchFamily="34" charset="0"/>
                    </a:rPr>
                    <a:t> </a:t>
                  </a:r>
                </a:p>
                <a:p>
                  <a:endPara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endParaRPr>
                </a:p>
              </p:txBody>
            </p:sp>
          </mc:Choice>
          <mc:Fallback xmlns="">
            <p:sp>
              <p:nvSpPr>
                <p:cNvPr id="6" name="Rounded Rectangle 5">
                  <a:extLst>
                    <a:ext uri="{FF2B5EF4-FFF2-40B4-BE49-F238E27FC236}">
                      <a16:creationId xmlns:a16="http://schemas.microsoft.com/office/drawing/2014/main" id="{3C951CDE-04C3-0755-DF44-6B668B3C5F9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99799" y="1599799"/>
                  <a:ext cx="1973895" cy="909058"/>
                </a:xfrm>
                <a:prstGeom prst="roundRect">
                  <a:avLst>
                    <a:gd name="adj" fmla="val 5845"/>
                  </a:avLst>
                </a:prstGeom>
                <a:blipFill>
                  <a:blip r:embed="rId9"/>
                  <a:stretch>
                    <a:fillRect/>
                  </a:stretch>
                </a:blipFill>
                <a:ln w="76200">
                  <a:solidFill>
                    <a:schemeClr val="accent4">
                      <a:lumMod val="20000"/>
                      <a:lumOff val="8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37" name="Grafik 36" descr="Sparschwein mit einfarbiger Füllung">
              <a:extLst>
                <a:ext uri="{FF2B5EF4-FFF2-40B4-BE49-F238E27FC236}">
                  <a16:creationId xmlns:a16="http://schemas.microsoft.com/office/drawing/2014/main" id="{D1CDCF84-9192-1490-C531-5A7E39E8653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xmlns="" r:embed="rId10"/>
                </a:ext>
              </a:extLst>
            </a:blip>
            <a:stretch>
              <a:fillRect/>
            </a:stretch>
          </p:blipFill>
          <p:spPr>
            <a:xfrm>
              <a:off x="372192" y="2055000"/>
              <a:ext cx="360000" cy="360000"/>
            </a:xfrm>
            <a:prstGeom prst="rect">
              <a:avLst/>
            </a:prstGeom>
          </p:spPr>
        </p:pic>
        <p:pic>
          <p:nvPicPr>
            <p:cNvPr id="39" name="Grafik 38" descr="Verbotsschild mit einfarbiger Füllung">
              <a:extLst>
                <a:ext uri="{FF2B5EF4-FFF2-40B4-BE49-F238E27FC236}">
                  <a16:creationId xmlns:a16="http://schemas.microsoft.com/office/drawing/2014/main" id="{2F0A2DEC-39ED-EFBB-8FC1-A08F6E72CDEC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xmlns="" r:embed="rId11"/>
                </a:ext>
              </a:extLst>
            </a:blip>
            <a:stretch>
              <a:fillRect/>
            </a:stretch>
          </p:blipFill>
          <p:spPr>
            <a:xfrm>
              <a:off x="1329549" y="2055000"/>
              <a:ext cx="360000" cy="360000"/>
            </a:xfrm>
            <a:prstGeom prst="rect">
              <a:avLst/>
            </a:prstGeom>
          </p:spPr>
        </p:pic>
        <p:sp>
          <p:nvSpPr>
            <p:cNvPr id="40" name="Textfeld 39">
              <a:extLst>
                <a:ext uri="{FF2B5EF4-FFF2-40B4-BE49-F238E27FC236}">
                  <a16:creationId xmlns:a16="http://schemas.microsoft.com/office/drawing/2014/main" id="{874625B8-B30A-9340-4D76-677D447EB3EB}"/>
                </a:ext>
              </a:extLst>
            </p:cNvPr>
            <p:cNvSpPr txBox="1"/>
            <p:nvPr/>
          </p:nvSpPr>
          <p:spPr>
            <a:xfrm>
              <a:off x="732192" y="2054328"/>
              <a:ext cx="1482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de-AT" dirty="0">
                  <a:latin typeface="Bahnschrift" panose="020B0502040204020203" pitchFamily="34" charset="0"/>
                </a:rPr>
                <a:t>= 1            = 0</a:t>
              </a:r>
              <a:endParaRPr lang="en-US" dirty="0">
                <a:latin typeface="Bahnschrift" panose="020B0502040204020203" pitchFamily="34" charset="0"/>
              </a:endParaRPr>
            </a:p>
          </p:txBody>
        </p:sp>
      </p:grpSp>
      <p:cxnSp>
        <p:nvCxnSpPr>
          <p:cNvPr id="46" name="Gerade Verbindung mit Pfeil 45">
            <a:extLst>
              <a:ext uri="{FF2B5EF4-FFF2-40B4-BE49-F238E27FC236}">
                <a16:creationId xmlns:a16="http://schemas.microsoft.com/office/drawing/2014/main" id="{AA111B18-30BF-37B3-37FA-18D9C0B8B066}"/>
              </a:ext>
            </a:extLst>
          </p:cNvPr>
          <p:cNvCxnSpPr>
            <a:cxnSpLocks/>
          </p:cNvCxnSpPr>
          <p:nvPr/>
        </p:nvCxnSpPr>
        <p:spPr>
          <a:xfrm flipV="1">
            <a:off x="2996526" y="4018590"/>
            <a:ext cx="1482130" cy="1140366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Gerade Verbindung mit Pfeil 48">
            <a:extLst>
              <a:ext uri="{FF2B5EF4-FFF2-40B4-BE49-F238E27FC236}">
                <a16:creationId xmlns:a16="http://schemas.microsoft.com/office/drawing/2014/main" id="{84E495BB-7919-ACC3-6B5B-0C4C8184FE65}"/>
              </a:ext>
            </a:extLst>
          </p:cNvPr>
          <p:cNvCxnSpPr>
            <a:cxnSpLocks/>
            <a:stCxn id="21" idx="1"/>
            <a:endCxn id="17" idx="3"/>
          </p:cNvCxnSpPr>
          <p:nvPr/>
        </p:nvCxnSpPr>
        <p:spPr>
          <a:xfrm flipH="1" flipV="1">
            <a:off x="7760127" y="4491407"/>
            <a:ext cx="845523" cy="2602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 Verbindung mit Pfeil 52">
            <a:extLst>
              <a:ext uri="{FF2B5EF4-FFF2-40B4-BE49-F238E27FC236}">
                <a16:creationId xmlns:a16="http://schemas.microsoft.com/office/drawing/2014/main" id="{238EBEA5-A74E-D7A3-1181-C6529F2EBE48}"/>
              </a:ext>
            </a:extLst>
          </p:cNvPr>
          <p:cNvCxnSpPr>
            <a:cxnSpLocks/>
          </p:cNvCxnSpPr>
          <p:nvPr/>
        </p:nvCxnSpPr>
        <p:spPr>
          <a:xfrm flipV="1">
            <a:off x="7753800" y="4879142"/>
            <a:ext cx="917167" cy="490141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 Verbindung mit Pfeil 56">
            <a:extLst>
              <a:ext uri="{FF2B5EF4-FFF2-40B4-BE49-F238E27FC236}">
                <a16:creationId xmlns:a16="http://schemas.microsoft.com/office/drawing/2014/main" id="{7FB5DBC8-B86E-EA87-06D0-EB01A375ED18}"/>
              </a:ext>
            </a:extLst>
          </p:cNvPr>
          <p:cNvCxnSpPr>
            <a:cxnSpLocks/>
          </p:cNvCxnSpPr>
          <p:nvPr/>
        </p:nvCxnSpPr>
        <p:spPr>
          <a:xfrm flipV="1">
            <a:off x="6040073" y="3961515"/>
            <a:ext cx="0" cy="251733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Gerade Verbindung mit Pfeil 60">
            <a:extLst>
              <a:ext uri="{FF2B5EF4-FFF2-40B4-BE49-F238E27FC236}">
                <a16:creationId xmlns:a16="http://schemas.microsoft.com/office/drawing/2014/main" id="{9FB97A4B-3771-CDAE-78C0-E98058E6BB50}"/>
              </a:ext>
            </a:extLst>
          </p:cNvPr>
          <p:cNvCxnSpPr>
            <a:cxnSpLocks/>
          </p:cNvCxnSpPr>
          <p:nvPr/>
        </p:nvCxnSpPr>
        <p:spPr>
          <a:xfrm>
            <a:off x="3011807" y="5130133"/>
            <a:ext cx="1466849" cy="0"/>
          </a:xfrm>
          <a:prstGeom prst="straightConnector1">
            <a:avLst/>
          </a:prstGeom>
          <a:ln w="57150">
            <a:solidFill>
              <a:srgbClr val="FFD7A7"/>
            </a:solidFill>
            <a:prstDash val="sysDash"/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Gerade Verbindung mit Pfeil 63">
            <a:extLst>
              <a:ext uri="{FF2B5EF4-FFF2-40B4-BE49-F238E27FC236}">
                <a16:creationId xmlns:a16="http://schemas.microsoft.com/office/drawing/2014/main" id="{6F18FC9D-99F9-4D22-9C1E-B269ECDB5332}"/>
              </a:ext>
            </a:extLst>
          </p:cNvPr>
          <p:cNvCxnSpPr>
            <a:cxnSpLocks/>
          </p:cNvCxnSpPr>
          <p:nvPr/>
        </p:nvCxnSpPr>
        <p:spPr>
          <a:xfrm>
            <a:off x="552192" y="2508856"/>
            <a:ext cx="0" cy="2148869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ounded Rectangle 8">
                <a:extLst>
                  <a:ext uri="{FF2B5EF4-FFF2-40B4-BE49-F238E27FC236}">
                    <a16:creationId xmlns:a16="http://schemas.microsoft.com/office/drawing/2014/main" id="{637CDFD7-F231-D0C0-9BE2-8983DF8F9B90}"/>
                  </a:ext>
                </a:extLst>
              </p:cNvPr>
              <p:cNvSpPr/>
              <p:nvPr/>
            </p:nvSpPr>
            <p:spPr>
              <a:xfrm>
                <a:off x="319526" y="3453258"/>
                <a:ext cx="3182799" cy="770400"/>
              </a:xfrm>
              <a:prstGeom prst="roundRect">
                <a:avLst>
                  <a:gd name="adj" fmla="val 5845"/>
                </a:avLst>
              </a:prstGeom>
              <a:solidFill>
                <a:srgbClr val="FFFDF7"/>
              </a:solid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de-AT" sz="16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belief about </a:t>
                </a:r>
                <a:r>
                  <a:rPr lang="en-GB" sz="1600" b="1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outcome</a:t>
                </a:r>
              </a:p>
              <a:p>
                <a:r>
                  <a:rPr lang="en-GB" sz="1600" dirty="0">
                    <a:solidFill>
                      <a:schemeClr val="tx1"/>
                    </a:solidFill>
                    <a:latin typeface="Bahnschrift" panose="020B0502040204020203" pitchFamily="34" charset="0"/>
                  </a:rPr>
                  <a:t>            </a:t>
                </a:r>
                <a14:m>
                  <m:oMath xmlns:m="http://schemas.openxmlformats.org/officeDocument/2006/math">
                    <m:r>
                      <a:rPr lang="de-AT" sz="1600" b="0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{0&lt;</m:t>
                    </m:r>
                    <m:sSub>
                      <m:sSubPr>
                        <m:ctrlP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de-AT" sz="16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de-AT" sz="16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&lt;1}</m:t>
                    </m:r>
                  </m:oMath>
                </a14:m>
                <a:endParaRPr lang="en-GB" dirty="0">
                  <a:solidFill>
                    <a:schemeClr val="tx1"/>
                  </a:solidFill>
                  <a:latin typeface="Bahnschrift" panose="020B0502040204020203" pitchFamily="34" charset="0"/>
                </a:endParaRPr>
              </a:p>
            </p:txBody>
          </p:sp>
        </mc:Choice>
        <mc:Fallback xmlns="">
          <p:sp>
            <p:nvSpPr>
              <p:cNvPr id="4" name="Rounded Rectangle 8">
                <a:extLst>
                  <a:ext uri="{FF2B5EF4-FFF2-40B4-BE49-F238E27FC236}">
                    <a16:creationId xmlns:a16="http://schemas.microsoft.com/office/drawing/2014/main" id="{637CDFD7-F231-D0C0-9BE2-8983DF8F9B9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19526" y="3453258"/>
                <a:ext cx="3182799" cy="770400"/>
              </a:xfrm>
              <a:prstGeom prst="roundRect">
                <a:avLst>
                  <a:gd name="adj" fmla="val 5845"/>
                </a:avLst>
              </a:prstGeom>
              <a:blipFill>
                <a:blip r:embed="rId12"/>
                <a:stretch>
                  <a:fillRect/>
                </a:stretch>
              </a:blipFill>
              <a:ln w="76200">
                <a:solidFill>
                  <a:schemeClr val="accent4">
                    <a:lumMod val="20000"/>
                    <a:lumOff val="80000"/>
                  </a:schemeClr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41" name="Gerade Verbindung mit Pfeil 40">
            <a:extLst>
              <a:ext uri="{FF2B5EF4-FFF2-40B4-BE49-F238E27FC236}">
                <a16:creationId xmlns:a16="http://schemas.microsoft.com/office/drawing/2014/main" id="{23B5996E-424C-950D-D4E1-0F1E9D740BD4}"/>
              </a:ext>
            </a:extLst>
          </p:cNvPr>
          <p:cNvCxnSpPr>
            <a:cxnSpLocks/>
          </p:cNvCxnSpPr>
          <p:nvPr/>
        </p:nvCxnSpPr>
        <p:spPr>
          <a:xfrm flipH="1">
            <a:off x="3502325" y="3838458"/>
            <a:ext cx="917151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65">
            <a:extLst>
              <a:ext uri="{FF2B5EF4-FFF2-40B4-BE49-F238E27FC236}">
                <a16:creationId xmlns:a16="http://schemas.microsoft.com/office/drawing/2014/main" id="{3E945AC5-0655-143B-DB87-E307C2591405}"/>
              </a:ext>
            </a:extLst>
          </p:cNvPr>
          <p:cNvCxnSpPr>
            <a:cxnSpLocks/>
          </p:cNvCxnSpPr>
          <p:nvPr/>
        </p:nvCxnSpPr>
        <p:spPr>
          <a:xfrm>
            <a:off x="1081699" y="4192505"/>
            <a:ext cx="0" cy="505509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 1">
            <a:extLst>
              <a:ext uri="{FF2B5EF4-FFF2-40B4-BE49-F238E27FC236}">
                <a16:creationId xmlns:a16="http://schemas.microsoft.com/office/drawing/2014/main" id="{DF5B3491-3224-51AF-48AF-9D10AAAE3CB5}"/>
              </a:ext>
            </a:extLst>
          </p:cNvPr>
          <p:cNvSpPr/>
          <p:nvPr/>
        </p:nvSpPr>
        <p:spPr>
          <a:xfrm>
            <a:off x="-138932" y="1112140"/>
            <a:ext cx="12191997" cy="325310"/>
          </a:xfrm>
          <a:prstGeom prst="rect">
            <a:avLst/>
          </a:prstGeom>
          <a:noFill/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GB" b="1" dirty="0">
                <a:solidFill>
                  <a:schemeClr val="tx1"/>
                </a:solidFill>
                <a:latin typeface="Bahnschrift" panose="020B0502040204020203" pitchFamily="34" charset="0"/>
              </a:rPr>
              <a:t>“Real World”</a:t>
            </a: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BC611557-4595-CB84-8873-88DAA0552844}"/>
              </a:ext>
            </a:extLst>
          </p:cNvPr>
          <p:cNvCxnSpPr>
            <a:cxnSpLocks/>
          </p:cNvCxnSpPr>
          <p:nvPr/>
        </p:nvCxnSpPr>
        <p:spPr>
          <a:xfrm flipH="1">
            <a:off x="2214514" y="2283584"/>
            <a:ext cx="2204962" cy="0"/>
          </a:xfrm>
          <a:prstGeom prst="straightConnector1">
            <a:avLst/>
          </a:prstGeom>
          <a:ln w="57150">
            <a:solidFill>
              <a:srgbClr val="FFD7A7"/>
            </a:solidFill>
            <a:tailEnd type="triangle"/>
          </a:ln>
          <a:effectLst>
            <a:innerShdw>
              <a:prstClr val="black"/>
            </a:innerShdw>
          </a:effectLst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698872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50000" decel="5000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1.66667E-6 -2.59259E-6 L -0.00104 -0.07384 " pathEditMode="relative" rAng="0" ptsTypes="AA">
                                      <p:cBhvr>
                                        <p:cTn id="6" dur="50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-52" y="-3704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500"/>
                            </p:stCondLst>
                            <p:childTnLst>
                              <p:par>
                                <p:cTn id="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250"/>
                            </p:stCondLst>
                            <p:childTnLst>
                              <p:par>
                                <p:cTn id="47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500"/>
                            </p:stCondLst>
                            <p:childTnLst>
                              <p:par>
                                <p:cTn id="51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2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2" fill="hold">
                      <p:stCondLst>
                        <p:cond delay="indefinite"/>
                      </p:stCondLst>
                      <p:childTnLst>
                        <p:par>
                          <p:cTn id="63" fill="hold">
                            <p:stCondLst>
                              <p:cond delay="0"/>
                            </p:stCondLst>
                            <p:childTnLst>
                              <p:par>
                                <p:cTn id="6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4" fill="hold">
                      <p:stCondLst>
                        <p:cond delay="indefinite"/>
                      </p:stCondLst>
                      <p:childTnLst>
                        <p:par>
                          <p:cTn id="75" fill="hold">
                            <p:stCondLst>
                              <p:cond delay="0"/>
                            </p:stCondLst>
                            <p:childTnLst>
                              <p:par>
                                <p:cTn id="76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8" fill="hold">
                      <p:stCondLst>
                        <p:cond delay="indefinite"/>
                      </p:stCondLst>
                      <p:childTnLst>
                        <p:par>
                          <p:cTn id="79" fill="hold">
                            <p:stCondLst>
                              <p:cond delay="0"/>
                            </p:stCondLst>
                            <p:childTnLst>
                              <p:par>
                                <p:cTn id="8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2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4" fill="hold">
                      <p:stCondLst>
                        <p:cond delay="indefinite"/>
                      </p:stCondLst>
                      <p:childTnLst>
                        <p:par>
                          <p:cTn id="85" fill="hold">
                            <p:stCondLst>
                              <p:cond delay="0"/>
                            </p:stCondLst>
                            <p:childTnLst>
                              <p:par>
                                <p:cTn id="8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8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0" fill="hold">
                      <p:stCondLst>
                        <p:cond delay="indefinite"/>
                      </p:stCondLst>
                      <p:childTnLst>
                        <p:par>
                          <p:cTn id="91" fill="hold">
                            <p:stCondLst>
                              <p:cond delay="0"/>
                            </p:stCondLst>
                            <p:childTnLst>
                              <p:par>
                                <p:cTn id="92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4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6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animBg="1"/>
      <p:bldP spid="15" grpId="0" animBg="1"/>
      <p:bldP spid="3" grpId="0" animBg="1"/>
      <p:bldP spid="16" grpId="0" animBg="1"/>
      <p:bldP spid="17" grpId="0" animBg="1"/>
      <p:bldP spid="18" grpId="0" animBg="1"/>
      <p:bldP spid="77" grpId="0" animBg="1"/>
      <p:bldP spid="20" grpId="0" animBg="1"/>
      <p:bldP spid="21" grpId="0" animBg="1"/>
      <p:bldP spid="23" grpId="0" animBg="1"/>
      <p:bldP spid="25" grpId="0" animBg="1"/>
      <p:bldP spid="2" grpId="0"/>
      <p:bldP spid="34" grpId="0" animBg="1"/>
      <p:bldP spid="4" grpId="0" animBg="1"/>
      <p:bldP spid="70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645EF51-F07F-D9E8-105E-D7722EAACF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Model </a:t>
            </a:r>
            <a:r>
              <a:rPr lang="de-AT" dirty="0" err="1"/>
              <a:t>comparison</a:t>
            </a:r>
            <a:endParaRPr lang="en-US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3CA6B3A0-0964-6272-34DB-C75C85FED4F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1894966"/>
            <a:ext cx="12120722" cy="3536572"/>
          </a:xfrm>
          <a:prstGeom prst="rect">
            <a:avLst/>
          </a:prstGeom>
        </p:spPr>
      </p:pic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AA27A79D-7BD5-695A-BDEA-09A8112CD80B}"/>
              </a:ext>
            </a:extLst>
          </p:cNvPr>
          <p:cNvSpPr txBox="1">
            <a:spLocks/>
          </p:cNvSpPr>
          <p:nvPr/>
        </p:nvSpPr>
        <p:spPr>
          <a:xfrm>
            <a:off x="838199" y="5641997"/>
            <a:ext cx="10515600" cy="106671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Bahnschrift" panose="020B0502040204020203" pitchFamily="34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50000"/>
              </a:lnSpc>
            </a:pPr>
            <a:r>
              <a:rPr lang="de-AT" sz="2400" dirty="0" smtClean="0"/>
              <a:t>BIC = Bayesian Information Criterion. Measures model fit quality</a:t>
            </a:r>
          </a:p>
          <a:p>
            <a:pPr>
              <a:lnSpc>
                <a:spcPct val="150000"/>
              </a:lnSpc>
            </a:pPr>
            <a:r>
              <a:rPr lang="de-AT" sz="2400" dirty="0" smtClean="0"/>
              <a:t>s</a:t>
            </a:r>
            <a:r>
              <a:rPr lang="en-US" sz="2400" dirty="0" err="1"/>
              <a:t>imple</a:t>
            </a:r>
            <a:r>
              <a:rPr lang="en-US" sz="2400" dirty="0"/>
              <a:t> beats complicated</a:t>
            </a:r>
          </a:p>
        </p:txBody>
      </p:sp>
    </p:spTree>
    <p:extLst>
      <p:ext uri="{BB962C8B-B14F-4D97-AF65-F5344CB8AC3E}">
        <p14:creationId xmlns:p14="http://schemas.microsoft.com/office/powerpoint/2010/main" val="989887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58148" y="476247"/>
            <a:ext cx="8445731" cy="6009305"/>
          </a:xfrm>
          <a:ln w="76200">
            <a:solidFill>
              <a:srgbClr val="0CB87F"/>
            </a:solidFill>
          </a:ln>
        </p:spPr>
      </p:pic>
    </p:spTree>
    <p:extLst>
      <p:ext uri="{BB962C8B-B14F-4D97-AF65-F5344CB8AC3E}">
        <p14:creationId xmlns:p14="http://schemas.microsoft.com/office/powerpoint/2010/main" val="133949273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44691" y="696778"/>
            <a:ext cx="9270628" cy="5340128"/>
          </a:xfrm>
          <a:prstGeom prst="rect">
            <a:avLst/>
          </a:prstGeom>
          <a:ln w="76200">
            <a:solidFill>
              <a:srgbClr val="0CB87F"/>
            </a:solidFill>
          </a:ln>
        </p:spPr>
      </p:pic>
    </p:spTree>
    <p:extLst>
      <p:ext uri="{BB962C8B-B14F-4D97-AF65-F5344CB8AC3E}">
        <p14:creationId xmlns:p14="http://schemas.microsoft.com/office/powerpoint/2010/main" val="19308114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12967" y="492535"/>
            <a:ext cx="7766066" cy="5525710"/>
          </a:xfrm>
          <a:prstGeom prst="rect">
            <a:avLst/>
          </a:prstGeom>
          <a:ln w="76200">
            <a:solidFill>
              <a:srgbClr val="0CB87F"/>
            </a:solidFill>
          </a:ln>
        </p:spPr>
      </p:pic>
    </p:spTree>
    <p:extLst>
      <p:ext uri="{BB962C8B-B14F-4D97-AF65-F5344CB8AC3E}">
        <p14:creationId xmlns:p14="http://schemas.microsoft.com/office/powerpoint/2010/main" val="229422222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>
                <a:latin typeface="Bahnschrift SemiBold" panose="020B0502040204020203" pitchFamily="34" charset="0"/>
              </a:rPr>
              <a:t>Research Questions</a:t>
            </a:r>
            <a:endParaRPr lang="en-GB" dirty="0">
              <a:latin typeface="Bahnschrift SemiBold" panose="020B0502040204020203" pitchFamily="34" charset="0"/>
            </a:endParaRPr>
          </a:p>
        </p:txBody>
      </p:sp>
      <p:sp>
        <p:nvSpPr>
          <p:cNvPr id="6" name="Rounded Rectangle 5"/>
          <p:cNvSpPr/>
          <p:nvPr/>
        </p:nvSpPr>
        <p:spPr>
          <a:xfrm>
            <a:off x="6466114" y="1795192"/>
            <a:ext cx="4887686" cy="4035197"/>
          </a:xfrm>
          <a:prstGeom prst="roundRect">
            <a:avLst>
              <a:gd name="adj" fmla="val 5845"/>
            </a:avLst>
          </a:prstGeom>
          <a:solidFill>
            <a:srgbClr val="FFFDF7"/>
          </a:solidFill>
          <a:ln w="7620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de-DE" sz="2800" dirty="0">
                <a:solidFill>
                  <a:schemeClr val="tx1"/>
                </a:solidFill>
                <a:latin typeface="Bahnschrift" panose="020B0502040204020203" pitchFamily="34" charset="0"/>
              </a:rPr>
              <a:t>2 · Latent Variable encoding</a:t>
            </a: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endParaRPr lang="de-DE" sz="2800" dirty="0">
              <a:solidFill>
                <a:schemeClr val="tx1"/>
              </a:solidFill>
              <a:latin typeface="Bahnschrift" panose="020B0502040204020203" pitchFamily="34" charset="0"/>
            </a:endParaRPr>
          </a:p>
          <a:p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Do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neuronal firing rates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encode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prediction errors 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estimated from a computational </a:t>
            </a:r>
            <a:r>
              <a:rPr lang="en-GB" sz="2800" b="1" dirty="0">
                <a:solidFill>
                  <a:schemeClr val="tx1"/>
                </a:solidFill>
                <a:latin typeface="Bahnschrift" panose="020B0502040204020203" pitchFamily="34" charset="0"/>
              </a:rPr>
              <a:t>model of behaviour</a:t>
            </a:r>
            <a:r>
              <a:rPr lang="en-GB" sz="2800" dirty="0">
                <a:solidFill>
                  <a:schemeClr val="tx1"/>
                </a:solidFill>
                <a:latin typeface="Bahnschrift" panose="020B0502040204020203" pitchFamily="34" charset="0"/>
              </a:rPr>
              <a:t>?</a:t>
            </a:r>
          </a:p>
        </p:txBody>
      </p:sp>
      <p:sp>
        <p:nvSpPr>
          <p:cNvPr id="7" name="Textfeld 3">
            <a:extLst>
              <a:ext uri="{FF2B5EF4-FFF2-40B4-BE49-F238E27FC236}">
                <a16:creationId xmlns:a16="http://schemas.microsoft.com/office/drawing/2014/main" id="{FE8BC9CB-A270-A1A7-41C1-7DB1E9BBFC01}"/>
              </a:ext>
            </a:extLst>
          </p:cNvPr>
          <p:cNvSpPr txBox="1"/>
          <p:nvPr/>
        </p:nvSpPr>
        <p:spPr>
          <a:xfrm>
            <a:off x="1229072" y="3397291"/>
            <a:ext cx="372531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sz="4800" dirty="0" smtClean="0">
                <a:latin typeface="Bahnschrift" panose="020B0502040204020203" pitchFamily="34" charset="0"/>
              </a:rPr>
              <a:t>Probably?</a:t>
            </a:r>
            <a:endParaRPr lang="en-US" sz="4800" dirty="0">
              <a:latin typeface="Bahnschrif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857325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Conclusion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Reward-selective neurons exist and are predominantly frontal</a:t>
            </a:r>
          </a:p>
          <a:p>
            <a:pPr lvl="1"/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ZETA analysis across 8 sessions (6,627 trials) shows time-locked spiking responses to reward outcomes, with outcome selectivity concentrated in MFG/IFG rather than parietal regions (SMG/AG).</a:t>
            </a:r>
          </a:p>
          <a:p>
            <a:r>
              <a:rPr lang="en-GB" b="1" dirty="0"/>
              <a:t>Simple reinforcement learning best captures behaviour</a:t>
            </a:r>
          </a:p>
          <a:p>
            <a:pPr lvl="1"/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Model comparison favours </a:t>
            </a:r>
            <a:r>
              <a:rPr lang="en-GB" sz="1800" dirty="0" err="1">
                <a:solidFill>
                  <a:schemeClr val="bg1">
                    <a:lumMod val="50000"/>
                  </a:schemeClr>
                </a:solidFill>
              </a:rPr>
              <a:t>Rescorla</a:t>
            </a:r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-Wagner/Q-learning over the Hierarchical Gaussian Filter — participants' choices are well described by a basic prediction-error update rule.</a:t>
            </a:r>
          </a:p>
          <a:p>
            <a:r>
              <a:rPr lang="en-GB" b="1" dirty="0"/>
              <a:t>Neuronal firing rates tentatively track prediction errors</a:t>
            </a:r>
          </a:p>
          <a:p>
            <a:pPr lvl="1"/>
            <a:r>
              <a:rPr lang="en-GB" sz="1800" dirty="0">
                <a:solidFill>
                  <a:schemeClr val="bg1">
                    <a:lumMod val="50000"/>
                  </a:schemeClr>
                </a:solidFill>
              </a:rPr>
              <a:t>Firing rates correlate with trial-by-trial RW prediction errors, suggesting frontal neurons may represent the learning signal — but direction, timing, and choice selectivity remain to be characterised.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73805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Future Direction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smtClean="0"/>
              <a:t>Sign of prediction error vs firing rate correlation</a:t>
            </a:r>
          </a:p>
          <a:p>
            <a:r>
              <a:rPr lang="de-DE" dirty="0" smtClean="0"/>
              <a:t>Find a better model</a:t>
            </a:r>
          </a:p>
          <a:p>
            <a:r>
              <a:rPr lang="de-DE" dirty="0" smtClean="0"/>
              <a:t>Timing of firing rate changes after events</a:t>
            </a:r>
          </a:p>
          <a:p>
            <a:r>
              <a:rPr lang="de-DE" dirty="0" smtClean="0"/>
              <a:t>Choice selectivity</a:t>
            </a:r>
          </a:p>
          <a:p>
            <a:r>
              <a:rPr lang="de-DE" dirty="0" smtClean="0"/>
              <a:t>Research Angual Gyrus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6291964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smtClean="0"/>
              <a:t>Acknowledgements</a:t>
            </a:r>
            <a:endParaRPr lang="en-GB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859578"/>
            <a:ext cx="10515600" cy="3317384"/>
          </a:xfrm>
        </p:spPr>
        <p:txBody>
          <a:bodyPr/>
          <a:lstStyle/>
          <a:p>
            <a:r>
              <a:rPr lang="de-DE" dirty="0" smtClean="0"/>
              <a:t>Hugo, Dimitris and everyone in the lab giving me much needed advice and direction</a:t>
            </a:r>
          </a:p>
          <a:p>
            <a:r>
              <a:rPr lang="de-DE" dirty="0" smtClean="0"/>
              <a:t>Simon Jacob Lab</a:t>
            </a:r>
          </a:p>
          <a:p>
            <a:r>
              <a:rPr lang="de-DE" dirty="0" smtClean="0"/>
              <a:t>Chen Hongbiao</a:t>
            </a:r>
          </a:p>
          <a:p>
            <a:r>
              <a:rPr lang="de-DE" dirty="0" smtClean="0">
                <a:solidFill>
                  <a:srgbClr val="FFF8E5"/>
                </a:solidFill>
              </a:rPr>
              <a:t>coffee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57359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475</TotalTime>
  <Words>1444</Words>
  <Application>Microsoft Office PowerPoint</Application>
  <PresentationFormat>Widescreen</PresentationFormat>
  <Paragraphs>300</Paragraphs>
  <Slides>40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9" baseType="lpstr">
      <vt:lpstr>Arial</vt:lpstr>
      <vt:lpstr>Bahnschrift</vt:lpstr>
      <vt:lpstr>Bahnschrift SemiBold</vt:lpstr>
      <vt:lpstr>Calibri</vt:lpstr>
      <vt:lpstr>Calibri Light</vt:lpstr>
      <vt:lpstr>Cambria Math</vt:lpstr>
      <vt:lpstr>Geneva</vt:lpstr>
      <vt:lpstr>Wingdings</vt:lpstr>
      <vt:lpstr>Office Theme</vt:lpstr>
      <vt:lpstr>Reward Encoding during a two-armed bandit task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Project Summary</vt:lpstr>
      <vt:lpstr>Project Summary</vt:lpstr>
      <vt:lpstr>Project Summary</vt:lpstr>
      <vt:lpstr>PowerPoint Presentation</vt:lpstr>
      <vt:lpstr>Research Questions</vt:lpstr>
      <vt:lpstr>PowerPoint Presentation</vt:lpstr>
      <vt:lpstr>ZETA test for time-locked spiking </vt:lpstr>
      <vt:lpstr>ZETA visualization</vt:lpstr>
      <vt:lpstr>ZETA visualization</vt:lpstr>
      <vt:lpstr>ZETA visualization</vt:lpstr>
      <vt:lpstr>ZETA visualization</vt:lpstr>
      <vt:lpstr>ZETA Results</vt:lpstr>
      <vt:lpstr>ZETA2 visualization</vt:lpstr>
      <vt:lpstr>ZETA2 visualization</vt:lpstr>
      <vt:lpstr>ZETA2 visualization</vt:lpstr>
      <vt:lpstr>ZETA2 visualization</vt:lpstr>
      <vt:lpstr>ZETA2 results</vt:lpstr>
      <vt:lpstr>Research Questions</vt:lpstr>
      <vt:lpstr>Why behavioural modelling?</vt:lpstr>
      <vt:lpstr>Rescorla wagner/ Q-learning</vt:lpstr>
      <vt:lpstr>Rescorla wagner/ Q-learning</vt:lpstr>
      <vt:lpstr>Rescorla wagner/ Q-learning</vt:lpstr>
      <vt:lpstr>PowerPoint Presentation</vt:lpstr>
      <vt:lpstr>Hierarchical Gaussian Filter</vt:lpstr>
      <vt:lpstr>Hierarchical Gaussian Filter</vt:lpstr>
      <vt:lpstr>Hierarchical Gaussian Filter</vt:lpstr>
      <vt:lpstr>Model comparison</vt:lpstr>
      <vt:lpstr>PowerPoint Presentation</vt:lpstr>
      <vt:lpstr>PowerPoint Presentation</vt:lpstr>
      <vt:lpstr>PowerPoint Presentation</vt:lpstr>
      <vt:lpstr>Research Questions</vt:lpstr>
      <vt:lpstr>Conclusion</vt:lpstr>
      <vt:lpstr>Future Direction</vt:lpstr>
      <vt:lpstr>Acknowledgements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Slide</dc:title>
  <dc:creator>mstammler</dc:creator>
  <cp:lastModifiedBy>mstammler</cp:lastModifiedBy>
  <cp:revision>82</cp:revision>
  <dcterms:created xsi:type="dcterms:W3CDTF">2026-06-22T10:02:13Z</dcterms:created>
  <dcterms:modified xsi:type="dcterms:W3CDTF">2026-06-29T15:39:31Z</dcterms:modified>
</cp:coreProperties>
</file>