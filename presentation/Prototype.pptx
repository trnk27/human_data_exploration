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1"/>
  </p:handoutMasterIdLst>
  <p:sldIdLst>
    <p:sldId id="256" r:id="rId2"/>
    <p:sldId id="269" r:id="rId3"/>
    <p:sldId id="257" r:id="rId4"/>
    <p:sldId id="258" r:id="rId5"/>
    <p:sldId id="271" r:id="rId6"/>
    <p:sldId id="270" r:id="rId7"/>
    <p:sldId id="272" r:id="rId8"/>
    <p:sldId id="261" r:id="rId9"/>
    <p:sldId id="273" r:id="rId10"/>
    <p:sldId id="259" r:id="rId11"/>
    <p:sldId id="260" r:id="rId12"/>
    <p:sldId id="268" r:id="rId13"/>
    <p:sldId id="274" r:id="rId14"/>
    <p:sldId id="262" r:id="rId15"/>
    <p:sldId id="275" r:id="rId16"/>
    <p:sldId id="277" r:id="rId17"/>
    <p:sldId id="279" r:id="rId18"/>
    <p:sldId id="278" r:id="rId19"/>
    <p:sldId id="276" r:id="rId20"/>
    <p:sldId id="263" r:id="rId21"/>
    <p:sldId id="283" r:id="rId22"/>
    <p:sldId id="280" r:id="rId23"/>
    <p:sldId id="282" r:id="rId24"/>
    <p:sldId id="265" r:id="rId25"/>
    <p:sldId id="266" r:id="rId26"/>
    <p:sldId id="267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12"/>
    <a:srgbClr val="0CB87F"/>
    <a:srgbClr val="FFD7A7"/>
    <a:srgbClr val="CFF1E6"/>
    <a:srgbClr val="FFFFFF"/>
    <a:srgbClr val="FFFDF7"/>
    <a:srgbClr val="F8FAFC"/>
    <a:srgbClr val="BD966F"/>
    <a:srgbClr val="257D60"/>
    <a:srgbClr val="9EE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69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2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EA52EC-7676-47C9-8D53-46B739BD2587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DBF283F7-617E-4082-A2AD-BFAAF939546A}">
      <dgm:prSet phldrT="[Text]" custT="1"/>
      <dgm:spPr>
        <a:solidFill>
          <a:srgbClr val="CFF1E6"/>
        </a:solidFill>
      </dgm:spPr>
      <dgm:t>
        <a:bodyPr/>
        <a:lstStyle/>
        <a:p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out come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48859DF4-1CAC-4FFA-950E-A8C3D6C6EDD0}" type="parTrans" cxnId="{A3BD1D09-917F-446D-BBFC-01EE249FBAC4}">
      <dgm:prSet/>
      <dgm:spPr/>
      <dgm:t>
        <a:bodyPr/>
        <a:lstStyle/>
        <a:p>
          <a:endParaRPr lang="en-US"/>
        </a:p>
      </dgm:t>
    </dgm:pt>
    <dgm:pt modelId="{2B269CAD-26B2-49B7-8DBE-9F0441B9BE1E}" type="sibTrans" cxnId="{A3BD1D09-917F-446D-BBFC-01EE249FBAC4}">
      <dgm:prSet/>
      <dgm:spPr/>
      <dgm:t>
        <a:bodyPr/>
        <a:lstStyle/>
        <a:p>
          <a:endParaRPr lang="en-US"/>
        </a:p>
      </dgm:t>
    </dgm:pt>
    <dgm:pt modelId="{0BC66A2B-1DD2-4A8C-A7E6-4706A5A565F2}">
      <dgm:prSet phldrT="[Text]" custT="1"/>
      <dgm:spPr>
        <a:solidFill>
          <a:srgbClr val="FFD7A7"/>
        </a:solidFill>
      </dgm:spPr>
      <dgm:t>
        <a:bodyPr/>
        <a:lstStyle/>
        <a:p>
          <a:r>
            <a:rPr lang="en-US" sz="2800" b="1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latent variables</a:t>
          </a:r>
          <a:endParaRPr lang="en-US" sz="2800" b="1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53A6D6CB-1B65-4EC5-8C87-678BCA6B287D}" type="parTrans" cxnId="{054D30D1-3227-4A91-8F68-5D1E792E8774}">
      <dgm:prSet/>
      <dgm:spPr/>
      <dgm:t>
        <a:bodyPr/>
        <a:lstStyle/>
        <a:p>
          <a:endParaRPr lang="en-US"/>
        </a:p>
      </dgm:t>
    </dgm:pt>
    <dgm:pt modelId="{5F85C5D3-97EB-437D-BC96-722C0B626794}" type="sibTrans" cxnId="{054D30D1-3227-4A91-8F68-5D1E792E8774}">
      <dgm:prSet/>
      <dgm:spPr/>
      <dgm:t>
        <a:bodyPr/>
        <a:lstStyle/>
        <a:p>
          <a:endParaRPr lang="en-US"/>
        </a:p>
      </dgm:t>
    </dgm:pt>
    <dgm:pt modelId="{465ABD7E-49EC-43D9-97C5-6A4B67335834}">
      <dgm:prSet phldrT="[Text]" custT="1"/>
      <dgm:spPr>
        <a:solidFill>
          <a:srgbClr val="CFF1E6"/>
        </a:solidFill>
      </dgm:spPr>
      <dgm:t>
        <a:bodyPr/>
        <a:lstStyle/>
        <a:p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choice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gm:t>
    </dgm:pt>
    <dgm:pt modelId="{F86C5027-5A3B-4A7A-A8C2-CE64D014DE97}" type="parTrans" cxnId="{26E01A93-AAB4-4B0E-9714-DDECC3C8A632}">
      <dgm:prSet/>
      <dgm:spPr/>
      <dgm:t>
        <a:bodyPr/>
        <a:lstStyle/>
        <a:p>
          <a:endParaRPr lang="en-US"/>
        </a:p>
      </dgm:t>
    </dgm:pt>
    <dgm:pt modelId="{B0E0A821-4726-4C37-A1CE-BF1E908724BF}" type="sibTrans" cxnId="{26E01A93-AAB4-4B0E-9714-DDECC3C8A632}">
      <dgm:prSet/>
      <dgm:spPr/>
      <dgm:t>
        <a:bodyPr/>
        <a:lstStyle/>
        <a:p>
          <a:endParaRPr lang="en-US"/>
        </a:p>
      </dgm:t>
    </dgm:pt>
    <dgm:pt modelId="{5B589FE8-1180-43E9-9DD9-8C60F02AF256}" type="pres">
      <dgm:prSet presAssocID="{4DEA52EC-7676-47C9-8D53-46B739BD2587}" presName="compositeShape" presStyleCnt="0">
        <dgm:presLayoutVars>
          <dgm:chMax val="7"/>
          <dgm:dir/>
          <dgm:resizeHandles val="exact"/>
        </dgm:presLayoutVars>
      </dgm:prSet>
      <dgm:spPr/>
    </dgm:pt>
    <dgm:pt modelId="{ECE168B9-97D6-4F75-9289-AF0458231259}" type="pres">
      <dgm:prSet presAssocID="{4DEA52EC-7676-47C9-8D53-46B739BD2587}" presName="wedge1" presStyleLbl="node1" presStyleIdx="0" presStyleCnt="3"/>
      <dgm:spPr/>
      <dgm:t>
        <a:bodyPr/>
        <a:lstStyle/>
        <a:p>
          <a:endParaRPr lang="en-US"/>
        </a:p>
      </dgm:t>
    </dgm:pt>
    <dgm:pt modelId="{936F56D5-CB26-4B20-B0FA-6C6FE1834F39}" type="pres">
      <dgm:prSet presAssocID="{4DEA52EC-7676-47C9-8D53-46B739BD2587}" presName="dummy1a" presStyleCnt="0"/>
      <dgm:spPr/>
    </dgm:pt>
    <dgm:pt modelId="{F60AA58E-22C8-4E39-ACCD-DFB7D3AA2B40}" type="pres">
      <dgm:prSet presAssocID="{4DEA52EC-7676-47C9-8D53-46B739BD2587}" presName="dummy1b" presStyleCnt="0"/>
      <dgm:spPr/>
    </dgm:pt>
    <dgm:pt modelId="{B96C4C7D-8621-4D0F-BBC4-D8B0CA18F115}" type="pres">
      <dgm:prSet presAssocID="{4DEA52EC-7676-47C9-8D53-46B739BD2587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2BDB46-B1F8-4502-BAF4-FF4CD80D55D7}" type="pres">
      <dgm:prSet presAssocID="{4DEA52EC-7676-47C9-8D53-46B739BD2587}" presName="wedge2" presStyleLbl="node1" presStyleIdx="1" presStyleCnt="3" custScaleX="121659" custScaleY="114947"/>
      <dgm:spPr/>
      <dgm:t>
        <a:bodyPr/>
        <a:lstStyle/>
        <a:p>
          <a:endParaRPr lang="en-US"/>
        </a:p>
      </dgm:t>
    </dgm:pt>
    <dgm:pt modelId="{BBCA0883-4239-43BF-8066-2531F61B2759}" type="pres">
      <dgm:prSet presAssocID="{4DEA52EC-7676-47C9-8D53-46B739BD2587}" presName="dummy2a" presStyleCnt="0"/>
      <dgm:spPr/>
    </dgm:pt>
    <dgm:pt modelId="{31038F61-FB99-4A02-B9E3-757F8127A8F9}" type="pres">
      <dgm:prSet presAssocID="{4DEA52EC-7676-47C9-8D53-46B739BD2587}" presName="dummy2b" presStyleCnt="0"/>
      <dgm:spPr/>
    </dgm:pt>
    <dgm:pt modelId="{10A53F47-8ED4-4B0B-B765-C54515E800D2}" type="pres">
      <dgm:prSet presAssocID="{4DEA52EC-7676-47C9-8D53-46B739BD2587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E000D8-9AAE-49A4-87FF-0642AB719E81}" type="pres">
      <dgm:prSet presAssocID="{4DEA52EC-7676-47C9-8D53-46B739BD2587}" presName="wedge3" presStyleLbl="node1" presStyleIdx="2" presStyleCnt="3"/>
      <dgm:spPr/>
      <dgm:t>
        <a:bodyPr/>
        <a:lstStyle/>
        <a:p>
          <a:endParaRPr lang="en-US"/>
        </a:p>
      </dgm:t>
    </dgm:pt>
    <dgm:pt modelId="{8245ECD6-57B2-4F6F-B83D-4AB0EA52FE4D}" type="pres">
      <dgm:prSet presAssocID="{4DEA52EC-7676-47C9-8D53-46B739BD2587}" presName="dummy3a" presStyleCnt="0"/>
      <dgm:spPr/>
    </dgm:pt>
    <dgm:pt modelId="{1074AF88-0D25-412C-97FA-37DFF9F6F7C9}" type="pres">
      <dgm:prSet presAssocID="{4DEA52EC-7676-47C9-8D53-46B739BD2587}" presName="dummy3b" presStyleCnt="0"/>
      <dgm:spPr/>
    </dgm:pt>
    <dgm:pt modelId="{6DDCB976-2FE0-4A90-B6ED-DE80609CC20C}" type="pres">
      <dgm:prSet presAssocID="{4DEA52EC-7676-47C9-8D53-46B739BD2587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D7363-32E9-4432-A10F-A450F8052676}" type="pres">
      <dgm:prSet presAssocID="{2B269CAD-26B2-49B7-8DBE-9F0441B9BE1E}" presName="arrowWedge1" presStyleLbl="fgSibTrans2D1" presStyleIdx="0" presStyleCnt="3"/>
      <dgm:spPr>
        <a:solidFill>
          <a:srgbClr val="0CB87F"/>
        </a:solidFill>
      </dgm:spPr>
    </dgm:pt>
    <dgm:pt modelId="{EE594C67-07A8-4253-96DD-429D3EBFF105}" type="pres">
      <dgm:prSet presAssocID="{5F85C5D3-97EB-437D-BC96-722C0B626794}" presName="arrowWedge2" presStyleLbl="fgSibTrans2D1" presStyleIdx="1" presStyleCnt="3" custScaleX="121659" custScaleY="114947"/>
      <dgm:spPr>
        <a:solidFill>
          <a:srgbClr val="FF9412"/>
        </a:solidFill>
      </dgm:spPr>
    </dgm:pt>
    <dgm:pt modelId="{FBE90A44-D576-4B55-A365-B5C38D946CB1}" type="pres">
      <dgm:prSet presAssocID="{B0E0A821-4726-4C37-A1CE-BF1E908724BF}" presName="arrowWedge3" presStyleLbl="fgSibTrans2D1" presStyleIdx="2" presStyleCnt="3"/>
      <dgm:spPr>
        <a:solidFill>
          <a:srgbClr val="0CB87F"/>
        </a:solidFill>
      </dgm:spPr>
    </dgm:pt>
  </dgm:ptLst>
  <dgm:cxnLst>
    <dgm:cxn modelId="{A3BD1D09-917F-446D-BBFC-01EE249FBAC4}" srcId="{4DEA52EC-7676-47C9-8D53-46B739BD2587}" destId="{DBF283F7-617E-4082-A2AD-BFAAF939546A}" srcOrd="0" destOrd="0" parTransId="{48859DF4-1CAC-4FFA-950E-A8C3D6C6EDD0}" sibTransId="{2B269CAD-26B2-49B7-8DBE-9F0441B9BE1E}"/>
    <dgm:cxn modelId="{BB0E7396-0C60-44A9-95EE-3F01D4E9DE43}" type="presOf" srcId="{0BC66A2B-1DD2-4A8C-A7E6-4706A5A565F2}" destId="{EB2BDB46-B1F8-4502-BAF4-FF4CD80D55D7}" srcOrd="0" destOrd="0" presId="urn:microsoft.com/office/officeart/2005/8/layout/cycle8"/>
    <dgm:cxn modelId="{E0EB9B1E-AC48-4775-B852-9ACA75C44C78}" type="presOf" srcId="{0BC66A2B-1DD2-4A8C-A7E6-4706A5A565F2}" destId="{10A53F47-8ED4-4B0B-B765-C54515E800D2}" srcOrd="1" destOrd="0" presId="urn:microsoft.com/office/officeart/2005/8/layout/cycle8"/>
    <dgm:cxn modelId="{0B220C60-5818-43B2-939E-982284DA03A5}" type="presOf" srcId="{465ABD7E-49EC-43D9-97C5-6A4B67335834}" destId="{D5E000D8-9AAE-49A4-87FF-0642AB719E81}" srcOrd="0" destOrd="0" presId="urn:microsoft.com/office/officeart/2005/8/layout/cycle8"/>
    <dgm:cxn modelId="{9C4AFFA6-8D65-4D9A-ACAC-4F79155E5D3C}" type="presOf" srcId="{4DEA52EC-7676-47C9-8D53-46B739BD2587}" destId="{5B589FE8-1180-43E9-9DD9-8C60F02AF256}" srcOrd="0" destOrd="0" presId="urn:microsoft.com/office/officeart/2005/8/layout/cycle8"/>
    <dgm:cxn modelId="{054D30D1-3227-4A91-8F68-5D1E792E8774}" srcId="{4DEA52EC-7676-47C9-8D53-46B739BD2587}" destId="{0BC66A2B-1DD2-4A8C-A7E6-4706A5A565F2}" srcOrd="1" destOrd="0" parTransId="{53A6D6CB-1B65-4EC5-8C87-678BCA6B287D}" sibTransId="{5F85C5D3-97EB-437D-BC96-722C0B626794}"/>
    <dgm:cxn modelId="{221C58C9-64CB-4D36-BA60-E09FC27F6E29}" type="presOf" srcId="{DBF283F7-617E-4082-A2AD-BFAAF939546A}" destId="{B96C4C7D-8621-4D0F-BBC4-D8B0CA18F115}" srcOrd="1" destOrd="0" presId="urn:microsoft.com/office/officeart/2005/8/layout/cycle8"/>
    <dgm:cxn modelId="{645A2DB8-3540-49FE-A150-CFEC60E8473A}" type="presOf" srcId="{465ABD7E-49EC-43D9-97C5-6A4B67335834}" destId="{6DDCB976-2FE0-4A90-B6ED-DE80609CC20C}" srcOrd="1" destOrd="0" presId="urn:microsoft.com/office/officeart/2005/8/layout/cycle8"/>
    <dgm:cxn modelId="{A888CEDD-92B2-4708-BD8D-16EAECE9934F}" type="presOf" srcId="{DBF283F7-617E-4082-A2AD-BFAAF939546A}" destId="{ECE168B9-97D6-4F75-9289-AF0458231259}" srcOrd="0" destOrd="0" presId="urn:microsoft.com/office/officeart/2005/8/layout/cycle8"/>
    <dgm:cxn modelId="{26E01A93-AAB4-4B0E-9714-DDECC3C8A632}" srcId="{4DEA52EC-7676-47C9-8D53-46B739BD2587}" destId="{465ABD7E-49EC-43D9-97C5-6A4B67335834}" srcOrd="2" destOrd="0" parTransId="{F86C5027-5A3B-4A7A-A8C2-CE64D014DE97}" sibTransId="{B0E0A821-4726-4C37-A1CE-BF1E908724BF}"/>
    <dgm:cxn modelId="{2D01EE17-B314-4859-9BDA-46F0F211E530}" type="presParOf" srcId="{5B589FE8-1180-43E9-9DD9-8C60F02AF256}" destId="{ECE168B9-97D6-4F75-9289-AF0458231259}" srcOrd="0" destOrd="0" presId="urn:microsoft.com/office/officeart/2005/8/layout/cycle8"/>
    <dgm:cxn modelId="{650500E8-FF35-4B10-B79D-B941396585E3}" type="presParOf" srcId="{5B589FE8-1180-43E9-9DD9-8C60F02AF256}" destId="{936F56D5-CB26-4B20-B0FA-6C6FE1834F39}" srcOrd="1" destOrd="0" presId="urn:microsoft.com/office/officeart/2005/8/layout/cycle8"/>
    <dgm:cxn modelId="{AB88B786-4180-409E-85F7-4EEBABBE756B}" type="presParOf" srcId="{5B589FE8-1180-43E9-9DD9-8C60F02AF256}" destId="{F60AA58E-22C8-4E39-ACCD-DFB7D3AA2B40}" srcOrd="2" destOrd="0" presId="urn:microsoft.com/office/officeart/2005/8/layout/cycle8"/>
    <dgm:cxn modelId="{1AAC7621-A02D-4A4C-AC95-82D0C85496C1}" type="presParOf" srcId="{5B589FE8-1180-43E9-9DD9-8C60F02AF256}" destId="{B96C4C7D-8621-4D0F-BBC4-D8B0CA18F115}" srcOrd="3" destOrd="0" presId="urn:microsoft.com/office/officeart/2005/8/layout/cycle8"/>
    <dgm:cxn modelId="{4B728EB6-2227-4633-8AA0-4901097A64E9}" type="presParOf" srcId="{5B589FE8-1180-43E9-9DD9-8C60F02AF256}" destId="{EB2BDB46-B1F8-4502-BAF4-FF4CD80D55D7}" srcOrd="4" destOrd="0" presId="urn:microsoft.com/office/officeart/2005/8/layout/cycle8"/>
    <dgm:cxn modelId="{7063EAF8-E520-46FA-9921-53CBEDAE809C}" type="presParOf" srcId="{5B589FE8-1180-43E9-9DD9-8C60F02AF256}" destId="{BBCA0883-4239-43BF-8066-2531F61B2759}" srcOrd="5" destOrd="0" presId="urn:microsoft.com/office/officeart/2005/8/layout/cycle8"/>
    <dgm:cxn modelId="{229063A9-8402-4021-A75B-10C02AAA8DEC}" type="presParOf" srcId="{5B589FE8-1180-43E9-9DD9-8C60F02AF256}" destId="{31038F61-FB99-4A02-B9E3-757F8127A8F9}" srcOrd="6" destOrd="0" presId="urn:microsoft.com/office/officeart/2005/8/layout/cycle8"/>
    <dgm:cxn modelId="{3B0869B0-EBE4-4235-A72A-48598CC8C9C2}" type="presParOf" srcId="{5B589FE8-1180-43E9-9DD9-8C60F02AF256}" destId="{10A53F47-8ED4-4B0B-B765-C54515E800D2}" srcOrd="7" destOrd="0" presId="urn:microsoft.com/office/officeart/2005/8/layout/cycle8"/>
    <dgm:cxn modelId="{2395E4C2-6FCE-4E7A-9113-49B263ED1464}" type="presParOf" srcId="{5B589FE8-1180-43E9-9DD9-8C60F02AF256}" destId="{D5E000D8-9AAE-49A4-87FF-0642AB719E81}" srcOrd="8" destOrd="0" presId="urn:microsoft.com/office/officeart/2005/8/layout/cycle8"/>
    <dgm:cxn modelId="{04F98DAB-7911-48FC-81A4-5C43A9500CBB}" type="presParOf" srcId="{5B589FE8-1180-43E9-9DD9-8C60F02AF256}" destId="{8245ECD6-57B2-4F6F-B83D-4AB0EA52FE4D}" srcOrd="9" destOrd="0" presId="urn:microsoft.com/office/officeart/2005/8/layout/cycle8"/>
    <dgm:cxn modelId="{E26EA9AD-5807-4830-990A-9B6F1ED7FDFF}" type="presParOf" srcId="{5B589FE8-1180-43E9-9DD9-8C60F02AF256}" destId="{1074AF88-0D25-412C-97FA-37DFF9F6F7C9}" srcOrd="10" destOrd="0" presId="urn:microsoft.com/office/officeart/2005/8/layout/cycle8"/>
    <dgm:cxn modelId="{790547AE-AFE1-45A6-9C2E-524EF57980D5}" type="presParOf" srcId="{5B589FE8-1180-43E9-9DD9-8C60F02AF256}" destId="{6DDCB976-2FE0-4A90-B6ED-DE80609CC20C}" srcOrd="11" destOrd="0" presId="urn:microsoft.com/office/officeart/2005/8/layout/cycle8"/>
    <dgm:cxn modelId="{CCBB7E69-8F5E-4FC6-9EB1-F19FD377E4BF}" type="presParOf" srcId="{5B589FE8-1180-43E9-9DD9-8C60F02AF256}" destId="{E8DD7363-32E9-4432-A10F-A450F8052676}" srcOrd="12" destOrd="0" presId="urn:microsoft.com/office/officeart/2005/8/layout/cycle8"/>
    <dgm:cxn modelId="{986AC119-102B-478A-8B23-EA74D520442F}" type="presParOf" srcId="{5B589FE8-1180-43E9-9DD9-8C60F02AF256}" destId="{EE594C67-07A8-4253-96DD-429D3EBFF105}" srcOrd="13" destOrd="0" presId="urn:microsoft.com/office/officeart/2005/8/layout/cycle8"/>
    <dgm:cxn modelId="{FF2182A8-FE56-4B78-B033-6876598E0CB6}" type="presParOf" srcId="{5B589FE8-1180-43E9-9DD9-8C60F02AF256}" destId="{FBE90A44-D576-4B55-A365-B5C38D946CB1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168B9-97D6-4F75-9289-AF0458231259}">
      <dsp:nvSpPr>
        <dsp:cNvPr id="0" name=""/>
        <dsp:cNvSpPr/>
      </dsp:nvSpPr>
      <dsp:spPr>
        <a:xfrm>
          <a:off x="1329941" y="187629"/>
          <a:ext cx="3152167" cy="3152167"/>
        </a:xfrm>
        <a:prstGeom prst="pie">
          <a:avLst>
            <a:gd name="adj1" fmla="val 16200000"/>
            <a:gd name="adj2" fmla="val 1800000"/>
          </a:avLst>
        </a:prstGeom>
        <a:solidFill>
          <a:srgbClr val="CFF1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out come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2991208" y="855588"/>
        <a:ext cx="1125774" cy="938145"/>
      </dsp:txXfrm>
    </dsp:sp>
    <dsp:sp modelId="{EB2BDB46-B1F8-4502-BAF4-FF4CD80D55D7}">
      <dsp:nvSpPr>
        <dsp:cNvPr id="0" name=""/>
        <dsp:cNvSpPr/>
      </dsp:nvSpPr>
      <dsp:spPr>
        <a:xfrm>
          <a:off x="923657" y="64629"/>
          <a:ext cx="3834895" cy="3623321"/>
        </a:xfrm>
        <a:prstGeom prst="pie">
          <a:avLst>
            <a:gd name="adj1" fmla="val 1800000"/>
            <a:gd name="adj2" fmla="val 9000000"/>
          </a:avLst>
        </a:prstGeom>
        <a:solidFill>
          <a:srgbClr val="FFD7A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latent variables</a:t>
          </a:r>
          <a:endParaRPr lang="en-US" sz="2800" b="1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1836728" y="2415474"/>
        <a:ext cx="2054408" cy="948965"/>
      </dsp:txXfrm>
    </dsp:sp>
    <dsp:sp modelId="{D5E000D8-9AAE-49A4-87FF-0642AB719E81}">
      <dsp:nvSpPr>
        <dsp:cNvPr id="0" name=""/>
        <dsp:cNvSpPr/>
      </dsp:nvSpPr>
      <dsp:spPr>
        <a:xfrm>
          <a:off x="1200102" y="187629"/>
          <a:ext cx="3152167" cy="3152167"/>
        </a:xfrm>
        <a:prstGeom prst="pie">
          <a:avLst>
            <a:gd name="adj1" fmla="val 9000000"/>
            <a:gd name="adj2" fmla="val 16200000"/>
          </a:avLst>
        </a:prstGeom>
        <a:solidFill>
          <a:srgbClr val="CFF1E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solidFill>
                <a:schemeClr val="tx1"/>
              </a:solidFill>
              <a:latin typeface="Bahnschrift" panose="020B0502040204020203" pitchFamily="34" charset="0"/>
              <a:ea typeface="+mn-ea"/>
              <a:cs typeface="+mn-cs"/>
            </a:rPr>
            <a:t>choice</a:t>
          </a:r>
          <a:endParaRPr lang="en-US" sz="2800" kern="1200" dirty="0">
            <a:solidFill>
              <a:schemeClr val="tx1"/>
            </a:solidFill>
            <a:latin typeface="Bahnschrift" panose="020B0502040204020203" pitchFamily="34" charset="0"/>
            <a:ea typeface="+mn-ea"/>
            <a:cs typeface="+mn-cs"/>
          </a:endParaRPr>
        </a:p>
      </dsp:txBody>
      <dsp:txXfrm>
        <a:off x="1565228" y="855588"/>
        <a:ext cx="1125774" cy="938145"/>
      </dsp:txXfrm>
    </dsp:sp>
    <dsp:sp modelId="{E8DD7363-32E9-4432-A10F-A450F8052676}">
      <dsp:nvSpPr>
        <dsp:cNvPr id="0" name=""/>
        <dsp:cNvSpPr/>
      </dsp:nvSpPr>
      <dsp:spPr>
        <a:xfrm>
          <a:off x="1135067" y="-7505"/>
          <a:ext cx="3542435" cy="354243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0CB8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94C67-07A8-4253-96DD-429D3EBFF105}">
      <dsp:nvSpPr>
        <dsp:cNvPr id="0" name=""/>
        <dsp:cNvSpPr/>
      </dsp:nvSpPr>
      <dsp:spPr>
        <a:xfrm>
          <a:off x="681516" y="-162963"/>
          <a:ext cx="4309691" cy="4071923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FF941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90A44-D576-4B55-A365-B5C38D946CB1}">
      <dsp:nvSpPr>
        <dsp:cNvPr id="0" name=""/>
        <dsp:cNvSpPr/>
      </dsp:nvSpPr>
      <dsp:spPr>
        <a:xfrm>
          <a:off x="1004707" y="-7505"/>
          <a:ext cx="3542435" cy="354243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0CB8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9028-7B03-4B02-885C-D77113521619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AF040-EF21-481B-90AC-C83BDA3491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43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5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803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20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3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4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2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57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52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8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24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86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F51E0-DBB7-4D25-9D37-AF761FC91A0D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9F03E-0454-4873-96B1-F60F4F615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87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zeta_mathematical_visualizer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Reward Encoding during a two-armed bandit task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CNB Lab </a:t>
            </a:r>
            <a:r>
              <a:rPr lang="de-DE" dirty="0">
                <a:latin typeface="Bahnschrift" panose="020B0502040204020203" pitchFamily="34" charset="0"/>
              </a:rPr>
              <a:t>· </a:t>
            </a:r>
            <a:r>
              <a:rPr lang="de-DE" dirty="0" smtClean="0"/>
              <a:t>Manuel Stammler </a:t>
            </a:r>
            <a:r>
              <a:rPr lang="de-DE" dirty="0" smtClean="0">
                <a:latin typeface="Bahnschrift" panose="020B0502040204020203" pitchFamily="34" charset="0"/>
              </a:rPr>
              <a:t>· </a:t>
            </a:r>
            <a:r>
              <a:rPr lang="de-DE" sz="2000" i="1" dirty="0" smtClean="0">
                <a:solidFill>
                  <a:schemeClr val="bg2">
                    <a:lumMod val="75000"/>
                  </a:schemeClr>
                </a:solidFill>
                <a:latin typeface="Bahnschrift" panose="020B0502040204020203" pitchFamily="34" charset="0"/>
              </a:rPr>
              <a:t>26.04.2026</a:t>
            </a:r>
            <a:r>
              <a:rPr lang="de-DE" sz="2000" i="1" dirty="0" smtClean="0">
                <a:solidFill>
                  <a:schemeClr val="bg2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endParaRPr lang="en-GB" sz="2000" i="1" dirty="0">
              <a:solidFill>
                <a:schemeClr val="bg2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3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78953" y="1407985"/>
            <a:ext cx="12776548" cy="5558872"/>
          </a:xfrm>
          <a:prstGeom prst="rect">
            <a:avLst/>
          </a:prstGeom>
          <a:solidFill>
            <a:srgbClr val="FFFDF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838201" y="365125"/>
            <a:ext cx="4154714" cy="912132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>
                <a:solidFill>
                  <a:schemeClr val="tx1"/>
                </a:solidFill>
                <a:latin typeface="Geneva" panose="020B0503030404040204" pitchFamily="34" charset="0"/>
              </a:rPr>
              <a:t>Project </a:t>
            </a:r>
            <a:r>
              <a:rPr lang="de-DE" sz="3200" b="1" dirty="0" smtClean="0">
                <a:solidFill>
                  <a:schemeClr val="tx1"/>
                </a:solidFill>
                <a:latin typeface="Geneva" panose="020B0503030404040204" pitchFamily="34" charset="0"/>
              </a:rPr>
              <a:t>summary</a:t>
            </a:r>
            <a:endParaRPr lang="en-GB" sz="3200" b="1" dirty="0">
              <a:solidFill>
                <a:schemeClr val="tx1"/>
              </a:solidFill>
              <a:latin typeface="Geneva" panose="020B05030304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" panose="020B0502040204020203" pitchFamily="34" charset="0"/>
              </a:rPr>
              <a:t>Introduction</a:t>
            </a:r>
            <a:r>
              <a:rPr lang="de-DE" dirty="0" smtClean="0"/>
              <a:t> to 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 smtClean="0">
              <a:latin typeface="Bahnschrift" panose="020B0502040204020203" pitchFamily="34" charset="0"/>
            </a:endParaRPr>
          </a:p>
          <a:p>
            <a:r>
              <a:rPr lang="de-DE" dirty="0" smtClean="0">
                <a:latin typeface="Bahnschrift" panose="020B0502040204020203" pitchFamily="34" charset="0"/>
              </a:rPr>
              <a:t>Bachelor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Master</a:t>
            </a:r>
          </a:p>
          <a:p>
            <a:endParaRPr lang="en-GB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01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 smtClean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 smtClean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 smtClean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8" b="9335"/>
          <a:stretch/>
        </p:blipFill>
        <p:spPr>
          <a:xfrm>
            <a:off x="6516914" y="1825625"/>
            <a:ext cx="5675086" cy="4484915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7" name="TextBox 6"/>
          <p:cNvSpPr txBox="1"/>
          <p:nvPr/>
        </p:nvSpPr>
        <p:spPr>
          <a:xfrm>
            <a:off x="6905625" y="2038350"/>
            <a:ext cx="1868075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Middle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09973" y="2117993"/>
            <a:ext cx="1880002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Supramarginal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96525" y="2660054"/>
            <a:ext cx="1326004" cy="33855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Angular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765131" y="5794473"/>
            <a:ext cx="1900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Inferior frontal gyrus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51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78714" cy="43513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de-DE" dirty="0" smtClean="0">
                <a:solidFill>
                  <a:srgbClr val="088259"/>
                </a:solidFill>
                <a:latin typeface="Bahnschrift" panose="020B0502040204020203" pitchFamily="34" charset="0"/>
              </a:rPr>
              <a:t>Stroke patient </a:t>
            </a:r>
            <a:r>
              <a:rPr lang="de-DE" dirty="0" smtClean="0">
                <a:latin typeface="Bahnschrift" panose="020B0502040204020203" pitchFamily="34" charset="0"/>
              </a:rPr>
              <a:t>with chronically implanted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electrode array</a:t>
            </a:r>
          </a:p>
          <a:p>
            <a:r>
              <a:rPr lang="de-DE" dirty="0" smtClean="0">
                <a:latin typeface="Bahnschrift" panose="020B0502040204020203" pitchFamily="34" charset="0"/>
              </a:rPr>
              <a:t>Spikes sorted into units and sampled at </a:t>
            </a: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30kHz</a:t>
            </a:r>
          </a:p>
          <a:p>
            <a:pPr>
              <a:buClr>
                <a:schemeClr val="tx1"/>
              </a:buClr>
            </a:pPr>
            <a:r>
              <a:rPr lang="de-DE" dirty="0">
                <a:solidFill>
                  <a:srgbClr val="088259"/>
                </a:solidFill>
                <a:latin typeface="Bahnschrift" panose="020B0502040204020203" pitchFamily="34" charset="0"/>
              </a:rPr>
              <a:t>Four</a:t>
            </a:r>
            <a:r>
              <a:rPr lang="de-DE" dirty="0" smtClean="0">
                <a:latin typeface="Bahnschrift" panose="020B0502040204020203" pitchFamily="34" charset="0"/>
              </a:rPr>
              <a:t> recorded cortical regions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Frontal: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MFG &amp; IFG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Parietal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de-DE" dirty="0" smtClean="0">
                <a:latin typeface="Bahnschrift" panose="020B0502040204020203" pitchFamily="34" charset="0"/>
              </a:rPr>
              <a:t>SMG &amp; AG</a:t>
            </a:r>
          </a:p>
          <a:p>
            <a:pPr lvl="1">
              <a:buClr>
                <a:schemeClr val="tx1"/>
              </a:buClr>
            </a:pP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962775" y="5848350"/>
            <a:ext cx="1604963" cy="20002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266"/>
          <a:stretch/>
        </p:blipFill>
        <p:spPr>
          <a:xfrm>
            <a:off x="7595599" y="309093"/>
            <a:ext cx="3835475" cy="62629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Bahnschrift SemiBold" panose="020B0502040204020203" pitchFamily="34" charset="0"/>
              </a:rPr>
              <a:t>Project Summary</a:t>
            </a:r>
            <a:endParaRPr lang="en-GB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9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smtClean="0"/>
              <a:t>Project Summary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242696" y="1416582"/>
            <a:ext cx="12646152" cy="3758705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395664"/>
              </p:ext>
            </p:extLst>
          </p:nvPr>
        </p:nvGraphicFramePr>
        <p:xfrm>
          <a:off x="2016380" y="3958806"/>
          <a:ext cx="812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19694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68812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b="1" dirty="0" smtClean="0">
                          <a:latin typeface="Bahnschrift" panose="020B0502040204020203" pitchFamily="34" charset="0"/>
                        </a:rPr>
                        <a:t>Safe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598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1" dirty="0" smtClean="0">
                          <a:latin typeface="Bahnschrift" panose="020B0502040204020203" pitchFamily="34" charset="0"/>
                        </a:rPr>
                        <a:t>Gamble</a:t>
                      </a:r>
                      <a:r>
                        <a:rPr lang="de-DE" sz="1800" b="1" baseline="0" dirty="0" smtClean="0">
                          <a:latin typeface="Bahnschrift" panose="020B0502040204020203" pitchFamily="34" charset="0"/>
                        </a:rPr>
                        <a:t> Side</a:t>
                      </a:r>
                      <a:endParaRPr lang="en-GB" sz="1800" b="1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9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66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1x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4x reward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86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guaranteed probability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varying probability: {0.1, 0.2, 0.4, 0.8}</a:t>
                      </a:r>
                      <a:endParaRPr lang="en-GB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47317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~3 seconds trial start to trial end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74224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~2h per session duration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267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0" dirty="0" smtClean="0">
                          <a:latin typeface="Bahnschrift" panose="020B0502040204020203" pitchFamily="34" charset="0"/>
                        </a:rPr>
                        <a:t>          randomized probability schedule per session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78732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0" y="81775"/>
            <a:ext cx="12160760" cy="3593681"/>
            <a:chOff x="0" y="81775"/>
            <a:chExt cx="12160760" cy="3593681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1775"/>
              <a:ext cx="12160760" cy="3593681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4424856" y="81775"/>
              <a:ext cx="321273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1400" dirty="0" smtClean="0">
                  <a:latin typeface="Bahnschrift" panose="020B0502040204020203" pitchFamily="34" charset="0"/>
                </a:rPr>
                <a:t>Choice Behaviour – Session 21.05.2025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51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0.00534 -0.222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42931"/>
              </p:ext>
            </p:extLst>
          </p:nvPr>
        </p:nvGraphicFramePr>
        <p:xfrm>
          <a:off x="838200" y="2300945"/>
          <a:ext cx="10515600" cy="3505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7702451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47104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07119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5523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623097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44841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Session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Trials (resp.)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Units (</a:t>
                      </a:r>
                      <a:r>
                        <a:rPr lang="en-GB" b="1" dirty="0" err="1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su</a:t>
                      </a: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/mu)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Rec. (min)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Gamble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  <a:latin typeface="Bahnschrift SemiBold" panose="020B0502040204020203" pitchFamily="34" charset="0"/>
                        </a:rPr>
                        <a:t>Reward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44C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7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20250521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1009 (939)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252 (180/72)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0.42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0.77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84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20250602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1018 (947)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214 (152/62)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1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20250605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1037 (962)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241 (167/74)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143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6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635 (507)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215 (165/50)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70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5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911 (772)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220 (167/53)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129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0.38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4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20250709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694 (639)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225 (184/41)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25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984 (902)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249 (191/58)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135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0.36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57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20250714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1006 (959)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  <a:latin typeface="Bahnschrift" panose="020B0502040204020203" pitchFamily="34" charset="0"/>
                        </a:rPr>
                        <a:t>229 (180/49)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0.40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4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Total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7294 (6627)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1845 (1386/459)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  <a:latin typeface="Bahnschrift" panose="020B0502040204020203" pitchFamily="34" charset="0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0.37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dirty="0">
                          <a:effectLst/>
                          <a:latin typeface="Bahnschrift" panose="020B0502040204020203" pitchFamily="34" charset="0"/>
                        </a:rPr>
                        <a:t>0.80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20000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8200" y="479255"/>
            <a:ext cx="1904999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8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sessions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7754" y="514371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6,627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>
                <a:solidFill>
                  <a:schemeClr val="tx1"/>
                </a:solidFill>
                <a:latin typeface="Bahnschrift" panose="020B0502040204020203" pitchFamily="34" charset="0"/>
              </a:rPr>
              <a:t>r</a:t>
            </a:r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esponding trials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8605" y="479254"/>
            <a:ext cx="2915195" cy="1516561"/>
          </a:xfrm>
          <a:prstGeom prst="roundRect">
            <a:avLst>
              <a:gd name="adj" fmla="val 37941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37%</a:t>
            </a:r>
            <a:endParaRPr lang="de-DE" sz="3200" b="1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de-DE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Gamble rate</a:t>
            </a:r>
            <a:endParaRPr lang="en-GB" sz="32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2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latin typeface="Bahnschrift SemiBold" panose="020B0502040204020203" pitchFamily="34" charset="0"/>
              </a:rPr>
              <a:t>Research Questions</a:t>
            </a:r>
            <a:endParaRPr lang="en-GB" dirty="0">
              <a:latin typeface="Bahnschrift SemiBold" panose="020B0502040204020203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38200" y="1795192"/>
            <a:ext cx="4517571" cy="3939403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1 · Selectivity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Are 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there neurons that respond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differently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to </a:t>
            </a:r>
            <a:r>
              <a:rPr lang="de-DE" sz="2800" dirty="0">
                <a:solidFill>
                  <a:srgbClr val="FF9412"/>
                </a:solidFill>
                <a:latin typeface="Bahnschrift" panose="020B0502040204020203" pitchFamily="34" charset="0"/>
              </a:rPr>
              <a:t>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vs </a:t>
            </a:r>
            <a:r>
              <a:rPr lang="de-DE" sz="2800" dirty="0">
                <a:solidFill>
                  <a:srgbClr val="C00000"/>
                </a:solidFill>
                <a:latin typeface="Bahnschrift" panose="020B0502040204020203" pitchFamily="34" charset="0"/>
              </a:rPr>
              <a:t>no reward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in the </a:t>
            </a:r>
            <a:r>
              <a:rPr lang="de-DE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gamble</a:t>
            </a:r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arm?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66114" y="179519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2 </a:t>
            </a:r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· Latent Variable encoding</a:t>
            </a:r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Do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neuronal firing rates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encode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prediction errors </a:t>
            </a:r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estimated from a computational </a:t>
            </a:r>
            <a:r>
              <a:rPr lang="en-GB" sz="2800" b="1" dirty="0">
                <a:solidFill>
                  <a:schemeClr val="tx1"/>
                </a:solidFill>
                <a:latin typeface="Bahnschrift" panose="020B0502040204020203" pitchFamily="34" charset="0"/>
              </a:rPr>
              <a:t>model of behaviour</a:t>
            </a:r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?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2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-419100" y="-122585"/>
            <a:ext cx="4314824" cy="7237760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524" y="1907827"/>
            <a:ext cx="762000" cy="4578524"/>
          </a:xfrm>
        </p:spPr>
        <p:txBody>
          <a:bodyPr/>
          <a:lstStyle/>
          <a:p>
            <a:pPr marL="0" indent="0">
              <a:buNone/>
            </a:pPr>
            <a:r>
              <a:rPr lang="de-DE" sz="5400" b="1" dirty="0" smtClean="0"/>
              <a:t>Z</a:t>
            </a:r>
          </a:p>
          <a:p>
            <a:pPr marL="0" indent="0">
              <a:buNone/>
            </a:pPr>
            <a:r>
              <a:rPr lang="de-DE" sz="5400" b="1" dirty="0" smtClean="0"/>
              <a:t>E</a:t>
            </a:r>
          </a:p>
          <a:p>
            <a:pPr marL="0" indent="0">
              <a:buNone/>
            </a:pPr>
            <a:r>
              <a:rPr lang="de-DE" sz="5400" b="1" dirty="0" smtClean="0"/>
              <a:t>T   </a:t>
            </a:r>
          </a:p>
          <a:p>
            <a:pPr marL="0" indent="0">
              <a:buNone/>
            </a:pPr>
            <a:r>
              <a:rPr lang="de-DE" sz="5400" b="1" dirty="0" smtClean="0"/>
              <a:t>A</a:t>
            </a:r>
            <a:endParaRPr lang="de-DE" sz="4000" b="1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-755203" y="-122586"/>
            <a:ext cx="13137703" cy="1628775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95724" y="1907827"/>
            <a:ext cx="11163300" cy="457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enith of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vent-based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ime locked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5400" dirty="0" smtClean="0"/>
              <a:t>nomalies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4680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 test for time-locked spiking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Pool spike times relative to the event across all trials.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Build their </a:t>
            </a:r>
            <a:r>
              <a:rPr lang="en-GB" b="1" dirty="0"/>
              <a:t>cumulative distribution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Compare to the flat line expected if spikes were </a:t>
            </a:r>
            <a:r>
              <a:rPr lang="en-GB" b="1" dirty="0"/>
              <a:t>uniformly</a:t>
            </a:r>
            <a:r>
              <a:rPr lang="en-GB" dirty="0"/>
              <a:t> spread (no time-locking).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 </a:t>
            </a:r>
            <a:r>
              <a:rPr lang="en-GB" b="1" dirty="0"/>
              <a:t>largest deviation</a:t>
            </a:r>
            <a:r>
              <a:rPr lang="en-GB" dirty="0"/>
              <a:t> from that line is ZETA; its timing is the </a:t>
            </a:r>
            <a:r>
              <a:rPr lang="en-GB" b="1" dirty="0"/>
              <a:t>zenith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Significance from </a:t>
            </a:r>
            <a:r>
              <a:rPr lang="en-GB" b="1" dirty="0"/>
              <a:t>jittered</a:t>
            </a:r>
            <a:r>
              <a:rPr lang="en-GB" dirty="0"/>
              <a:t> resampling of event times.</a:t>
            </a:r>
          </a:p>
        </p:txBody>
      </p:sp>
    </p:spTree>
    <p:extLst>
      <p:ext uri="{BB962C8B-B14F-4D97-AF65-F5344CB8AC3E}">
        <p14:creationId xmlns:p14="http://schemas.microsoft.com/office/powerpoint/2010/main" val="418028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 visualization</a:t>
            </a:r>
            <a:endParaRPr lang="en-GB" dirty="0"/>
          </a:p>
        </p:txBody>
      </p:sp>
      <p:pic>
        <p:nvPicPr>
          <p:cNvPr id="7" name="Picture 6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36" y="1690688"/>
            <a:ext cx="7892370" cy="49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614" y="1549101"/>
            <a:ext cx="5529798" cy="516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smtClean="0"/>
              <a:t>ZETA visualization</a:t>
            </a:r>
            <a:endParaRPr lang="en-GB" dirty="0"/>
          </a:p>
        </p:txBody>
      </p:sp>
      <p:sp>
        <p:nvSpPr>
          <p:cNvPr id="11" name="Rounded Rectangle 10"/>
          <p:cNvSpPr/>
          <p:nvPr/>
        </p:nvSpPr>
        <p:spPr>
          <a:xfrm>
            <a:off x="6928693" y="2111742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Normalized</a:t>
            </a:r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cumulative spike count</a:t>
            </a: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Mean-subtracted </a:t>
            </a:r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spike density deviation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6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2894"/>
            <a:ext cx="3928813" cy="36664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12" y="2406320"/>
            <a:ext cx="8165505" cy="35299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smtClean="0"/>
              <a:t>ZETA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62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12008"/>
            <a:ext cx="5733757" cy="5345992"/>
          </a:xfrm>
        </p:spPr>
      </p:pic>
      <p:sp>
        <p:nvSpPr>
          <p:cNvPr id="7" name="Rectangle 6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6725493" y="2167405"/>
            <a:ext cx="4887686" cy="4035197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⇦ Cumulative</a:t>
            </a:r>
            <a:r>
              <a:rPr lang="en-GB" sz="28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Spikes/Trial</a:t>
            </a:r>
            <a:endParaRPr lang="en-GB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Bahnschrift" panose="020B0502040204020203" pitchFamily="34" charset="0"/>
              </a:rPr>
              <a:t>⇦ </a:t>
            </a:r>
            <a:r>
              <a:rPr lang="en-GB" sz="28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Mean-subtracted difference </a:t>
            </a:r>
            <a:r>
              <a:rPr lang="en-GB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in cumulative spikes/trial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de-DE" sz="28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ZETA2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26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151" y="1956744"/>
            <a:ext cx="7852049" cy="43551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8953" y="-395763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2" y="2168872"/>
            <a:ext cx="3982909" cy="37135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ZETA2 visualization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72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86" y="1591161"/>
            <a:ext cx="11818027" cy="4402016"/>
          </a:xfrm>
        </p:spPr>
      </p:pic>
    </p:spTree>
    <p:extLst>
      <p:ext uri="{BB962C8B-B14F-4D97-AF65-F5344CB8AC3E}">
        <p14:creationId xmlns:p14="http://schemas.microsoft.com/office/powerpoint/2010/main" val="153976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ZETA2 visualization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" y="1690688"/>
            <a:ext cx="12127380" cy="4653411"/>
          </a:xfrm>
        </p:spPr>
      </p:pic>
    </p:spTree>
    <p:extLst>
      <p:ext uri="{BB962C8B-B14F-4D97-AF65-F5344CB8AC3E}">
        <p14:creationId xmlns:p14="http://schemas.microsoft.com/office/powerpoint/2010/main" val="413427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ZETA2 results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24000"/>
            <a:ext cx="7464314" cy="5318234"/>
          </a:xfrm>
        </p:spPr>
      </p:pic>
      <p:sp>
        <p:nvSpPr>
          <p:cNvPr id="5" name="Rounded Rectangle 4"/>
          <p:cNvSpPr/>
          <p:nvPr/>
        </p:nvSpPr>
        <p:spPr>
          <a:xfrm>
            <a:off x="7882758" y="2228193"/>
            <a:ext cx="4064961" cy="3614456"/>
          </a:xfrm>
          <a:prstGeom prst="roundRect">
            <a:avLst>
              <a:gd name="adj" fmla="val 5845"/>
            </a:avLst>
          </a:prstGeom>
          <a:solidFill>
            <a:srgbClr val="FFFDF7"/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800" dirty="0">
                <a:solidFill>
                  <a:schemeClr val="tx1"/>
                </a:solidFill>
                <a:latin typeface="Bahnschrift" panose="020B0502040204020203" pitchFamily="34" charset="0"/>
              </a:rPr>
              <a:t>r</a:t>
            </a:r>
            <a:r>
              <a:rPr lang="de-DE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eward outcome selectivity is primarily frontal</a:t>
            </a:r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0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Why behavioural modelling?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16833" cy="4351338"/>
          </a:xfrm>
        </p:spPr>
        <p:txBody>
          <a:bodyPr/>
          <a:lstStyle/>
          <a:p>
            <a:r>
              <a:rPr lang="de-DE" dirty="0" smtClean="0"/>
              <a:t>We can only observe the </a:t>
            </a:r>
            <a:r>
              <a:rPr lang="de-DE" b="1" dirty="0" smtClean="0">
                <a:solidFill>
                  <a:srgbClr val="0CB87F"/>
                </a:solidFill>
              </a:rPr>
              <a:t>choices</a:t>
            </a:r>
            <a:r>
              <a:rPr lang="de-DE" dirty="0" smtClean="0"/>
              <a:t> made and their </a:t>
            </a:r>
            <a:r>
              <a:rPr lang="de-DE" b="1" dirty="0" smtClean="0">
                <a:solidFill>
                  <a:srgbClr val="0CB87F"/>
                </a:solidFill>
              </a:rPr>
              <a:t>outcomes </a:t>
            </a:r>
            <a:r>
              <a:rPr lang="de-DE" dirty="0" smtClean="0"/>
              <a:t>but not the </a:t>
            </a:r>
            <a:r>
              <a:rPr lang="de-DE" b="1" dirty="0" smtClean="0">
                <a:solidFill>
                  <a:srgbClr val="FF9412"/>
                </a:solidFill>
              </a:rPr>
              <a:t>cognitive variables </a:t>
            </a:r>
            <a:r>
              <a:rPr lang="de-DE" dirty="0" smtClean="0"/>
              <a:t>that drive them:</a:t>
            </a:r>
          </a:p>
          <a:p>
            <a:pPr lvl="1"/>
            <a:r>
              <a:rPr lang="de-DE" dirty="0" smtClean="0"/>
              <a:t>Belief about probability</a:t>
            </a:r>
          </a:p>
          <a:p>
            <a:pPr lvl="1"/>
            <a:r>
              <a:rPr lang="de-DE" dirty="0" smtClean="0"/>
              <a:t>Prediction error</a:t>
            </a:r>
          </a:p>
          <a:p>
            <a:pPr lvl="1"/>
            <a:r>
              <a:rPr lang="de-DE" dirty="0" smtClean="0"/>
              <a:t>Expected Reward</a:t>
            </a:r>
          </a:p>
          <a:p>
            <a:pPr lvl="1"/>
            <a:r>
              <a:rPr lang="de-DE" dirty="0" smtClean="0"/>
              <a:t>...</a:t>
            </a:r>
          </a:p>
          <a:p>
            <a:r>
              <a:rPr lang="de-DE" dirty="0" smtClean="0"/>
              <a:t>A behavioural model is </a:t>
            </a:r>
            <a:r>
              <a:rPr lang="de-DE" b="1" dirty="0" smtClean="0"/>
              <a:t>a generative rule </a:t>
            </a:r>
            <a:r>
              <a:rPr lang="de-DE" dirty="0" smtClean="0"/>
              <a:t>fit to the participants choice</a:t>
            </a:r>
            <a:endParaRPr lang="de-DE" dirty="0"/>
          </a:p>
          <a:p>
            <a:endParaRPr lang="en-GB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90946605"/>
              </p:ext>
            </p:extLst>
          </p:nvPr>
        </p:nvGraphicFramePr>
        <p:xfrm>
          <a:off x="6986382" y="1825625"/>
          <a:ext cx="5682211" cy="3752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017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Rescorla </a:t>
            </a:r>
            <a:r>
              <a:rPr lang="de-DE" dirty="0" smtClean="0"/>
              <a:t>wagner/ Q-learning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2443454"/>
            <a:ext cx="10515600" cy="1475178"/>
            <a:chOff x="838200" y="2226352"/>
            <a:chExt cx="10515600" cy="14751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ounded Rectangle 5"/>
                <p:cNvSpPr/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GB" sz="2800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GB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prediction error (“surprise”);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GB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learning rate</a:t>
                  </a:r>
                  <a:endParaRPr lang="en-GB" sz="24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8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838200" y="4817765"/>
            <a:ext cx="10515600" cy="1475178"/>
            <a:chOff x="838200" y="4266223"/>
            <a:chExt cx="10515600" cy="14751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ounded Rectangle 7"/>
                <p:cNvSpPr/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endParaRPr lang="en-GB" sz="2800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DE" sz="24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r>
                    <a:rPr lang="de-DE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temperature</a:t>
                  </a:r>
                  <a:endParaRPr lang="en-GB" sz="24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245525" y="4569568"/>
                  <a:ext cx="370094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𝑔𝑎𝑚𝑏𝑙𝑒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525" y="4569568"/>
                  <a:ext cx="3700949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927100" y="1886858"/>
            <a:ext cx="1033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Bahnschrift" panose="020B0502040204020203" pitchFamily="34" charset="0"/>
              </a:rPr>
              <a:t>For each side</a:t>
            </a:r>
            <a:r>
              <a:rPr lang="de-DE" sz="2800" dirty="0" smtClean="0">
                <a:latin typeface="Bahnschrift" panose="020B0502040204020203" pitchFamily="34" charset="0"/>
              </a:rPr>
              <a:t>:</a:t>
            </a: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 smtClean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 smtClean="0">
              <a:latin typeface="Bahnschrift" panose="020B0502040204020203" pitchFamily="34" charset="0"/>
            </a:endParaRPr>
          </a:p>
          <a:p>
            <a:r>
              <a:rPr lang="de-DE" sz="2800" dirty="0" smtClean="0">
                <a:latin typeface="Bahnschrift" panose="020B0502040204020203" pitchFamily="34" charset="0"/>
              </a:rPr>
              <a:t>Their difference is used to calculate the probability to gamble:</a:t>
            </a:r>
            <a:endParaRPr lang="de-DE" sz="2800" dirty="0">
              <a:latin typeface="Bahnschrift" panose="020B0502040204020203" pitchFamily="34" charset="0"/>
            </a:endParaRPr>
          </a:p>
          <a:p>
            <a:endParaRPr lang="en-GB" sz="28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7946474" y="4545597"/>
                <a:ext cx="2507295" cy="1502310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474" y="4545597"/>
                <a:ext cx="2507295" cy="1502310"/>
              </a:xfrm>
              <a:prstGeom prst="roundRect">
                <a:avLst>
                  <a:gd name="adj" fmla="val 5845"/>
                </a:avLst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00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Rescorla </a:t>
            </a:r>
            <a:r>
              <a:rPr lang="de-DE" dirty="0" smtClean="0"/>
              <a:t>wagner/ Q-learning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2443454"/>
            <a:ext cx="10515600" cy="1475178"/>
            <a:chOff x="838200" y="2226352"/>
            <a:chExt cx="10515600" cy="14751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ounded Rectangle 5"/>
                <p:cNvSpPr/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GB" sz="2800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GB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GB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prediction error (“surprise”);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GB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= learning rate</a:t>
                  </a:r>
                  <a:endParaRPr lang="en-GB" sz="24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26352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8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907" y="2396061"/>
                  <a:ext cx="1993559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600" y="2395475"/>
                  <a:ext cx="2492285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838200" y="4817765"/>
            <a:ext cx="10515600" cy="1475178"/>
            <a:chOff x="838200" y="4266223"/>
            <a:chExt cx="10515600" cy="14751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ounded Rectangle 7"/>
                <p:cNvSpPr/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solidFill>
                  <a:srgbClr val="FFFDF7"/>
                </a:solid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GB" sz="2800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endParaRPr lang="en-GB" sz="2800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de-D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de-DE" sz="2400" dirty="0" smtClean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r>
                    <a:rPr lang="de-DE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temperature;</a:t>
                  </a:r>
                  <a:r>
                    <a:rPr lang="de-DE" sz="2400" dirty="0" smtClean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e-D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±1=</m:t>
                      </m:r>
                    </m:oMath>
                  </a14:m>
                  <a:r>
                    <a:rPr lang="en-GB" sz="2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previous choice;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ϕ</m:t>
                      </m:r>
                      <m:r>
                        <a:rPr lang="de-DE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sz="2400" dirty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 weights </a:t>
                  </a:r>
                  <a:r>
                    <a:rPr lang="en-GB" sz="2400" dirty="0" smtClean="0">
                      <a:solidFill>
                        <a:schemeClr val="tx1"/>
                      </a:solidFill>
                      <a:latin typeface="Bahnschrift" panose="020B0502040204020203" pitchFamily="34" charset="0"/>
                    </a:rPr>
                    <a:t>perseveration</a:t>
                  </a:r>
                  <a:endParaRPr lang="en-GB" sz="2400" dirty="0">
                    <a:solidFill>
                      <a:schemeClr val="tx1"/>
                    </a:solidFill>
                    <a:latin typeface="Bahnschrift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266223"/>
                  <a:ext cx="10515600" cy="1475178"/>
                </a:xfrm>
                <a:prstGeom prst="roundRect">
                  <a:avLst>
                    <a:gd name="adj" fmla="val 5845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7620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3297221" y="4543897"/>
                  <a:ext cx="501784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𝑔𝑎𝑚𝑏𝑙𝑒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221" y="4543897"/>
                  <a:ext cx="5017849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927100" y="1886858"/>
            <a:ext cx="10337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Bahnschrift" panose="020B0502040204020203" pitchFamily="34" charset="0"/>
              </a:rPr>
              <a:t>For each side</a:t>
            </a:r>
            <a:r>
              <a:rPr lang="de-DE" sz="2800" dirty="0" smtClean="0">
                <a:latin typeface="Bahnschrift" panose="020B0502040204020203" pitchFamily="34" charset="0"/>
              </a:rPr>
              <a:t>:</a:t>
            </a: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 smtClean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endParaRPr lang="de-DE" sz="2800" dirty="0" smtClean="0">
              <a:latin typeface="Bahnschrift" panose="020B0502040204020203" pitchFamily="34" charset="0"/>
            </a:endParaRPr>
          </a:p>
          <a:p>
            <a:r>
              <a:rPr lang="de-DE" sz="2800" dirty="0" smtClean="0">
                <a:latin typeface="Bahnschrift" panose="020B0502040204020203" pitchFamily="34" charset="0"/>
              </a:rPr>
              <a:t>Their difference is used to calculate the probability to gamble:</a:t>
            </a:r>
            <a:endParaRPr lang="de-DE" sz="2800" dirty="0">
              <a:latin typeface="Bahnschrift" panose="020B0502040204020203" pitchFamily="34" charset="0"/>
            </a:endParaRPr>
          </a:p>
          <a:p>
            <a:endParaRPr lang="en-GB" sz="28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12557098" y="2439693"/>
                <a:ext cx="4106573" cy="2871189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098" y="2439693"/>
                <a:ext cx="4106573" cy="2871189"/>
              </a:xfrm>
              <a:prstGeom prst="roundRect">
                <a:avLst>
                  <a:gd name="adj" fmla="val 5845"/>
                </a:avLst>
              </a:prstGeom>
              <a:blipFill>
                <a:blip r:embed="rId7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09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Rescorla </a:t>
            </a:r>
            <a:r>
              <a:rPr lang="de-DE" dirty="0" smtClean="0"/>
              <a:t>wagner/ Q-learning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12607034" y="1392425"/>
                <a:ext cx="4106573" cy="2871189"/>
              </a:xfrm>
              <a:prstGeom prst="roundRect">
                <a:avLst>
                  <a:gd name="adj" fmla="val 5845"/>
                </a:avLst>
              </a:prstGeom>
              <a:solidFill>
                <a:srgbClr val="FFFDF7"/>
              </a:solid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(∆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de-DE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034" y="1392425"/>
                <a:ext cx="4106573" cy="2871189"/>
              </a:xfrm>
              <a:prstGeom prst="roundRect">
                <a:avLst>
                  <a:gd name="adj" fmla="val 5845"/>
                </a:avLst>
              </a:prstGeom>
              <a:blipFill>
                <a:blip r:embed="rId2"/>
                <a:stretch>
                  <a:fillRect/>
                </a:stretch>
              </a:blipFill>
              <a:ln w="76200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27100" y="1930400"/>
            <a:ext cx="10337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smtClean="0">
                <a:latin typeface="Bahnschrift" panose="020B0502040204020203" pitchFamily="34" charset="0"/>
              </a:rPr>
              <a:t>This allows us to simulate what the model would do and see how well it would match the participants choices, but this is </a:t>
            </a:r>
            <a:r>
              <a:rPr lang="de-DE" sz="2800" b="1" dirty="0" smtClean="0">
                <a:latin typeface="Bahnschrift" panose="020B0502040204020203" pitchFamily="34" charset="0"/>
              </a:rPr>
              <a:t>not </a:t>
            </a:r>
            <a:r>
              <a:rPr lang="de-DE" sz="2800" dirty="0" smtClean="0">
                <a:latin typeface="Bahnschrift" panose="020B0502040204020203" pitchFamily="34" charset="0"/>
              </a:rPr>
              <a:t>what we want.</a:t>
            </a:r>
          </a:p>
          <a:p>
            <a:endParaRPr lang="de-DE" sz="2800" dirty="0" smtClean="0">
              <a:latin typeface="Bahnschrift" panose="020B0502040204020203" pitchFamily="34" charset="0"/>
            </a:endParaRPr>
          </a:p>
          <a:p>
            <a:endParaRPr lang="de-DE" sz="2800" dirty="0">
              <a:latin typeface="Bahnschrift" panose="020B0502040204020203" pitchFamily="34" charset="0"/>
            </a:endParaRPr>
          </a:p>
          <a:p>
            <a:r>
              <a:rPr lang="de-DE" sz="2800" dirty="0" smtClean="0">
                <a:latin typeface="Bahnschrift" panose="020B0502040204020203" pitchFamily="34" charset="0"/>
              </a:rPr>
              <a:t>Instead the model </a:t>
            </a:r>
            <a:r>
              <a:rPr lang="de-DE" sz="2800" b="1" dirty="0" smtClean="0">
                <a:latin typeface="Bahnschrift" panose="020B0502040204020203" pitchFamily="34" charset="0"/>
              </a:rPr>
              <a:t>shadows</a:t>
            </a:r>
            <a:r>
              <a:rPr lang="de-DE" sz="2800" dirty="0" smtClean="0">
                <a:latin typeface="Bahnschrift" panose="020B0502040204020203" pitchFamily="34" charset="0"/>
              </a:rPr>
              <a:t> the participants choices and at each step determines how likely their choices are using the model weights. </a:t>
            </a:r>
            <a:endParaRPr lang="en-GB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9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-162839" y="5723898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26"/>
            <a:ext cx="12192000" cy="6502401"/>
          </a:xfrm>
        </p:spPr>
      </p:pic>
    </p:spTree>
    <p:extLst>
      <p:ext uri="{BB962C8B-B14F-4D97-AF65-F5344CB8AC3E}">
        <p14:creationId xmlns:p14="http://schemas.microsoft.com/office/powerpoint/2010/main" val="329986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Hierarchical Gaussian Filter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What is it?</a:t>
            </a:r>
          </a:p>
          <a:p>
            <a:r>
              <a:rPr lang="de-DE" dirty="0" smtClean="0"/>
              <a:t>Why use it instead of RW?</a:t>
            </a:r>
          </a:p>
          <a:p>
            <a:r>
              <a:rPr lang="de-DE" dirty="0" smtClean="0"/>
              <a:t>Equations explained?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359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HGF visualization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36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HGF results – prediction error vs firing rates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Figures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036" y="1150609"/>
            <a:ext cx="8725907" cy="50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5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-316590" y="5583745"/>
            <a:ext cx="12776548" cy="1803748"/>
          </a:xfrm>
          <a:prstGeom prst="rect">
            <a:avLst/>
          </a:prstGeom>
          <a:solidFill>
            <a:srgbClr val="CFF1E6"/>
          </a:solidFill>
          <a:ln w="76200">
            <a:solidFill>
              <a:srgbClr val="0CB8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6058"/>
            <a:ext cx="12192000" cy="5741530"/>
          </a:xfrm>
        </p:spPr>
      </p:pic>
    </p:spTree>
    <p:extLst>
      <p:ext uri="{BB962C8B-B14F-4D97-AF65-F5344CB8AC3E}">
        <p14:creationId xmlns:p14="http://schemas.microsoft.com/office/powerpoint/2010/main" val="133949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62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82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869</Words>
  <Application>Microsoft Office PowerPoint</Application>
  <PresentationFormat>Widescreen</PresentationFormat>
  <Paragraphs>209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Bahnschrift</vt:lpstr>
      <vt:lpstr>Bahnschrift SemiBold</vt:lpstr>
      <vt:lpstr>Calibri</vt:lpstr>
      <vt:lpstr>Calibri Light</vt:lpstr>
      <vt:lpstr>Cambria Math</vt:lpstr>
      <vt:lpstr>Geneva</vt:lpstr>
      <vt:lpstr>Wingdings</vt:lpstr>
      <vt:lpstr>Office Theme</vt:lpstr>
      <vt:lpstr>Reward Encoding during a two-armed bandit task</vt:lpstr>
      <vt:lpstr>PowerPoint Presentation</vt:lpstr>
      <vt:lpstr>Introduction to me</vt:lpstr>
      <vt:lpstr>Project Summary</vt:lpstr>
      <vt:lpstr>Project Summary</vt:lpstr>
      <vt:lpstr>Project Summary</vt:lpstr>
      <vt:lpstr>PowerPoint Presentation</vt:lpstr>
      <vt:lpstr>Research Questions</vt:lpstr>
      <vt:lpstr>PowerPoint Presentation</vt:lpstr>
      <vt:lpstr>ZETA test for time-locked spiking </vt:lpstr>
      <vt:lpstr>ZETA visualization</vt:lpstr>
      <vt:lpstr>ZETA visualization</vt:lpstr>
      <vt:lpstr>ZETA visualization</vt:lpstr>
      <vt:lpstr>ZETA2 visualization</vt:lpstr>
      <vt:lpstr>ZETA2 visualization</vt:lpstr>
      <vt:lpstr>ZETA2 visualization</vt:lpstr>
      <vt:lpstr>ZETA2 visualization</vt:lpstr>
      <vt:lpstr>ZETA2 results</vt:lpstr>
      <vt:lpstr>Why behavioural modelling?</vt:lpstr>
      <vt:lpstr>Rescorla wagner/ Q-learning</vt:lpstr>
      <vt:lpstr>Rescorla wagner/ Q-learning</vt:lpstr>
      <vt:lpstr>Rescorla wagner/ Q-learning</vt:lpstr>
      <vt:lpstr>PowerPoint Presentation</vt:lpstr>
      <vt:lpstr>Hierarchical Gaussian Filter</vt:lpstr>
      <vt:lpstr>HGF visualization</vt:lpstr>
      <vt:lpstr>HGF results – prediction error vs firing rates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mstammler</dc:creator>
  <cp:lastModifiedBy>mstammler</cp:lastModifiedBy>
  <cp:revision>65</cp:revision>
  <dcterms:created xsi:type="dcterms:W3CDTF">2026-06-22T10:02:13Z</dcterms:created>
  <dcterms:modified xsi:type="dcterms:W3CDTF">2026-06-26T16:15:41Z</dcterms:modified>
</cp:coreProperties>
</file>