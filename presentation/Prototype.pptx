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8"/>
  </p:handoutMasterIdLst>
  <p:sldIdLst>
    <p:sldId id="256" r:id="rId2"/>
    <p:sldId id="269" r:id="rId3"/>
    <p:sldId id="292" r:id="rId4"/>
    <p:sldId id="293" r:id="rId5"/>
    <p:sldId id="294" r:id="rId6"/>
    <p:sldId id="295" r:id="rId7"/>
    <p:sldId id="258" r:id="rId8"/>
    <p:sldId id="271" r:id="rId9"/>
    <p:sldId id="270" r:id="rId10"/>
    <p:sldId id="272" r:id="rId11"/>
    <p:sldId id="261" r:id="rId12"/>
    <p:sldId id="273" r:id="rId13"/>
    <p:sldId id="259" r:id="rId14"/>
    <p:sldId id="306" r:id="rId15"/>
    <p:sldId id="260" r:id="rId16"/>
    <p:sldId id="307" r:id="rId17"/>
    <p:sldId id="308" r:id="rId18"/>
    <p:sldId id="305" r:id="rId19"/>
    <p:sldId id="268" r:id="rId20"/>
    <p:sldId id="274" r:id="rId21"/>
    <p:sldId id="287" r:id="rId22"/>
    <p:sldId id="262" r:id="rId23"/>
    <p:sldId id="275" r:id="rId24"/>
    <p:sldId id="277" r:id="rId25"/>
    <p:sldId id="278" r:id="rId26"/>
    <p:sldId id="296" r:id="rId27"/>
    <p:sldId id="276" r:id="rId28"/>
    <p:sldId id="263" r:id="rId29"/>
    <p:sldId id="311" r:id="rId30"/>
    <p:sldId id="312" r:id="rId31"/>
    <p:sldId id="310" r:id="rId32"/>
    <p:sldId id="283" r:id="rId33"/>
    <p:sldId id="280" r:id="rId34"/>
    <p:sldId id="282" r:id="rId35"/>
    <p:sldId id="265" r:id="rId36"/>
    <p:sldId id="290" r:id="rId37"/>
    <p:sldId id="291" r:id="rId38"/>
    <p:sldId id="288" r:id="rId39"/>
    <p:sldId id="304" r:id="rId40"/>
    <p:sldId id="303" r:id="rId41"/>
    <p:sldId id="284" r:id="rId42"/>
    <p:sldId id="297" r:id="rId43"/>
    <p:sldId id="301" r:id="rId44"/>
    <p:sldId id="299" r:id="rId45"/>
    <p:sldId id="302" r:id="rId46"/>
    <p:sldId id="313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8996B"/>
    <a:srgbClr val="E2F2E9"/>
    <a:srgbClr val="257D60"/>
    <a:srgbClr val="0CB87F"/>
    <a:srgbClr val="ACD8BF"/>
    <a:srgbClr val="F8FAFC"/>
    <a:srgbClr val="FF0000"/>
    <a:srgbClr val="B32424"/>
    <a:srgbClr val="FF9E28"/>
    <a:srgbClr val="0AB7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  <dgm:t>
        <a:bodyPr/>
        <a:lstStyle/>
        <a:p>
          <a:endParaRPr lang="en-US"/>
        </a:p>
      </dgm:t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  <dgm:t>
        <a:bodyPr/>
        <a:lstStyle/>
        <a:p>
          <a:endParaRPr lang="en-US"/>
        </a:p>
      </dgm:t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5E000D8-9AAE-49A4-87FF-0642AB719E81}" type="pres">
      <dgm:prSet presAssocID="{4DEA52EC-7676-47C9-8D53-46B739BD2587}" presName="wedge3" presStyleLbl="node1" presStyleIdx="2" presStyleCnt="3"/>
      <dgm:spPr/>
      <dgm:t>
        <a:bodyPr/>
        <a:lstStyle/>
        <a:p>
          <a:endParaRPr lang="en-US"/>
        </a:p>
      </dgm:t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1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1.png"/><Relationship Id="rId7" Type="http://schemas.openxmlformats.org/officeDocument/2006/relationships/image" Target="../media/image3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1.png"/><Relationship Id="rId7" Type="http://schemas.openxmlformats.org/officeDocument/2006/relationships/image" Target="../media/image4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90.png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11" Type="http://schemas.openxmlformats.org/officeDocument/2006/relationships/image" Target="../media/image36.svg"/><Relationship Id="rId5" Type="http://schemas.openxmlformats.org/officeDocument/2006/relationships/image" Target="../media/image280.png"/><Relationship Id="rId10" Type="http://schemas.openxmlformats.org/officeDocument/2006/relationships/image" Target="../media/image35.svg"/><Relationship Id="rId4" Type="http://schemas.openxmlformats.org/officeDocument/2006/relationships/image" Target="../media/image270.png"/><Relationship Id="rId9" Type="http://schemas.openxmlformats.org/officeDocument/2006/relationships/image" Target="../media/image32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523/JNEUROSCI.4225-09.2010" TargetMode="External"/><Relationship Id="rId2" Type="http://schemas.openxmlformats.org/officeDocument/2006/relationships/hyperlink" Target="https://www.science.org/doi/10.1126/science.275.5306.1593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68311E98-335A-BADE-A217-9B66AC600E08}"/>
              </a:ext>
            </a:extLst>
          </p:cNvPr>
          <p:cNvSpPr/>
          <p:nvPr/>
        </p:nvSpPr>
        <p:spPr>
          <a:xfrm>
            <a:off x="-292274" y="1352146"/>
            <a:ext cx="12776548" cy="429962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39746"/>
            <a:ext cx="9144000" cy="1518054"/>
          </a:xfrm>
        </p:spPr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CNB Lab · Manuel Stammler · </a:t>
            </a:r>
            <a:r>
              <a:rPr lang="de-DE" sz="2000" dirty="0">
                <a:latin typeface="Bahnschrift" panose="020B0502040204020203" pitchFamily="34" charset="0"/>
              </a:rPr>
              <a:t>01.07.2026</a:t>
            </a:r>
            <a:endParaRPr lang="en-GB" sz="2000" dirty="0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A64836-FAE0-6082-597A-94B1ABD8C5B5}"/>
              </a:ext>
            </a:extLst>
          </p:cNvPr>
          <p:cNvSpPr txBox="1"/>
          <p:nvPr/>
        </p:nvSpPr>
        <p:spPr>
          <a:xfrm>
            <a:off x="4762141" y="49805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53F261-3A91-4CA9-7C23-714F14F35EEF}"/>
              </a:ext>
            </a:extLst>
          </p:cNvPr>
          <p:cNvSpPr/>
          <p:nvPr/>
        </p:nvSpPr>
        <p:spPr>
          <a:xfrm>
            <a:off x="4545249" y="4481035"/>
            <a:ext cx="3101501" cy="499508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-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Preliminary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Findings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-</a:t>
            </a:r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B42E287-BB3E-73C0-A51F-1ABC8E677099}"/>
              </a:ext>
            </a:extLst>
          </p:cNvPr>
          <p:cNvCxnSpPr/>
          <p:nvPr/>
        </p:nvCxnSpPr>
        <p:spPr>
          <a:xfrm>
            <a:off x="2276272" y="3509963"/>
            <a:ext cx="7616758" cy="0"/>
          </a:xfrm>
          <a:prstGeom prst="line">
            <a:avLst/>
          </a:prstGeom>
          <a:ln w="38100">
            <a:solidFill>
              <a:srgbClr val="0CB8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to </a:t>
            </a:r>
            <a:r>
              <a:rPr lang="en-GB" dirty="0">
                <a:solidFill>
                  <a:schemeClr val="tx1"/>
                </a:solidFill>
              </a:rPr>
              <a:t>do: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rgbClr val="257D60"/>
                </a:solidFill>
              </a:rPr>
              <a:t>what is zenith value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how exactly does zeta 2 work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correct </a:t>
            </a:r>
            <a:r>
              <a:rPr lang="en-GB" dirty="0" err="1">
                <a:solidFill>
                  <a:srgbClr val="257D60"/>
                </a:solidFill>
              </a:rPr>
              <a:t>colors</a:t>
            </a:r>
            <a:r>
              <a:rPr lang="en-GB" dirty="0">
                <a:solidFill>
                  <a:srgbClr val="257D60"/>
                </a:solidFill>
              </a:rPr>
              <a:t> for zeta demo</a:t>
            </a:r>
          </a:p>
          <a:p>
            <a:pPr algn="ctr"/>
            <a:r>
              <a:rPr lang="en-GB" dirty="0">
                <a:solidFill>
                  <a:srgbClr val="FF0000"/>
                </a:solidFill>
              </a:rPr>
              <a:t>better arguments for modelling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stickiness</a:t>
            </a:r>
          </a:p>
          <a:p>
            <a:pPr algn="ctr"/>
            <a:r>
              <a:rPr lang="en-GB" dirty="0">
                <a:solidFill>
                  <a:srgbClr val="257D60"/>
                </a:solidFill>
              </a:rPr>
              <a:t>example to go through with </a:t>
            </a:r>
            <a:r>
              <a:rPr lang="en-GB" dirty="0" smtClean="0">
                <a:solidFill>
                  <a:srgbClr val="257D60"/>
                </a:solidFill>
              </a:rPr>
              <a:t>modelling</a:t>
            </a:r>
          </a:p>
          <a:p>
            <a:pPr algn="ctr"/>
            <a:endParaRPr lang="de-DE" dirty="0">
              <a:solidFill>
                <a:srgbClr val="257D60"/>
              </a:solidFill>
            </a:endParaRPr>
          </a:p>
          <a:p>
            <a:pPr algn="ctr"/>
            <a:endParaRPr lang="de-DE" dirty="0" smtClean="0">
              <a:solidFill>
                <a:srgbClr val="257D60"/>
              </a:solidFill>
            </a:endParaRPr>
          </a:p>
          <a:p>
            <a:pPr algn="ctr"/>
            <a:r>
              <a:rPr lang="en-GB" dirty="0">
                <a:solidFill>
                  <a:srgbClr val="FF0000"/>
                </a:solidFill>
              </a:rPr>
              <a:t> https://doi.org/10.1523/JNEUROSCI.4225-09.2010</a:t>
            </a:r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4875B6E-600E-B7F3-4F41-95FCDC3AF294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753DEEA-E640-8FE9-D6D0-74CDDF07C7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429" y="3551395"/>
            <a:ext cx="1543046" cy="27431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7D7CBF-6343-9F61-58AC-B0C3A9472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922" y="452475"/>
            <a:ext cx="1694638" cy="3012692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30BD6577-97BB-FA0F-B466-5F9C8E068385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    Salzkammergut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87893AC-5000-9F03-3725-FAC9E76339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291" y="821191"/>
            <a:ext cx="3966368" cy="264397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7C9F4DC-1BEC-A958-08ED-B179A946694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37" y="3551395"/>
            <a:ext cx="2608860" cy="173906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7507B0C-2797-2758-F38A-81D4642DB0B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3" y="3551395"/>
            <a:ext cx="1543046" cy="2743193"/>
          </a:xfrm>
          <a:prstGeom prst="rect">
            <a:avLst/>
          </a:prstGeom>
        </p:spPr>
      </p:pic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DA6E508B-91E6-A16E-935E-537BA37E3C18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A0681CB9-AD55-587D-A99F-B31A6847907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EB88FD50-47E5-2BD3-31EE-9686512815C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79AE1061-F0DE-4477-29F4-91AE43BD8BC9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</p:spTree>
    <p:extLst>
      <p:ext uri="{BB962C8B-B14F-4D97-AF65-F5344CB8AC3E}">
        <p14:creationId xmlns:p14="http://schemas.microsoft.com/office/powerpoint/2010/main" val="230685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38D7E-EF5F-01F5-66B8-21DE711E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6C81C306-53DD-CF56-AD58-916CE616DFD4}"/>
              </a:ext>
            </a:extLst>
          </p:cNvPr>
          <p:cNvSpPr/>
          <p:nvPr/>
        </p:nvSpPr>
        <p:spPr>
          <a:xfrm>
            <a:off x="5291423" y="-1"/>
            <a:ext cx="6889883" cy="6858001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55C29797-ADB5-E90A-CDF6-B92AD5F66666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352722DE-CA00-0BB8-5720-F46A3F5A57C0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2B906E58-DDDA-A628-6313-B3CAC5E4F4B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85AF12C-6A53-3751-9969-61125435318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8208E304-5295-9570-2E8B-3AE0C555A984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D509AD2-043D-A360-6ECC-783436562B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77" y="855790"/>
            <a:ext cx="2717783" cy="362371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11251EA-C252-072D-8245-F0A14B72DC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7" b="10898"/>
          <a:stretch>
            <a:fillRect/>
          </a:stretch>
        </p:blipFill>
        <p:spPr>
          <a:xfrm>
            <a:off x="8556492" y="439838"/>
            <a:ext cx="3442987" cy="199311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02B0A89-5515-6AD7-605A-67B50E93D7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6492" y="2533502"/>
            <a:ext cx="2273839" cy="4042382"/>
          </a:xfrm>
          <a:prstGeom prst="rect">
            <a:avLst/>
          </a:prstGeom>
        </p:spPr>
      </p:pic>
      <p:sp>
        <p:nvSpPr>
          <p:cNvPr id="22" name="Rounded Rectangle 7">
            <a:extLst>
              <a:ext uri="{FF2B5EF4-FFF2-40B4-BE49-F238E27FC236}">
                <a16:creationId xmlns:a16="http://schemas.microsoft.com/office/drawing/2014/main" id="{3091F324-6B47-85C5-4CA7-5AE7CDFE7A1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probiotic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treatment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carp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endoparasite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infection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71F7E-B46E-CA5E-88E3-56D0F4AF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397600D5-B34B-78AC-93CE-045DF4FB51F3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8F6D6CBE-3899-4362-1143-9D72E7E532D4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9DB28394-62E7-3D0F-D8E5-6404881E883C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15392267-D0EB-69CD-4E74-5BF1F7691CB1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124A9AE-556A-C473-CCFF-470DA59EAE17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16AF1AED-BF95-12EA-6735-45B82B1E3FEA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47080A-F686-3C0F-069B-9AFB3F7CF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119" y="3551395"/>
            <a:ext cx="4219575" cy="316468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1CEE6F-45D6-BE90-9D82-4084FD3CC8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2" y="114300"/>
            <a:ext cx="4419600" cy="3314700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075336A9-6AB5-A02C-A98F-017B31CB3D22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HPLC Analysis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CBD-Oil compounds</a:t>
            </a:r>
          </a:p>
        </p:txBody>
      </p:sp>
    </p:spTree>
    <p:extLst>
      <p:ext uri="{BB962C8B-B14F-4D97-AF65-F5344CB8AC3E}">
        <p14:creationId xmlns:p14="http://schemas.microsoft.com/office/powerpoint/2010/main" val="212427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8A516-0511-C054-5F02-3058CF47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50143554-5C07-0623-C12F-562F882E5B96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EF9DFDB6-5DEA-566C-48CB-F6A6A3EF440C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1819DCA5-C4C7-4650-FCD7-B3D9DD2C606F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910E6305-FBB0-4DA2-14CD-80A807916F14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13280C77-660D-4FB5-410C-649A5B68BA99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B929E011-8B33-2651-368A-DE909457389B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 dirty="0">
                <a:solidFill>
                  <a:prstClr val="black"/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5691518-FF33-6021-B802-F01B1003B6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833" y="1671088"/>
            <a:ext cx="6441167" cy="2491395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35D68C68-1554-E1FD-33EA-76D0DCE9874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Master‘s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programm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Neuroscience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prediction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error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encoding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94700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4525" y="316561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D3012-39E5-C9B3-2EA7-EBE9B9CE4F28}"/>
              </a:ext>
            </a:extLst>
          </p:cNvPr>
          <p:cNvSpPr txBox="1">
            <a:spLocks/>
          </p:cNvSpPr>
          <p:nvPr/>
        </p:nvSpPr>
        <p:spPr>
          <a:xfrm>
            <a:off x="7134224" y="6419995"/>
            <a:ext cx="3286125" cy="31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Clr>
                <a:schemeClr val="tx1"/>
              </a:buClr>
              <a:buNone/>
            </a:pPr>
            <a:r>
              <a:rPr lang="en-GB" sz="900" dirty="0"/>
              <a:t>Image: Simon Jacob Lab; Chen </a:t>
            </a:r>
            <a:r>
              <a:rPr lang="en-GB" sz="900" dirty="0" err="1"/>
              <a:t>Hongbiao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/>
              <a:t>Z</a:t>
            </a:r>
          </a:p>
          <a:p>
            <a:pPr marL="0" indent="0">
              <a:buNone/>
            </a:pPr>
            <a:r>
              <a:rPr lang="de-DE" sz="5400" b="1" dirty="0"/>
              <a:t>E</a:t>
            </a:r>
          </a:p>
          <a:p>
            <a:pPr marL="0" indent="0">
              <a:buNone/>
            </a:pPr>
            <a:r>
              <a:rPr lang="de-DE" sz="5400" b="1" dirty="0"/>
              <a:t>T   </a:t>
            </a:r>
          </a:p>
          <a:p>
            <a:pPr marL="0" indent="0">
              <a:buNone/>
            </a:pPr>
            <a:r>
              <a:rPr lang="de-DE" sz="5400" b="1" dirty="0"/>
              <a:t>A</a:t>
            </a:r>
            <a:endParaRPr lang="de-DE" sz="4000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03681-9103-1C64-BEDA-9AAE26551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211EA-5299-2DA9-660D-8CD52CC7F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B3DBF-E46D-4E0A-8E35-0FEBEF349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217675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F948D53-7C64-9B33-FFF6-96E0F3840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595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D23A08A0-8F84-A557-CDDE-8DFC56628F75}"/>
              </a:ext>
            </a:extLst>
          </p:cNvPr>
          <p:cNvGrpSpPr/>
          <p:nvPr/>
        </p:nvGrpSpPr>
        <p:grpSpPr>
          <a:xfrm>
            <a:off x="2156006" y="2680584"/>
            <a:ext cx="6951580" cy="2672466"/>
            <a:chOff x="2156006" y="2680584"/>
            <a:chExt cx="6951580" cy="2672466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1093F723-27A6-4F33-C588-6F79F8F053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6747" y="3993208"/>
              <a:ext cx="6854749" cy="1256983"/>
            </a:xfrm>
            <a:prstGeom prst="rect">
              <a:avLst/>
            </a:prstGeom>
          </p:spPr>
        </p:pic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0ABDF2E8-3384-EF43-498B-ED28DC838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6006" y="3364717"/>
              <a:ext cx="6888269" cy="1256983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F3F9BC3E-2534-CB5C-D00B-2D5F1C6D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5710"/>
            <a:stretch>
              <a:fillRect/>
            </a:stretch>
          </p:blipFill>
          <p:spPr>
            <a:xfrm>
              <a:off x="2160658" y="3152775"/>
              <a:ext cx="6946928" cy="840434"/>
            </a:xfrm>
            <a:prstGeom prst="rect">
              <a:avLst/>
            </a:prstGeom>
          </p:spPr>
        </p:pic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65891DC-C378-AABC-C6B3-EBBD546981F0}"/>
                </a:ext>
              </a:extLst>
            </p:cNvPr>
            <p:cNvSpPr txBox="1"/>
            <p:nvPr/>
          </p:nvSpPr>
          <p:spPr>
            <a:xfrm>
              <a:off x="2371629" y="2680584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AT" dirty="0" err="1">
                  <a:latin typeface="Bahnschrift" panose="020B0502040204020203" pitchFamily="34" charset="0"/>
                </a:rPr>
                <a:t>Reward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334CB19-8F2E-A999-8483-22B118CC27F9}"/>
                </a:ext>
              </a:extLst>
            </p:cNvPr>
            <p:cNvCxnSpPr/>
            <p:nvPr/>
          </p:nvCxnSpPr>
          <p:spPr>
            <a:xfrm flipV="1">
              <a:off x="2857500" y="2971800"/>
              <a:ext cx="0" cy="238125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EB8796-5A82-D75D-95F8-A70535C57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3E80B22-451A-F42B-50C9-C2F973E6C723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CD9750-63C5-0A18-B21A-F678BE338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3A1D3B-C5D5-D02B-3AD5-AB1FFA0E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866" y="3265636"/>
            <a:ext cx="8974267" cy="322723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E9E657D-0773-4D6C-8402-7CADCD840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43800" cy="4351338"/>
          </a:xfrm>
        </p:spPr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Compare to the flat line expected if spikes          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</p:txBody>
      </p:sp>
    </p:spTree>
    <p:extLst>
      <p:ext uri="{BB962C8B-B14F-4D97-AF65-F5344CB8AC3E}">
        <p14:creationId xmlns:p14="http://schemas.microsoft.com/office/powerpoint/2010/main" val="327029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0B3A81-F5F8-B094-F593-818CBE99F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0ED12E6-410B-7FA9-024E-B85CA31079FD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4ED68-61CF-46B1-666F-96F8C3E53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A373045-A293-6B9C-D996-59D828F43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77401" cy="4351338"/>
          </a:xfrm>
        </p:spPr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A31366A-1A19-878A-4C18-801AC6BC2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39" y="2828363"/>
            <a:ext cx="11202963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814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C178-F996-3A5C-12DE-052C3BD4B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8CE460-2BEE-6C49-037A-44C4ED309EAF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B29714-81E7-A73E-BCC9-47601D218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  <a:extLst>
              <a:ext uri="{FF2B5EF4-FFF2-40B4-BE49-F238E27FC236}">
                <a16:creationId xmlns:a16="http://schemas.microsoft.com/office/drawing/2014/main" id="{414C0054-2835-51F6-610C-9766FF98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125" y="1535113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512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278953" y="-72825"/>
            <a:ext cx="12556851" cy="148081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38218" y="228252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D07EB95-11BC-4D3A-091B-40D375680245}"/>
              </a:ext>
            </a:extLst>
          </p:cNvPr>
          <p:cNvSpPr txBox="1"/>
          <p:nvPr/>
        </p:nvSpPr>
        <p:spPr>
          <a:xfrm>
            <a:off x="1223963" y="1583645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en-GB" sz="2800" dirty="0">
                <a:latin typeface="Bahnschrift" panose="020B0502040204020203" pitchFamily="34" charset="0"/>
              </a:rPr>
              <a:t>Significance from </a:t>
            </a:r>
            <a:r>
              <a:rPr lang="en-GB" sz="2800" b="1" dirty="0">
                <a:latin typeface="Bahnschrift" panose="020B0502040204020203" pitchFamily="34" charset="0"/>
              </a:rPr>
              <a:t>jittered</a:t>
            </a:r>
            <a:r>
              <a:rPr lang="en-GB" sz="2800" dirty="0">
                <a:latin typeface="Bahnschrift" panose="020B0502040204020203" pitchFamily="34" charset="0"/>
              </a:rPr>
              <a:t> resampling of event times.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C5FD32B-3D30-B394-41D6-8122E2FA6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06865"/>
            <a:ext cx="5091158" cy="475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168873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514A3F41-B373-20F5-47F4-0806D09E58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22" y="2168873"/>
            <a:ext cx="3782590" cy="352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3696-AFF0-48BF-06A1-D0D49A7E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ZETA </a:t>
            </a:r>
            <a:r>
              <a:rPr lang="de-AT" dirty="0" err="1"/>
              <a:t>Results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86E00-2FCA-A965-B93F-CF648CFD9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52" y="1825625"/>
            <a:ext cx="4646648" cy="4351338"/>
          </a:xfrm>
        </p:spPr>
        <p:txBody>
          <a:bodyPr>
            <a:normAutofit lnSpcReduction="10000"/>
          </a:bodyPr>
          <a:lstStyle/>
          <a:p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neurons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out </a:t>
            </a:r>
            <a:r>
              <a:rPr lang="de-AT" dirty="0" err="1"/>
              <a:t>as</a:t>
            </a:r>
            <a:r>
              <a:rPr lang="de-AT" dirty="0"/>
              <a:t> „responsive“</a:t>
            </a:r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r>
              <a:rPr lang="de-AT" b="1" dirty="0"/>
              <a:t>Possible </a:t>
            </a:r>
            <a:r>
              <a:rPr lang="de-AT" b="1" dirty="0" err="1"/>
              <a:t>reasons</a:t>
            </a:r>
            <a:r>
              <a:rPr lang="de-AT" b="1" dirty="0"/>
              <a:t>:</a:t>
            </a:r>
          </a:p>
          <a:p>
            <a:r>
              <a:rPr lang="de-AT" dirty="0"/>
              <a:t>ZETA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sensitive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binned</a:t>
            </a:r>
            <a:r>
              <a:rPr lang="de-AT" dirty="0"/>
              <a:t> t-test/ANOVA</a:t>
            </a:r>
          </a:p>
          <a:p>
            <a:r>
              <a:rPr lang="de-AT" dirty="0"/>
              <a:t>ZETA </a:t>
            </a:r>
            <a:r>
              <a:rPr lang="de-AT" dirty="0" err="1"/>
              <a:t>asks</a:t>
            </a:r>
            <a:r>
              <a:rPr lang="de-AT" dirty="0"/>
              <a:t>: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spike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after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event</a:t>
            </a:r>
            <a:r>
              <a:rPr lang="de-AT" dirty="0"/>
              <a:t> </a:t>
            </a:r>
            <a:r>
              <a:rPr lang="de-AT" b="1" dirty="0" err="1"/>
              <a:t>anything</a:t>
            </a:r>
            <a:r>
              <a:rPr lang="de-AT" b="1" dirty="0"/>
              <a:t> </a:t>
            </a:r>
            <a:r>
              <a:rPr lang="de-AT" b="1" dirty="0" err="1"/>
              <a:t>other</a:t>
            </a:r>
            <a:r>
              <a:rPr lang="de-AT" b="1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/flat?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551" y="1515790"/>
            <a:ext cx="6519146" cy="46385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</p:spTree>
    <p:extLst>
      <p:ext uri="{BB962C8B-B14F-4D97-AF65-F5344CB8AC3E}">
        <p14:creationId xmlns:p14="http://schemas.microsoft.com/office/powerpoint/2010/main" val="328201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1D8C127-6FAE-A765-EBAD-1270A4603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77" y="1508819"/>
            <a:ext cx="5583939" cy="520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21E40F9-94A8-3DAA-850C-4581A8A5FC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552" y="2533650"/>
            <a:ext cx="3657287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53" y="1576873"/>
            <a:ext cx="12078549" cy="4499056"/>
          </a:xfrm>
        </p:spPr>
      </p:pic>
      <p:sp>
        <p:nvSpPr>
          <p:cNvPr id="3" name="Rounded Rectangle 2"/>
          <p:cNvSpPr/>
          <p:nvPr/>
        </p:nvSpPr>
        <p:spPr>
          <a:xfrm>
            <a:off x="553616" y="6222482"/>
            <a:ext cx="11084767" cy="531844"/>
          </a:xfrm>
          <a:prstGeom prst="roundRect">
            <a:avLst/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400" dirty="0">
                <a:solidFill>
                  <a:srgbClr val="FF9E28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Gamble + Rew; </a:t>
            </a:r>
            <a:r>
              <a:rPr lang="de-DE" sz="2400" dirty="0">
                <a:solidFill>
                  <a:srgbClr val="B32424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Gamble + No Rew; </a:t>
            </a:r>
            <a:r>
              <a:rPr lang="de-DE" sz="2400" dirty="0">
                <a:solidFill>
                  <a:srgbClr val="48996B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Safe + Rew; </a:t>
            </a:r>
            <a:r>
              <a:rPr lang="de-DE" dirty="0">
                <a:solidFill>
                  <a:srgbClr val="FF0000"/>
                </a:solidFill>
                <a:latin typeface="Bahnschrift" panose="020B0502040204020203" pitchFamily="34" charset="0"/>
              </a:rPr>
              <a:t>---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Reward  </a:t>
            </a:r>
            <a:endParaRPr lang="en-GB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results</a:t>
            </a:r>
            <a:endParaRPr lang="en-GB" dirty="0"/>
          </a:p>
        </p:txBody>
      </p:sp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4153989" y="1991619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Percentage?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506" y="1505888"/>
            <a:ext cx="7089333" cy="50442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338EF-BF94-7B55-A4D2-1827AAC8A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C846-530C-88D6-6168-5ECF2447A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2BA866-D3F9-18B9-9C34-0FBE0C093114}"/>
              </a:ext>
            </a:extLst>
          </p:cNvPr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8220075" y="3349394"/>
            <a:ext cx="2000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>
                <a:latin typeface="Bahnschrift" panose="020B0502040204020203" pitchFamily="34" charset="0"/>
              </a:rPr>
              <a:t>Yes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8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/>
              <a:t>We can only observe the </a:t>
            </a:r>
            <a:r>
              <a:rPr lang="de-DE" b="1" dirty="0">
                <a:solidFill>
                  <a:srgbClr val="0CB87F"/>
                </a:solidFill>
              </a:rPr>
              <a:t>choices</a:t>
            </a:r>
            <a:r>
              <a:rPr lang="de-DE" dirty="0"/>
              <a:t> made and their </a:t>
            </a:r>
            <a:r>
              <a:rPr lang="de-DE" b="1" dirty="0">
                <a:solidFill>
                  <a:srgbClr val="0CB87F"/>
                </a:solidFill>
              </a:rPr>
              <a:t>outcomes </a:t>
            </a:r>
            <a:r>
              <a:rPr lang="de-DE" dirty="0"/>
              <a:t>but not the </a:t>
            </a:r>
            <a:r>
              <a:rPr lang="de-DE" b="1" dirty="0">
                <a:solidFill>
                  <a:srgbClr val="FF9412"/>
                </a:solidFill>
              </a:rPr>
              <a:t>cognitive variables </a:t>
            </a:r>
            <a:r>
              <a:rPr lang="de-DE" dirty="0"/>
              <a:t>that drive them:</a:t>
            </a:r>
          </a:p>
          <a:p>
            <a:pPr lvl="1"/>
            <a:r>
              <a:rPr lang="de-DE" dirty="0"/>
              <a:t>Belief about probability</a:t>
            </a:r>
          </a:p>
          <a:p>
            <a:pPr lvl="1"/>
            <a:r>
              <a:rPr lang="de-DE" dirty="0"/>
              <a:t>Prediction error</a:t>
            </a:r>
          </a:p>
          <a:p>
            <a:pPr lvl="1"/>
            <a:r>
              <a:rPr lang="de-DE" dirty="0"/>
              <a:t>Expected Reward</a:t>
            </a:r>
          </a:p>
          <a:p>
            <a:pPr lvl="1"/>
            <a:r>
              <a:rPr lang="de-DE" dirty="0"/>
              <a:t>...</a:t>
            </a:r>
          </a:p>
          <a:p>
            <a:r>
              <a:rPr lang="de-DE" dirty="0"/>
              <a:t>A behavioural model is </a:t>
            </a:r>
            <a:r>
              <a:rPr lang="de-DE" b="1" dirty="0"/>
              <a:t>a generative rule </a:t>
            </a:r>
            <a:r>
              <a:rPr lang="de-DE" dirty="0"/>
              <a:t>fit to the participants choice</a:t>
            </a:r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4080177821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inverse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4245525" y="4569568"/>
                  <a:ext cx="375487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525" y="4569568"/>
                  <a:ext cx="3754874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838200" y="1896383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8035374" y="4585398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5374" y="4585398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ounded Rectangle 12"/>
          <p:cNvSpPr/>
          <p:nvPr/>
        </p:nvSpPr>
        <p:spPr>
          <a:xfrm>
            <a:off x="838200" y="4299963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Gamble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186907" y="4469672"/>
                <a:ext cx="172906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4469672"/>
                <a:ext cx="1729063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522600" y="4469086"/>
                <a:ext cx="3454600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=3+(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0.5∗−3)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4469086"/>
                <a:ext cx="3454600" cy="4764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186906" y="5037552"/>
                <a:ext cx="14517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5037552"/>
                <a:ext cx="1451744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6560123" y="5027572"/>
                <a:ext cx="1731307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=1.5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5027572"/>
                <a:ext cx="1731307" cy="4764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510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ounded Rectangle 12"/>
          <p:cNvSpPr/>
          <p:nvPr/>
        </p:nvSpPr>
        <p:spPr>
          <a:xfrm>
            <a:off x="838200" y="4299963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Safe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186907" y="4469672"/>
                <a:ext cx="200157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257D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−0.8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4469672"/>
                <a:ext cx="200157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522600" y="4469086"/>
                <a:ext cx="373191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=0.8+(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0.5∗0.2)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4469086"/>
                <a:ext cx="3731919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186906" y="5037552"/>
                <a:ext cx="12970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5037552"/>
                <a:ext cx="1297022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6560123" y="5027572"/>
                <a:ext cx="173130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5027572"/>
                <a:ext cx="173130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771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sp>
        <p:nvSpPr>
          <p:cNvPr id="17" name="Rounded Rectangle 16"/>
          <p:cNvSpPr/>
          <p:nvPr/>
        </p:nvSpPr>
        <p:spPr>
          <a:xfrm>
            <a:off x="838200" y="1678627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Safe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3186907" y="1848336"/>
                <a:ext cx="200157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257D6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−0.8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1848336"/>
                <a:ext cx="2001574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6522600" y="1847750"/>
                <a:ext cx="373191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=0.8+(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0.5∗0.2)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1847750"/>
                <a:ext cx="3731919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3186906" y="2416216"/>
                <a:ext cx="129702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2416216"/>
                <a:ext cx="129702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560123" y="2406236"/>
                <a:ext cx="182319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GB" sz="2800" b="1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2406236"/>
                <a:ext cx="1823191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/>
          <p:cNvSpPr/>
          <p:nvPr/>
        </p:nvSpPr>
        <p:spPr>
          <a:xfrm>
            <a:off x="838200" y="3310867"/>
            <a:ext cx="10515600" cy="1475178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Gamble arm</a:t>
            </a:r>
            <a:b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</a:b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  <a:ea typeface="Cambria Math" panose="02040503050406030204" pitchFamily="18" charset="0"/>
              </a:rPr>
              <a:t>update: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3186907" y="3480576"/>
                <a:ext cx="172906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 −3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7" y="3480576"/>
                <a:ext cx="172906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522600" y="3479990"/>
                <a:ext cx="3454600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=3+(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0.5∗−3)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600" y="3479990"/>
                <a:ext cx="3454600" cy="4764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186906" y="4048456"/>
                <a:ext cx="14517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6906" y="4048456"/>
                <a:ext cx="145174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6560123" y="4038476"/>
                <a:ext cx="1823191" cy="476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bSup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sz="2800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b="1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123" y="4038476"/>
                <a:ext cx="1823191" cy="4764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ounded Rectangle 26"/>
              <p:cNvSpPr/>
              <p:nvPr/>
            </p:nvSpPr>
            <p:spPr>
              <a:xfrm>
                <a:off x="838200" y="4955168"/>
                <a:ext cx="10515600" cy="1475178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de-DE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p>
                      </m:sSup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de-DE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de-DE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1.5−0.9=</m:t>
                      </m:r>
                      <m:r>
                        <a:rPr lang="de-DE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de-DE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GB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ounded 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55168"/>
                <a:ext cx="10515600" cy="1475178"/>
              </a:xfrm>
              <a:prstGeom prst="roundRect">
                <a:avLst>
                  <a:gd name="adj" fmla="val 5845"/>
                </a:avLst>
              </a:prstGeom>
              <a:blipFill>
                <a:blip r:embed="rId10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ounded Rectangle 27"/>
              <p:cNvSpPr/>
              <p:nvPr/>
            </p:nvSpPr>
            <p:spPr>
              <a:xfrm>
                <a:off x="8846505" y="4943107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𝑔𝑎𝑚𝑏𝑙𝑒</m:t>
                          </m:r>
                        </m:e>
                      </m:d>
                      <m:r>
                        <a:rPr lang="de-DE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de-DE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1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8" name="Rounded 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6505" y="4943107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11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8710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17469" cy="1325563"/>
          </a:xfrm>
        </p:spPr>
        <p:txBody>
          <a:bodyPr/>
          <a:lstStyle/>
          <a:p>
            <a:r>
              <a:rPr lang="de-DE" dirty="0"/>
              <a:t>Rescorla wagner/ </a:t>
            </a:r>
            <a:r>
              <a:rPr lang="de-DE" dirty="0" smtClean="0"/>
              <a:t>Q-learning + „stickiness“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2047484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600134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temperature;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perseveration</a:t>
                  </a: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71773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71773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838200" y="1848059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098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This allows us to simulate what the model would do.</a:t>
            </a:r>
            <a:br>
              <a:rPr lang="de-DE" sz="2800" dirty="0">
                <a:latin typeface="Bahnschrift" panose="020B0502040204020203" pitchFamily="34" charset="0"/>
              </a:rPr>
            </a:br>
            <a:r>
              <a:rPr lang="de-DE" sz="2800" dirty="0" err="1">
                <a:latin typeface="Bahnschrift" panose="020B0502040204020203" pitchFamily="34" charset="0"/>
              </a:rPr>
              <a:t>We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can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observe</a:t>
            </a:r>
            <a:r>
              <a:rPr lang="de-DE" sz="2800" dirty="0">
                <a:latin typeface="Bahnschrift" panose="020B0502040204020203" pitchFamily="34" charset="0"/>
              </a:rPr>
              <a:t> how well it would match the participants choices, but this is </a:t>
            </a:r>
            <a:r>
              <a:rPr lang="de-DE" sz="2800" b="1" dirty="0">
                <a:latin typeface="Bahnschrift" panose="020B0502040204020203" pitchFamily="34" charset="0"/>
              </a:rPr>
              <a:t>not </a:t>
            </a:r>
            <a:r>
              <a:rPr lang="de-DE" sz="2800" dirty="0">
                <a:latin typeface="Bahnschrift" panose="020B0502040204020203" pitchFamily="34" charset="0"/>
              </a:rPr>
              <a:t>what </a:t>
            </a:r>
            <a:r>
              <a:rPr lang="de-DE" sz="2800" dirty="0" err="1">
                <a:latin typeface="Bahnschrift" panose="020B0502040204020203" pitchFamily="34" charset="0"/>
              </a:rPr>
              <a:t>we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actually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want</a:t>
            </a:r>
            <a:r>
              <a:rPr lang="de-DE" sz="2800" dirty="0">
                <a:latin typeface="Bahnschrift" panose="020B0502040204020203" pitchFamily="34" charset="0"/>
              </a:rPr>
              <a:t>.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Instead the model must </a:t>
            </a:r>
            <a:r>
              <a:rPr lang="de-DE" sz="2800" b="1" dirty="0">
                <a:latin typeface="Bahnschrift" panose="020B0502040204020203" pitchFamily="34" charset="0"/>
              </a:rPr>
              <a:t>shadow</a:t>
            </a:r>
            <a:r>
              <a:rPr lang="de-DE" sz="2800" dirty="0">
                <a:latin typeface="Bahnschrift" panose="020B0502040204020203" pitchFamily="34" charset="0"/>
              </a:rPr>
              <a:t> the participants choices and at each step determine how likely their choices are using the model </a:t>
            </a:r>
            <a:r>
              <a:rPr lang="de-DE" sz="2800" dirty="0" smtClean="0">
                <a:latin typeface="Bahnschrift" panose="020B0502040204020203" pitchFamily="34" charset="0"/>
              </a:rPr>
              <a:t>weights and given the trial history.</a:t>
            </a:r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Doing </a:t>
            </a:r>
            <a:r>
              <a:rPr lang="de-DE" sz="2800" dirty="0" err="1">
                <a:latin typeface="Bahnschrift" panose="020B0502040204020203" pitchFamily="34" charset="0"/>
              </a:rPr>
              <a:t>this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gives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us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the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quality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of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the</a:t>
            </a:r>
            <a:r>
              <a:rPr lang="de-DE" sz="2800" dirty="0">
                <a:latin typeface="Bahnschrift" panose="020B0502040204020203" pitchFamily="34" charset="0"/>
              </a:rPr>
              <a:t> fit.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564" y="259483"/>
            <a:ext cx="11346872" cy="5939260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b="1" dirty="0"/>
              <a:t>What </a:t>
            </a:r>
            <a:r>
              <a:rPr lang="de-DE" b="1" dirty="0" err="1"/>
              <a:t>is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de-DE" dirty="0"/>
              <a:t>A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observer</a:t>
            </a:r>
            <a:r>
              <a:rPr lang="de-DE" dirty="0"/>
              <a:t> that </a:t>
            </a:r>
            <a:r>
              <a:rPr lang="de-DE" dirty="0" err="1"/>
              <a:t>infers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</a:p>
          <a:p>
            <a:pPr lvl="2">
              <a:lnSpc>
                <a:spcPct val="150000"/>
              </a:lnSpc>
            </a:pP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, </a:t>
            </a:r>
            <a:r>
              <a:rPr lang="de-DE" sz="2400" dirty="0" err="1"/>
              <a:t>drifting</a:t>
            </a:r>
            <a:r>
              <a:rPr lang="de-DE" sz="2400" dirty="0"/>
              <a:t> </a:t>
            </a:r>
            <a:r>
              <a:rPr lang="de-DE" sz="2400" b="1" dirty="0" err="1"/>
              <a:t>reward</a:t>
            </a:r>
            <a:r>
              <a:rPr lang="de-DE" sz="2400" b="1" dirty="0"/>
              <a:t> </a:t>
            </a:r>
            <a:r>
              <a:rPr lang="de-DE" sz="2400" b="1" dirty="0" err="1"/>
              <a:t>probability</a:t>
            </a:r>
            <a:endParaRPr lang="de-DE" sz="2400" b="1" dirty="0"/>
          </a:p>
          <a:p>
            <a:pPr lvl="2">
              <a:lnSpc>
                <a:spcPct val="150000"/>
              </a:lnSpc>
            </a:pPr>
            <a:r>
              <a:rPr lang="de-DE" sz="2400" dirty="0"/>
              <a:t>how fast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probability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changing</a:t>
            </a:r>
            <a:r>
              <a:rPr lang="de-DE" sz="2400" dirty="0"/>
              <a:t>: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  <a:r>
              <a:rPr lang="de-DE" sz="2400" b="1" dirty="0" err="1"/>
              <a:t>volatility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062-FE02-D332-ACCC-2BC29D29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C6EC0-4680-977E-157D-B70D093C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285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4D2C0-71C3-A36D-C240-19C1408E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">
            <a:extLst>
              <a:ext uri="{FF2B5EF4-FFF2-40B4-BE49-F238E27FC236}">
                <a16:creationId xmlns:a16="http://schemas.microsoft.com/office/drawing/2014/main" id="{9953E334-562A-1506-26C0-BF18DCB52639}"/>
              </a:ext>
            </a:extLst>
          </p:cNvPr>
          <p:cNvSpPr/>
          <p:nvPr/>
        </p:nvSpPr>
        <p:spPr>
          <a:xfrm>
            <a:off x="0" y="2903160"/>
            <a:ext cx="12191997" cy="3589709"/>
          </a:xfrm>
          <a:prstGeom prst="rect">
            <a:avLst/>
          </a:prstGeom>
          <a:solidFill>
            <a:srgbClr val="CFF1E6">
              <a:alpha val="47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“Belief”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28D5CDD-321A-4847-71AC-6456A93EB245}"/>
              </a:ext>
            </a:extLst>
          </p:cNvPr>
          <p:cNvSpPr/>
          <p:nvPr/>
        </p:nvSpPr>
        <p:spPr>
          <a:xfrm>
            <a:off x="138935" y="3089945"/>
            <a:ext cx="3600000" cy="289196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/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">
            <a:extLst>
              <a:ext uri="{FF2B5EF4-FFF2-40B4-BE49-F238E27FC236}">
                <a16:creationId xmlns:a16="http://schemas.microsoft.com/office/drawing/2014/main" id="{EF7D8214-EDDF-6A9B-B289-793C067D8451}"/>
              </a:ext>
            </a:extLst>
          </p:cNvPr>
          <p:cNvSpPr/>
          <p:nvPr/>
        </p:nvSpPr>
        <p:spPr>
          <a:xfrm>
            <a:off x="4296000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/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de-AT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variable learning rate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3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/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tendency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4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1">
            <a:extLst>
              <a:ext uri="{FF2B5EF4-FFF2-40B4-BE49-F238E27FC236}">
                <a16:creationId xmlns:a16="http://schemas.microsoft.com/office/drawing/2014/main" id="{3BDC6601-E698-8954-2BB9-94C8F9F1C48B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29E83E3E-5F32-DC8C-8054-8181C3F4BC64}"/>
              </a:ext>
            </a:extLst>
          </p:cNvPr>
          <p:cNvSpPr/>
          <p:nvPr/>
        </p:nvSpPr>
        <p:spPr>
          <a:xfrm>
            <a:off x="8453065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/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volatility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5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/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tendency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6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/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FED02B5-6D48-069C-FC79-344E0086571D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6393371" y="2271776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E1845DF-D283-F866-995B-BC18362A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0067"/>
            <a:ext cx="10515600" cy="1325563"/>
          </a:xfrm>
        </p:spPr>
        <p:txBody>
          <a:bodyPr>
            <a:normAutofit/>
          </a:bodyPr>
          <a:lstStyle/>
          <a:p>
            <a:r>
              <a:rPr lang="de-DE" sz="3200" dirty="0" err="1"/>
              <a:t>Hierarchical</a:t>
            </a:r>
            <a:r>
              <a:rPr lang="de-DE" sz="3200" dirty="0"/>
              <a:t> </a:t>
            </a:r>
            <a:r>
              <a:rPr lang="de-DE" sz="3200" dirty="0" err="1"/>
              <a:t>Gaussian</a:t>
            </a:r>
            <a:r>
              <a:rPr lang="de-DE" sz="3200" dirty="0"/>
              <a:t> Filter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/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8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B1F728F4-88A8-DED3-6FA0-B231059C86F3}"/>
              </a:ext>
            </a:extLst>
          </p:cNvPr>
          <p:cNvGrpSpPr/>
          <p:nvPr/>
        </p:nvGrpSpPr>
        <p:grpSpPr>
          <a:xfrm>
            <a:off x="299799" y="1599799"/>
            <a:ext cx="1973895" cy="909058"/>
            <a:chOff x="299799" y="1599799"/>
            <a:chExt cx="1973895" cy="9090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/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AT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  <a:r>
                    <a:rPr lang="de-AT" sz="1600" dirty="0" err="1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outcome</a:t>
                  </a:r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</a:p>
                <a:p>
                  <a:endPara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9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Grafik 36" descr="Sparschwein mit einfarbiger Füllung">
              <a:extLst>
                <a:ext uri="{FF2B5EF4-FFF2-40B4-BE49-F238E27FC236}">
                  <a16:creationId xmlns:a16="http://schemas.microsoft.com/office/drawing/2014/main" id="{D1CDCF84-9192-1490-C531-5A7E39E865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=""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72192" y="2055000"/>
              <a:ext cx="360000" cy="360000"/>
            </a:xfrm>
            <a:prstGeom prst="rect">
              <a:avLst/>
            </a:prstGeom>
          </p:spPr>
        </p:pic>
        <p:pic>
          <p:nvPicPr>
            <p:cNvPr id="39" name="Grafik 38" descr="Verbotsschild mit einfarbiger Füllung">
              <a:extLst>
                <a:ext uri="{FF2B5EF4-FFF2-40B4-BE49-F238E27FC236}">
                  <a16:creationId xmlns:a16="http://schemas.microsoft.com/office/drawing/2014/main" id="{2F0A2DEC-39ED-EFBB-8FC1-A08F6E72C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=""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329549" y="2055000"/>
              <a:ext cx="360000" cy="360000"/>
            </a:xfrm>
            <a:prstGeom prst="rect">
              <a:avLst/>
            </a:prstGeom>
          </p:spPr>
        </p:pic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874625B8-B30A-9340-4D76-677D447EB3EB}"/>
                </a:ext>
              </a:extLst>
            </p:cNvPr>
            <p:cNvSpPr txBox="1"/>
            <p:nvPr/>
          </p:nvSpPr>
          <p:spPr>
            <a:xfrm>
              <a:off x="732192" y="2054328"/>
              <a:ext cx="1482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dirty="0">
                  <a:latin typeface="Bahnschrift" panose="020B0502040204020203" pitchFamily="34" charset="0"/>
                </a:rPr>
                <a:t>= 1            = 0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AA111B18-30BF-37B3-37FA-18D9C0B8B066}"/>
              </a:ext>
            </a:extLst>
          </p:cNvPr>
          <p:cNvCxnSpPr>
            <a:cxnSpLocks/>
          </p:cNvCxnSpPr>
          <p:nvPr/>
        </p:nvCxnSpPr>
        <p:spPr>
          <a:xfrm flipV="1">
            <a:off x="2996526" y="4018590"/>
            <a:ext cx="1482130" cy="1140366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4E495BB-7919-ACC3-6B5B-0C4C8184FE65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 flipV="1">
            <a:off x="7760127" y="4491407"/>
            <a:ext cx="845523" cy="2602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38EBEA5-A74E-D7A3-1181-C6529F2EBE48}"/>
              </a:ext>
            </a:extLst>
          </p:cNvPr>
          <p:cNvCxnSpPr>
            <a:cxnSpLocks/>
          </p:cNvCxnSpPr>
          <p:nvPr/>
        </p:nvCxnSpPr>
        <p:spPr>
          <a:xfrm flipV="1">
            <a:off x="7753800" y="4879142"/>
            <a:ext cx="917167" cy="490141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FB5DBC8-B86E-EA87-06D0-EB01A375ED18}"/>
              </a:ext>
            </a:extLst>
          </p:cNvPr>
          <p:cNvCxnSpPr>
            <a:cxnSpLocks/>
          </p:cNvCxnSpPr>
          <p:nvPr/>
        </p:nvCxnSpPr>
        <p:spPr>
          <a:xfrm flipV="1">
            <a:off x="6040073" y="3961515"/>
            <a:ext cx="0" cy="251733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9FB97A4B-3771-CDAE-78C0-E98058E6BB50}"/>
              </a:ext>
            </a:extLst>
          </p:cNvPr>
          <p:cNvCxnSpPr>
            <a:cxnSpLocks/>
          </p:cNvCxnSpPr>
          <p:nvPr/>
        </p:nvCxnSpPr>
        <p:spPr>
          <a:xfrm>
            <a:off x="3011807" y="5130133"/>
            <a:ext cx="1466849" cy="0"/>
          </a:xfrm>
          <a:prstGeom prst="straightConnector1">
            <a:avLst/>
          </a:prstGeom>
          <a:ln w="57150">
            <a:solidFill>
              <a:srgbClr val="FFD7A7"/>
            </a:solidFill>
            <a:prstDash val="sysDash"/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F18FC9D-99F9-4D22-9C1E-B269ECDB5332}"/>
              </a:ext>
            </a:extLst>
          </p:cNvPr>
          <p:cNvCxnSpPr>
            <a:cxnSpLocks/>
          </p:cNvCxnSpPr>
          <p:nvPr/>
        </p:nvCxnSpPr>
        <p:spPr>
          <a:xfrm>
            <a:off x="552192" y="2508856"/>
            <a:ext cx="0" cy="214886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/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outcome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{0&lt;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&lt;1}</m:t>
                    </m:r>
                  </m:oMath>
                </a14:m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blipFill>
                <a:blip r:embed="rId1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23B5996E-424C-950D-D4E1-0F1E9D740BD4}"/>
              </a:ext>
            </a:extLst>
          </p:cNvPr>
          <p:cNvCxnSpPr>
            <a:cxnSpLocks/>
          </p:cNvCxnSpPr>
          <p:nvPr/>
        </p:nvCxnSpPr>
        <p:spPr>
          <a:xfrm flipH="1">
            <a:off x="3502325" y="3838458"/>
            <a:ext cx="917151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945AC5-0655-143B-DB87-E307C2591405}"/>
              </a:ext>
            </a:extLst>
          </p:cNvPr>
          <p:cNvCxnSpPr>
            <a:cxnSpLocks/>
          </p:cNvCxnSpPr>
          <p:nvPr/>
        </p:nvCxnSpPr>
        <p:spPr>
          <a:xfrm>
            <a:off x="1081699" y="4192505"/>
            <a:ext cx="0" cy="50550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">
            <a:extLst>
              <a:ext uri="{FF2B5EF4-FFF2-40B4-BE49-F238E27FC236}">
                <a16:creationId xmlns:a16="http://schemas.microsoft.com/office/drawing/2014/main" id="{DF5B3491-3224-51AF-48AF-9D10AAAE3CB5}"/>
              </a:ext>
            </a:extLst>
          </p:cNvPr>
          <p:cNvSpPr/>
          <p:nvPr/>
        </p:nvSpPr>
        <p:spPr>
          <a:xfrm>
            <a:off x="-138932" y="1112140"/>
            <a:ext cx="12191997" cy="32531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“Real World”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C611557-4595-CB84-8873-88DAA0552844}"/>
              </a:ext>
            </a:extLst>
          </p:cNvPr>
          <p:cNvCxnSpPr>
            <a:cxnSpLocks/>
          </p:cNvCxnSpPr>
          <p:nvPr/>
        </p:nvCxnSpPr>
        <p:spPr>
          <a:xfrm flipH="1">
            <a:off x="2214514" y="2283584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2.59259E-6 L -0.00104 -0.07384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15" grpId="0" animBg="1"/>
      <p:bldP spid="3" grpId="0" animBg="1"/>
      <p:bldP spid="16" grpId="0" animBg="1"/>
      <p:bldP spid="17" grpId="0" animBg="1"/>
      <p:bldP spid="18" grpId="0" animBg="1"/>
      <p:bldP spid="77" grpId="0" animBg="1"/>
      <p:bldP spid="20" grpId="0" animBg="1"/>
      <p:bldP spid="21" grpId="0" animBg="1"/>
      <p:bldP spid="23" grpId="0" animBg="1"/>
      <p:bldP spid="25" grpId="0" animBg="1"/>
      <p:bldP spid="2" grpId="0"/>
      <p:bldP spid="34" grpId="0" animBg="1"/>
      <p:bldP spid="4" grpId="0" animBg="1"/>
      <p:bldP spid="7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5EF51-F07F-D9E8-105E-D7722EAA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 </a:t>
            </a:r>
            <a:r>
              <a:rPr lang="de-AT" dirty="0" err="1"/>
              <a:t>comparison</a:t>
            </a:r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A6B3A0-0964-6272-34DB-C75C85FE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894966"/>
            <a:ext cx="12120722" cy="353657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27A79D-7BD5-695A-BDEA-09A8112CD80B}"/>
              </a:ext>
            </a:extLst>
          </p:cNvPr>
          <p:cNvSpPr txBox="1">
            <a:spLocks/>
          </p:cNvSpPr>
          <p:nvPr/>
        </p:nvSpPr>
        <p:spPr>
          <a:xfrm>
            <a:off x="838199" y="5641997"/>
            <a:ext cx="10515600" cy="106671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de-AT" sz="2400" dirty="0"/>
              <a:t>BIC = Bayesian Information Criterion. Measures model fit quality</a:t>
            </a:r>
          </a:p>
          <a:p>
            <a:pPr>
              <a:lnSpc>
                <a:spcPct val="150000"/>
              </a:lnSpc>
            </a:pPr>
            <a:r>
              <a:rPr lang="de-AT" sz="2400" dirty="0"/>
              <a:t>s</a:t>
            </a:r>
            <a:r>
              <a:rPr lang="en-US" sz="2400" dirty="0" err="1"/>
              <a:t>imple</a:t>
            </a:r>
            <a:r>
              <a:rPr lang="en-US" sz="2400" dirty="0"/>
              <a:t> beats complicated</a:t>
            </a:r>
          </a:p>
        </p:txBody>
      </p:sp>
    </p:spTree>
    <p:extLst>
      <p:ext uri="{BB962C8B-B14F-4D97-AF65-F5344CB8AC3E}">
        <p14:creationId xmlns:p14="http://schemas.microsoft.com/office/powerpoint/2010/main" val="98988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91" y="696778"/>
            <a:ext cx="9270628" cy="5340128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93081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527" y="459284"/>
            <a:ext cx="7766066" cy="5525710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2294222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148" y="476247"/>
            <a:ext cx="8445731" cy="6009305"/>
          </a:xfr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339492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  <p:sp>
        <p:nvSpPr>
          <p:cNvPr id="7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1229072" y="3397291"/>
            <a:ext cx="3725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>
                <a:latin typeface="Bahnschrift" panose="020B0502040204020203" pitchFamily="34" charset="0"/>
              </a:rPr>
              <a:t>Probably?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73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Conclusion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Reward-selective neurons exist and are predominantly frontal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ZETA analysis across 8 sessions (6,627 trials) shows time-locked spiking responses to reward outcomes, with outcome selectivity concentrated in MFG/IFG rather than parietal regions (SMG/AG).</a:t>
            </a:r>
          </a:p>
          <a:p>
            <a:r>
              <a:rPr lang="en-GB" b="1" dirty="0"/>
              <a:t>Simple reinforcement learning best captures behaviour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Model comparison favours </a:t>
            </a:r>
            <a:r>
              <a:rPr lang="en-GB" sz="1800" dirty="0" err="1">
                <a:solidFill>
                  <a:schemeClr val="bg1">
                    <a:lumMod val="50000"/>
                  </a:schemeClr>
                </a:solidFill>
              </a:rPr>
              <a:t>Rescorla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-Wagner/Q-learning over the Hierarchical Gaussian Filter — participants' choices are well described by a basic prediction-error update rule.</a:t>
            </a:r>
          </a:p>
          <a:p>
            <a:r>
              <a:rPr lang="en-GB" b="1" dirty="0"/>
              <a:t>Neuronal firing rates tentatively track prediction errors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Firing rates correlate with trial-by-trial RW prediction errors, suggesting frontal neurons may represent the learning signal — but direction, timing, and choice selectivity remain to be characterised.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80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Direction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Sign of prediction error vs firing rate correlation</a:t>
            </a:r>
          </a:p>
          <a:p>
            <a:r>
              <a:rPr lang="de-DE" dirty="0"/>
              <a:t>Find a better model</a:t>
            </a:r>
          </a:p>
          <a:p>
            <a:r>
              <a:rPr lang="de-DE" dirty="0"/>
              <a:t>Timing of firing rate changes after </a:t>
            </a:r>
            <a:r>
              <a:rPr lang="de-DE" dirty="0" smtClean="0"/>
              <a:t>events (LatenZy)</a:t>
            </a:r>
            <a:endParaRPr lang="de-DE" dirty="0"/>
          </a:p>
          <a:p>
            <a:r>
              <a:rPr lang="de-DE" dirty="0"/>
              <a:t>Choice selectivity</a:t>
            </a:r>
          </a:p>
          <a:p>
            <a:r>
              <a:rPr lang="de-DE" dirty="0"/>
              <a:t>Research Angual Gyrus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62919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Acknowledgements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859578"/>
            <a:ext cx="10515600" cy="3317384"/>
          </a:xfrm>
        </p:spPr>
        <p:txBody>
          <a:bodyPr/>
          <a:lstStyle/>
          <a:p>
            <a:r>
              <a:rPr lang="de-DE" dirty="0"/>
              <a:t>Hugo, Dimitris and everyone in the lab giving me much needed advice and direction</a:t>
            </a:r>
          </a:p>
          <a:p>
            <a:r>
              <a:rPr lang="de-DE" dirty="0"/>
              <a:t>Simon Jacob Lab</a:t>
            </a:r>
          </a:p>
          <a:p>
            <a:r>
              <a:rPr lang="de-DE" dirty="0"/>
              <a:t>Chen Hongbiao</a:t>
            </a:r>
          </a:p>
          <a:p>
            <a:r>
              <a:rPr lang="de-DE" dirty="0">
                <a:solidFill>
                  <a:srgbClr val="FFF8E5"/>
                </a:solidFill>
              </a:rPr>
              <a:t>coffee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735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0790054"/>
              </p:ext>
            </p:extLst>
          </p:nvPr>
        </p:nvGraphicFramePr>
        <p:xfrm>
          <a:off x="838198" y="1825625"/>
          <a:ext cx="10236202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8101">
                  <a:extLst>
                    <a:ext uri="{9D8B030D-6E8A-4147-A177-3AD203B41FA5}">
                      <a16:colId xmlns:a16="http://schemas.microsoft.com/office/drawing/2014/main" val="932210179"/>
                    </a:ext>
                  </a:extLst>
                </a:gridCol>
                <a:gridCol w="5118101">
                  <a:extLst>
                    <a:ext uri="{9D8B030D-6E8A-4147-A177-3AD203B41FA5}">
                      <a16:colId xmlns:a16="http://schemas.microsoft.com/office/drawing/2014/main" val="28569822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8996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89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393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>
                          <a:solidFill>
                            <a:schemeClr val="tx1"/>
                          </a:solidFill>
                          <a:latin typeface="Bahnschrift" panose="020B0502040204020203" pitchFamily="34" charset="0"/>
                        </a:rPr>
                        <a:t>Dopamine</a:t>
                      </a:r>
                      <a:r>
                        <a:rPr lang="de-DE" baseline="0" dirty="0" smtClean="0">
                          <a:solidFill>
                            <a:schemeClr val="tx1"/>
                          </a:solidFill>
                          <a:latin typeface="Bahnschrift" panose="020B0502040204020203" pitchFamily="34" charset="0"/>
                        </a:rPr>
                        <a:t> Prediction Error</a:t>
                      </a:r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solidFill>
                            <a:schemeClr val="tx1"/>
                          </a:solidFill>
                          <a:latin typeface="Bahnschrift" panose="020B0502040204020203" pitchFamily="34" charset="0"/>
                          <a:hlinkClick r:id="rId2"/>
                        </a:rPr>
                        <a:t>https://www.science.org/doi/10.1126/science.275.5306.1593</a:t>
                      </a:r>
                      <a:endParaRPr lang="en-GB" dirty="0" smtClean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21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>
                          <a:solidFill>
                            <a:schemeClr val="tx1"/>
                          </a:solidFill>
                          <a:latin typeface="Bahnschrift" panose="020B0502040204020203" pitchFamily="34" charset="0"/>
                        </a:rPr>
                        <a:t>Angular</a:t>
                      </a:r>
                      <a:r>
                        <a:rPr lang="de-DE" baseline="0" dirty="0" smtClean="0">
                          <a:solidFill>
                            <a:schemeClr val="tx1"/>
                          </a:solidFill>
                          <a:latin typeface="Bahnschrift" panose="020B0502040204020203" pitchFamily="34" charset="0"/>
                        </a:rPr>
                        <a:t> Gyrus Prediction Error</a:t>
                      </a:r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Bahnschrift" panose="020B0502040204020203" pitchFamily="34" charset="0"/>
                          <a:ea typeface="+mn-ea"/>
                          <a:cs typeface="+mn-cs"/>
                          <a:hlinkClick r:id="rId3"/>
                        </a:rPr>
                        <a:t>https://doi.org/10.1523/JNEUROSCI.4225-09.2010</a:t>
                      </a:r>
                      <a:endParaRPr lang="en-GB" sz="1800" b="0" i="0" kern="1200" dirty="0" smtClean="0">
                        <a:solidFill>
                          <a:schemeClr val="tx1"/>
                        </a:solidFill>
                        <a:effectLst/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7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278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746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986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922376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9744"/>
              </p:ext>
            </p:extLst>
          </p:nvPr>
        </p:nvGraphicFramePr>
        <p:xfrm>
          <a:off x="838198" y="4876030"/>
          <a:ext cx="8127999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231858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5761567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1344702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GB" sz="1800" b="1" kern="1200" dirty="0">
                        <a:solidFill>
                          <a:schemeClr val="lt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48996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800" b="1" kern="1200" dirty="0" smtClean="0">
                          <a:solidFill>
                            <a:schemeClr val="lt1"/>
                          </a:solidFill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Base (</a:t>
                      </a:r>
                      <a:r>
                        <a:rPr lang="en-GB" sz="1800" b="1" kern="1200" dirty="0" err="1" smtClean="0">
                          <a:solidFill>
                            <a:schemeClr val="lt1"/>
                          </a:solidFill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a,b</a:t>
                      </a:r>
                      <a:r>
                        <a:rPr lang="en-GB" sz="1800" b="1" kern="1200" dirty="0" smtClean="0">
                          <a:solidFill>
                            <a:schemeClr val="lt1"/>
                          </a:solidFill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) </a:t>
                      </a:r>
                      <a:endParaRPr lang="en-GB" sz="1800" b="1" kern="1200" dirty="0">
                        <a:solidFill>
                          <a:schemeClr val="lt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4899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1" kern="1200" dirty="0" smtClean="0">
                          <a:solidFill>
                            <a:schemeClr val="lt1"/>
                          </a:solidFill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Full (</a:t>
                      </a:r>
                      <a:r>
                        <a:rPr lang="en-GB" sz="1800" b="1" kern="1200" dirty="0" err="1" smtClean="0">
                          <a:solidFill>
                            <a:schemeClr val="lt1"/>
                          </a:solidFill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a,b,phi</a:t>
                      </a:r>
                      <a:r>
                        <a:rPr lang="en-GB" sz="1800" b="1" kern="1200" dirty="0" smtClean="0">
                          <a:solidFill>
                            <a:schemeClr val="lt1"/>
                          </a:solidFill>
                          <a:latin typeface="Bahnschrift" panose="020B0502040204020203" pitchFamily="34" charset="0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pPr marL="0" algn="l" defTabSz="914400" rtl="0" eaLnBrk="1" latinLnBrk="0" hangingPunct="1"/>
                      <a:endParaRPr lang="en-GB" sz="1800" b="1" kern="1200" dirty="0">
                        <a:solidFill>
                          <a:schemeClr val="lt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489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1475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alpha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0.6349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0.6374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731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beta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1.8134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1.6303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506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phi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--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 smtClean="0">
                          <a:latin typeface="Bahnschrift" panose="020B0502040204020203" pitchFamily="34" charset="0"/>
                        </a:rPr>
                        <a:t>0.2474</a:t>
                      </a:r>
                      <a:endParaRPr lang="en-GB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652647"/>
                  </a:ext>
                </a:extLst>
              </a:tr>
            </a:tbl>
          </a:graphicData>
        </a:graphic>
      </p:graphicFrame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 smtClean="0"/>
              <a:t>Bonus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8553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447</TotalTime>
  <Words>2000</Words>
  <Application>Microsoft Office PowerPoint</Application>
  <PresentationFormat>Widescreen</PresentationFormat>
  <Paragraphs>369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Project Summary</vt:lpstr>
      <vt:lpstr>Project Summary</vt:lpstr>
      <vt:lpstr>Project Summary</vt:lpstr>
      <vt:lpstr>PowerPoint Presentation</vt:lpstr>
      <vt:lpstr>Research Questions</vt:lpstr>
      <vt:lpstr>PowerPoint Presentation</vt:lpstr>
      <vt:lpstr>ZETA test for time-locked spiking </vt:lpstr>
      <vt:lpstr>ZETA test for time-locked spiking </vt:lpstr>
      <vt:lpstr>ZETA visualization</vt:lpstr>
      <vt:lpstr>ZETA visualization</vt:lpstr>
      <vt:lpstr>ZETA visualization</vt:lpstr>
      <vt:lpstr>ZETA visualization</vt:lpstr>
      <vt:lpstr>ZETA visualization</vt:lpstr>
      <vt:lpstr>ZETA visualization</vt:lpstr>
      <vt:lpstr>ZETA Results</vt:lpstr>
      <vt:lpstr>ZETA2 visualization</vt:lpstr>
      <vt:lpstr>ZETA2 visualization</vt:lpstr>
      <vt:lpstr>ZETA2 visualization</vt:lpstr>
      <vt:lpstr>ZETA2 results</vt:lpstr>
      <vt:lpstr>Research Questions</vt:lpstr>
      <vt:lpstr>Why behavioural modelling?</vt:lpstr>
      <vt:lpstr>Rescorla wagner/ Q-learning</vt:lpstr>
      <vt:lpstr>Rescorla wagner/ Q-learning</vt:lpstr>
      <vt:lpstr>Rescorla wagner/ Q-learning</vt:lpstr>
      <vt:lpstr>Rescorla wagner/ Q-learning</vt:lpstr>
      <vt:lpstr>Rescorla wagner/ Q-learning + „stickiness“</vt:lpstr>
      <vt:lpstr>Rescorla wagner/ Q-learning</vt:lpstr>
      <vt:lpstr>PowerPoint Presentation</vt:lpstr>
      <vt:lpstr>Hierarchical Gaussian Filter</vt:lpstr>
      <vt:lpstr>Hierarchical Gaussian Filter</vt:lpstr>
      <vt:lpstr>Hierarchical Gaussian Filter</vt:lpstr>
      <vt:lpstr>Model comparison</vt:lpstr>
      <vt:lpstr>PowerPoint Presentation</vt:lpstr>
      <vt:lpstr>PowerPoint Presentation</vt:lpstr>
      <vt:lpstr>PowerPoint Presentation</vt:lpstr>
      <vt:lpstr>Research Questions</vt:lpstr>
      <vt:lpstr>Conclusion</vt:lpstr>
      <vt:lpstr>Future Direction</vt:lpstr>
      <vt:lpstr>Acknowledgements</vt:lpstr>
      <vt:lpstr>Bonus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mstammler</cp:lastModifiedBy>
  <cp:revision>101</cp:revision>
  <dcterms:created xsi:type="dcterms:W3CDTF">2026-06-22T10:02:13Z</dcterms:created>
  <dcterms:modified xsi:type="dcterms:W3CDTF">2026-06-30T15:26:41Z</dcterms:modified>
</cp:coreProperties>
</file>