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25.svg" ContentType="image/svg+xml"/>
  <Override PartName="/ppt/media/image2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EA52EC-7676-47C9-8D53-46B739BD2587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</dgm:pt>
    <dgm:pt modelId="{DBF283F7-617E-4082-A2AD-BFAAF939546A}">
      <dgm:prSet phldrT="[Text]" custT="1"/>
      <dgm:spPr>
        <a:solidFill>
          <a:srgbClr val="CFF1E6"/>
        </a:solidFill>
      </dgm:spPr>
      <dgm:t>
        <a:bodyPr/>
        <a:lstStyle/>
        <a:p>
          <a:r>
            <a:rPr lang="en-US" sz="2800" kern="1200" dirty="0" smtClean="0">
              <a:solidFill>
                <a:schemeClr val="tx1"/>
              </a:solidFill>
              <a:latin typeface="Bahnschrift" panose="020B0502040204020203" pitchFamily="34" charset="0"/>
              <a:ea typeface="+mn-ea"/>
              <a:cs typeface="+mn-cs"/>
            </a:rPr>
            <a:t>out-come</a:t>
          </a:r>
          <a:endParaRPr lang="en-US" sz="2800" kern="1200" dirty="0">
            <a:solidFill>
              <a:schemeClr val="tx1"/>
            </a:solidFill>
            <a:latin typeface="Bahnschrift" panose="020B0502040204020203" pitchFamily="34" charset="0"/>
            <a:ea typeface="+mn-ea"/>
            <a:cs typeface="+mn-cs"/>
          </a:endParaRPr>
        </a:p>
      </dgm:t>
    </dgm:pt>
    <dgm:pt modelId="{48859DF4-1CAC-4FFA-950E-A8C3D6C6EDD0}" type="parTrans" cxnId="{A3BD1D09-917F-446D-BBFC-01EE249FBAC4}">
      <dgm:prSet/>
      <dgm:spPr/>
      <dgm:t>
        <a:bodyPr/>
        <a:lstStyle/>
        <a:p>
          <a:endParaRPr lang="en-US"/>
        </a:p>
      </dgm:t>
    </dgm:pt>
    <dgm:pt modelId="{2B269CAD-26B2-49B7-8DBE-9F0441B9BE1E}" type="sibTrans" cxnId="{A3BD1D09-917F-446D-BBFC-01EE249FBAC4}">
      <dgm:prSet/>
      <dgm:spPr/>
      <dgm:t>
        <a:bodyPr/>
        <a:lstStyle/>
        <a:p>
          <a:endParaRPr lang="en-US"/>
        </a:p>
      </dgm:t>
    </dgm:pt>
    <dgm:pt modelId="{0BC66A2B-1DD2-4A8C-A7E6-4706A5A565F2}">
      <dgm:prSet phldrT="[Text]" custT="1"/>
      <dgm:spPr>
        <a:solidFill>
          <a:srgbClr val="FFD7A7"/>
        </a:solidFill>
      </dgm:spPr>
      <dgm:t>
        <a:bodyPr/>
        <a:lstStyle/>
        <a:p>
          <a:r>
            <a:rPr lang="en-US" sz="2800" b="1" kern="1200" dirty="0">
              <a:solidFill>
                <a:schemeClr val="tx1"/>
              </a:solidFill>
              <a:latin typeface="Bahnschrift" panose="020B0502040204020203" pitchFamily="34" charset="0"/>
              <a:ea typeface="+mn-ea"/>
              <a:cs typeface="+mn-cs"/>
            </a:rPr>
            <a:t>latent variables</a:t>
          </a:r>
        </a:p>
      </dgm:t>
    </dgm:pt>
    <dgm:pt modelId="{53A6D6CB-1B65-4EC5-8C87-678BCA6B287D}" type="parTrans" cxnId="{054D30D1-3227-4A91-8F68-5D1E792E8774}">
      <dgm:prSet/>
      <dgm:spPr/>
      <dgm:t>
        <a:bodyPr/>
        <a:lstStyle/>
        <a:p>
          <a:endParaRPr lang="en-US"/>
        </a:p>
      </dgm:t>
    </dgm:pt>
    <dgm:pt modelId="{5F85C5D3-97EB-437D-BC96-722C0B626794}" type="sibTrans" cxnId="{054D30D1-3227-4A91-8F68-5D1E792E8774}">
      <dgm:prSet/>
      <dgm:spPr/>
      <dgm:t>
        <a:bodyPr/>
        <a:lstStyle/>
        <a:p>
          <a:endParaRPr lang="en-US"/>
        </a:p>
      </dgm:t>
    </dgm:pt>
    <dgm:pt modelId="{465ABD7E-49EC-43D9-97C5-6A4B67335834}">
      <dgm:prSet phldrT="[Text]" custT="1"/>
      <dgm:spPr>
        <a:solidFill>
          <a:srgbClr val="CFF1E6"/>
        </a:solidFill>
      </dgm:spPr>
      <dgm:t>
        <a:bodyPr/>
        <a:lstStyle/>
        <a:p>
          <a:r>
            <a:rPr lang="en-US" sz="2800" kern="1200" dirty="0">
              <a:solidFill>
                <a:schemeClr val="tx1"/>
              </a:solidFill>
              <a:latin typeface="Bahnschrift" panose="020B0502040204020203" pitchFamily="34" charset="0"/>
              <a:ea typeface="+mn-ea"/>
              <a:cs typeface="+mn-cs"/>
            </a:rPr>
            <a:t>choice</a:t>
          </a:r>
        </a:p>
      </dgm:t>
    </dgm:pt>
    <dgm:pt modelId="{F86C5027-5A3B-4A7A-A8C2-CE64D014DE97}" type="parTrans" cxnId="{26E01A93-AAB4-4B0E-9714-DDECC3C8A632}">
      <dgm:prSet/>
      <dgm:spPr/>
      <dgm:t>
        <a:bodyPr/>
        <a:lstStyle/>
        <a:p>
          <a:endParaRPr lang="en-US"/>
        </a:p>
      </dgm:t>
    </dgm:pt>
    <dgm:pt modelId="{B0E0A821-4726-4C37-A1CE-BF1E908724BF}" type="sibTrans" cxnId="{26E01A93-AAB4-4B0E-9714-DDECC3C8A632}">
      <dgm:prSet/>
      <dgm:spPr/>
      <dgm:t>
        <a:bodyPr/>
        <a:lstStyle/>
        <a:p>
          <a:endParaRPr lang="en-US"/>
        </a:p>
      </dgm:t>
    </dgm:pt>
    <dgm:pt modelId="{5B589FE8-1180-43E9-9DD9-8C60F02AF256}" type="pres">
      <dgm:prSet presAssocID="{4DEA52EC-7676-47C9-8D53-46B739BD2587}" presName="compositeShape" presStyleCnt="0">
        <dgm:presLayoutVars>
          <dgm:chMax val="7"/>
          <dgm:dir/>
          <dgm:resizeHandles val="exact"/>
        </dgm:presLayoutVars>
      </dgm:prSet>
      <dgm:spPr/>
    </dgm:pt>
    <dgm:pt modelId="{ECE168B9-97D6-4F75-9289-AF0458231259}" type="pres">
      <dgm:prSet presAssocID="{4DEA52EC-7676-47C9-8D53-46B739BD2587}" presName="wedge1" presStyleLbl="node1" presStyleIdx="0" presStyleCnt="3"/>
      <dgm:spPr/>
      <dgm:t>
        <a:bodyPr/>
        <a:lstStyle/>
        <a:p>
          <a:endParaRPr lang="en-US"/>
        </a:p>
      </dgm:t>
    </dgm:pt>
    <dgm:pt modelId="{936F56D5-CB26-4B20-B0FA-6C6FE1834F39}" type="pres">
      <dgm:prSet presAssocID="{4DEA52EC-7676-47C9-8D53-46B739BD2587}" presName="dummy1a" presStyleCnt="0"/>
      <dgm:spPr/>
    </dgm:pt>
    <dgm:pt modelId="{F60AA58E-22C8-4E39-ACCD-DFB7D3AA2B40}" type="pres">
      <dgm:prSet presAssocID="{4DEA52EC-7676-47C9-8D53-46B739BD2587}" presName="dummy1b" presStyleCnt="0"/>
      <dgm:spPr/>
    </dgm:pt>
    <dgm:pt modelId="{B96C4C7D-8621-4D0F-BBC4-D8B0CA18F115}" type="pres">
      <dgm:prSet presAssocID="{4DEA52EC-7676-47C9-8D53-46B739BD2587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2BDB46-B1F8-4502-BAF4-FF4CD80D55D7}" type="pres">
      <dgm:prSet presAssocID="{4DEA52EC-7676-47C9-8D53-46B739BD2587}" presName="wedge2" presStyleLbl="node1" presStyleIdx="1" presStyleCnt="3" custScaleX="121659" custScaleY="114947"/>
      <dgm:spPr/>
      <dgm:t>
        <a:bodyPr/>
        <a:lstStyle/>
        <a:p>
          <a:endParaRPr lang="en-US"/>
        </a:p>
      </dgm:t>
    </dgm:pt>
    <dgm:pt modelId="{BBCA0883-4239-43BF-8066-2531F61B2759}" type="pres">
      <dgm:prSet presAssocID="{4DEA52EC-7676-47C9-8D53-46B739BD2587}" presName="dummy2a" presStyleCnt="0"/>
      <dgm:spPr/>
    </dgm:pt>
    <dgm:pt modelId="{31038F61-FB99-4A02-B9E3-757F8127A8F9}" type="pres">
      <dgm:prSet presAssocID="{4DEA52EC-7676-47C9-8D53-46B739BD2587}" presName="dummy2b" presStyleCnt="0"/>
      <dgm:spPr/>
    </dgm:pt>
    <dgm:pt modelId="{10A53F47-8ED4-4B0B-B765-C54515E800D2}" type="pres">
      <dgm:prSet presAssocID="{4DEA52EC-7676-47C9-8D53-46B739BD2587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E000D8-9AAE-49A4-87FF-0642AB719E81}" type="pres">
      <dgm:prSet presAssocID="{4DEA52EC-7676-47C9-8D53-46B739BD2587}" presName="wedge3" presStyleLbl="node1" presStyleIdx="2" presStyleCnt="3"/>
      <dgm:spPr/>
      <dgm:t>
        <a:bodyPr/>
        <a:lstStyle/>
        <a:p>
          <a:endParaRPr lang="en-US"/>
        </a:p>
      </dgm:t>
    </dgm:pt>
    <dgm:pt modelId="{8245ECD6-57B2-4F6F-B83D-4AB0EA52FE4D}" type="pres">
      <dgm:prSet presAssocID="{4DEA52EC-7676-47C9-8D53-46B739BD2587}" presName="dummy3a" presStyleCnt="0"/>
      <dgm:spPr/>
    </dgm:pt>
    <dgm:pt modelId="{1074AF88-0D25-412C-97FA-37DFF9F6F7C9}" type="pres">
      <dgm:prSet presAssocID="{4DEA52EC-7676-47C9-8D53-46B739BD2587}" presName="dummy3b" presStyleCnt="0"/>
      <dgm:spPr/>
    </dgm:pt>
    <dgm:pt modelId="{6DDCB976-2FE0-4A90-B6ED-DE80609CC20C}" type="pres">
      <dgm:prSet presAssocID="{4DEA52EC-7676-47C9-8D53-46B739BD2587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DD7363-32E9-4432-A10F-A450F8052676}" type="pres">
      <dgm:prSet presAssocID="{2B269CAD-26B2-49B7-8DBE-9F0441B9BE1E}" presName="arrowWedge1" presStyleLbl="fgSibTrans2D1" presStyleIdx="0" presStyleCnt="3"/>
      <dgm:spPr>
        <a:solidFill>
          <a:srgbClr val="0CB87F"/>
        </a:solidFill>
      </dgm:spPr>
    </dgm:pt>
    <dgm:pt modelId="{EE594C67-07A8-4253-96DD-429D3EBFF105}" type="pres">
      <dgm:prSet presAssocID="{5F85C5D3-97EB-437D-BC96-722C0B626794}" presName="arrowWedge2" presStyleLbl="fgSibTrans2D1" presStyleIdx="1" presStyleCnt="3" custScaleX="121659" custScaleY="114947"/>
      <dgm:spPr>
        <a:solidFill>
          <a:srgbClr val="FF9412"/>
        </a:solidFill>
      </dgm:spPr>
    </dgm:pt>
    <dgm:pt modelId="{FBE90A44-D576-4B55-A365-B5C38D946CB1}" type="pres">
      <dgm:prSet presAssocID="{B0E0A821-4726-4C37-A1CE-BF1E908724BF}" presName="arrowWedge3" presStyleLbl="fgSibTrans2D1" presStyleIdx="2" presStyleCnt="3"/>
      <dgm:spPr>
        <a:solidFill>
          <a:srgbClr val="0CB87F"/>
        </a:solidFill>
      </dgm:spPr>
    </dgm:pt>
  </dgm:ptLst>
  <dgm:cxnLst>
    <dgm:cxn modelId="{26E01A93-AAB4-4B0E-9714-DDECC3C8A632}" srcId="{4DEA52EC-7676-47C9-8D53-46B739BD2587}" destId="{465ABD7E-49EC-43D9-97C5-6A4B67335834}" srcOrd="2" destOrd="0" parTransId="{F86C5027-5A3B-4A7A-A8C2-CE64D014DE97}" sibTransId="{B0E0A821-4726-4C37-A1CE-BF1E908724BF}"/>
    <dgm:cxn modelId="{A3BD1D09-917F-446D-BBFC-01EE249FBAC4}" srcId="{4DEA52EC-7676-47C9-8D53-46B739BD2587}" destId="{DBF283F7-617E-4082-A2AD-BFAAF939546A}" srcOrd="0" destOrd="0" parTransId="{48859DF4-1CAC-4FFA-950E-A8C3D6C6EDD0}" sibTransId="{2B269CAD-26B2-49B7-8DBE-9F0441B9BE1E}"/>
    <dgm:cxn modelId="{9C4AFFA6-8D65-4D9A-ACAC-4F79155E5D3C}" type="presOf" srcId="{4DEA52EC-7676-47C9-8D53-46B739BD2587}" destId="{5B589FE8-1180-43E9-9DD9-8C60F02AF256}" srcOrd="0" destOrd="0" presId="urn:microsoft.com/office/officeart/2005/8/layout/cycle8"/>
    <dgm:cxn modelId="{A888CEDD-92B2-4708-BD8D-16EAECE9934F}" type="presOf" srcId="{DBF283F7-617E-4082-A2AD-BFAAF939546A}" destId="{ECE168B9-97D6-4F75-9289-AF0458231259}" srcOrd="0" destOrd="0" presId="urn:microsoft.com/office/officeart/2005/8/layout/cycle8"/>
    <dgm:cxn modelId="{E0EB9B1E-AC48-4775-B852-9ACA75C44C78}" type="presOf" srcId="{0BC66A2B-1DD2-4A8C-A7E6-4706A5A565F2}" destId="{10A53F47-8ED4-4B0B-B765-C54515E800D2}" srcOrd="1" destOrd="0" presId="urn:microsoft.com/office/officeart/2005/8/layout/cycle8"/>
    <dgm:cxn modelId="{0B220C60-5818-43B2-939E-982284DA03A5}" type="presOf" srcId="{465ABD7E-49EC-43D9-97C5-6A4B67335834}" destId="{D5E000D8-9AAE-49A4-87FF-0642AB719E81}" srcOrd="0" destOrd="0" presId="urn:microsoft.com/office/officeart/2005/8/layout/cycle8"/>
    <dgm:cxn modelId="{BB0E7396-0C60-44A9-95EE-3F01D4E9DE43}" type="presOf" srcId="{0BC66A2B-1DD2-4A8C-A7E6-4706A5A565F2}" destId="{EB2BDB46-B1F8-4502-BAF4-FF4CD80D55D7}" srcOrd="0" destOrd="0" presId="urn:microsoft.com/office/officeart/2005/8/layout/cycle8"/>
    <dgm:cxn modelId="{054D30D1-3227-4A91-8F68-5D1E792E8774}" srcId="{4DEA52EC-7676-47C9-8D53-46B739BD2587}" destId="{0BC66A2B-1DD2-4A8C-A7E6-4706A5A565F2}" srcOrd="1" destOrd="0" parTransId="{53A6D6CB-1B65-4EC5-8C87-678BCA6B287D}" sibTransId="{5F85C5D3-97EB-437D-BC96-722C0B626794}"/>
    <dgm:cxn modelId="{645A2DB8-3540-49FE-A150-CFEC60E8473A}" type="presOf" srcId="{465ABD7E-49EC-43D9-97C5-6A4B67335834}" destId="{6DDCB976-2FE0-4A90-B6ED-DE80609CC20C}" srcOrd="1" destOrd="0" presId="urn:microsoft.com/office/officeart/2005/8/layout/cycle8"/>
    <dgm:cxn modelId="{221C58C9-64CB-4D36-BA60-E09FC27F6E29}" type="presOf" srcId="{DBF283F7-617E-4082-A2AD-BFAAF939546A}" destId="{B96C4C7D-8621-4D0F-BBC4-D8B0CA18F115}" srcOrd="1" destOrd="0" presId="urn:microsoft.com/office/officeart/2005/8/layout/cycle8"/>
    <dgm:cxn modelId="{2D01EE17-B314-4859-9BDA-46F0F211E530}" type="presParOf" srcId="{5B589FE8-1180-43E9-9DD9-8C60F02AF256}" destId="{ECE168B9-97D6-4F75-9289-AF0458231259}" srcOrd="0" destOrd="0" presId="urn:microsoft.com/office/officeart/2005/8/layout/cycle8"/>
    <dgm:cxn modelId="{650500E8-FF35-4B10-B79D-B941396585E3}" type="presParOf" srcId="{5B589FE8-1180-43E9-9DD9-8C60F02AF256}" destId="{936F56D5-CB26-4B20-B0FA-6C6FE1834F39}" srcOrd="1" destOrd="0" presId="urn:microsoft.com/office/officeart/2005/8/layout/cycle8"/>
    <dgm:cxn modelId="{AB88B786-4180-409E-85F7-4EEBABBE756B}" type="presParOf" srcId="{5B589FE8-1180-43E9-9DD9-8C60F02AF256}" destId="{F60AA58E-22C8-4E39-ACCD-DFB7D3AA2B40}" srcOrd="2" destOrd="0" presId="urn:microsoft.com/office/officeart/2005/8/layout/cycle8"/>
    <dgm:cxn modelId="{1AAC7621-A02D-4A4C-AC95-82D0C85496C1}" type="presParOf" srcId="{5B589FE8-1180-43E9-9DD9-8C60F02AF256}" destId="{B96C4C7D-8621-4D0F-BBC4-D8B0CA18F115}" srcOrd="3" destOrd="0" presId="urn:microsoft.com/office/officeart/2005/8/layout/cycle8"/>
    <dgm:cxn modelId="{4B728EB6-2227-4633-8AA0-4901097A64E9}" type="presParOf" srcId="{5B589FE8-1180-43E9-9DD9-8C60F02AF256}" destId="{EB2BDB46-B1F8-4502-BAF4-FF4CD80D55D7}" srcOrd="4" destOrd="0" presId="urn:microsoft.com/office/officeart/2005/8/layout/cycle8"/>
    <dgm:cxn modelId="{7063EAF8-E520-46FA-9921-53CBEDAE809C}" type="presParOf" srcId="{5B589FE8-1180-43E9-9DD9-8C60F02AF256}" destId="{BBCA0883-4239-43BF-8066-2531F61B2759}" srcOrd="5" destOrd="0" presId="urn:microsoft.com/office/officeart/2005/8/layout/cycle8"/>
    <dgm:cxn modelId="{229063A9-8402-4021-A75B-10C02AAA8DEC}" type="presParOf" srcId="{5B589FE8-1180-43E9-9DD9-8C60F02AF256}" destId="{31038F61-FB99-4A02-B9E3-757F8127A8F9}" srcOrd="6" destOrd="0" presId="urn:microsoft.com/office/officeart/2005/8/layout/cycle8"/>
    <dgm:cxn modelId="{3B0869B0-EBE4-4235-A72A-48598CC8C9C2}" type="presParOf" srcId="{5B589FE8-1180-43E9-9DD9-8C60F02AF256}" destId="{10A53F47-8ED4-4B0B-B765-C54515E800D2}" srcOrd="7" destOrd="0" presId="urn:microsoft.com/office/officeart/2005/8/layout/cycle8"/>
    <dgm:cxn modelId="{2395E4C2-6FCE-4E7A-9113-49B263ED1464}" type="presParOf" srcId="{5B589FE8-1180-43E9-9DD9-8C60F02AF256}" destId="{D5E000D8-9AAE-49A4-87FF-0642AB719E81}" srcOrd="8" destOrd="0" presId="urn:microsoft.com/office/officeart/2005/8/layout/cycle8"/>
    <dgm:cxn modelId="{04F98DAB-7911-48FC-81A4-5C43A9500CBB}" type="presParOf" srcId="{5B589FE8-1180-43E9-9DD9-8C60F02AF256}" destId="{8245ECD6-57B2-4F6F-B83D-4AB0EA52FE4D}" srcOrd="9" destOrd="0" presId="urn:microsoft.com/office/officeart/2005/8/layout/cycle8"/>
    <dgm:cxn modelId="{E26EA9AD-5807-4830-990A-9B6F1ED7FDFF}" type="presParOf" srcId="{5B589FE8-1180-43E9-9DD9-8C60F02AF256}" destId="{1074AF88-0D25-412C-97FA-37DFF9F6F7C9}" srcOrd="10" destOrd="0" presId="urn:microsoft.com/office/officeart/2005/8/layout/cycle8"/>
    <dgm:cxn modelId="{790547AE-AFE1-45A6-9C2E-524EF57980D5}" type="presParOf" srcId="{5B589FE8-1180-43E9-9DD9-8C60F02AF256}" destId="{6DDCB976-2FE0-4A90-B6ED-DE80609CC20C}" srcOrd="11" destOrd="0" presId="urn:microsoft.com/office/officeart/2005/8/layout/cycle8"/>
    <dgm:cxn modelId="{CCBB7E69-8F5E-4FC6-9EB1-F19FD377E4BF}" type="presParOf" srcId="{5B589FE8-1180-43E9-9DD9-8C60F02AF256}" destId="{E8DD7363-32E9-4432-A10F-A450F8052676}" srcOrd="12" destOrd="0" presId="urn:microsoft.com/office/officeart/2005/8/layout/cycle8"/>
    <dgm:cxn modelId="{986AC119-102B-478A-8B23-EA74D520442F}" type="presParOf" srcId="{5B589FE8-1180-43E9-9DD9-8C60F02AF256}" destId="{EE594C67-07A8-4253-96DD-429D3EBFF105}" srcOrd="13" destOrd="0" presId="urn:microsoft.com/office/officeart/2005/8/layout/cycle8"/>
    <dgm:cxn modelId="{FF2182A8-FE56-4B78-B033-6876598E0CB6}" type="presParOf" srcId="{5B589FE8-1180-43E9-9DD9-8C60F02AF256}" destId="{FBE90A44-D576-4B55-A365-B5C38D946CB1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E168B9-97D6-4F75-9289-AF0458231259}">
      <dsp:nvSpPr>
        <dsp:cNvPr id="0" name=""/>
        <dsp:cNvSpPr/>
      </dsp:nvSpPr>
      <dsp:spPr>
        <a:xfrm>
          <a:off x="1329941" y="187629"/>
          <a:ext cx="3152167" cy="3152167"/>
        </a:xfrm>
        <a:prstGeom prst="pie">
          <a:avLst>
            <a:gd name="adj1" fmla="val 16200000"/>
            <a:gd name="adj2" fmla="val 1800000"/>
          </a:avLst>
        </a:prstGeom>
        <a:solidFill>
          <a:srgbClr val="CFF1E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>
              <a:solidFill>
                <a:schemeClr val="tx1"/>
              </a:solidFill>
              <a:latin typeface="Bahnschrift" panose="020B0502040204020203" pitchFamily="34" charset="0"/>
              <a:ea typeface="+mn-ea"/>
              <a:cs typeface="+mn-cs"/>
            </a:rPr>
            <a:t>out-come</a:t>
          </a:r>
          <a:endParaRPr lang="en-US" sz="2800" kern="1200" dirty="0">
            <a:solidFill>
              <a:schemeClr val="tx1"/>
            </a:solidFill>
            <a:latin typeface="Bahnschrift" panose="020B0502040204020203" pitchFamily="34" charset="0"/>
            <a:ea typeface="+mn-ea"/>
            <a:cs typeface="+mn-cs"/>
          </a:endParaRPr>
        </a:p>
      </dsp:txBody>
      <dsp:txXfrm>
        <a:off x="2991208" y="855588"/>
        <a:ext cx="1125774" cy="938145"/>
      </dsp:txXfrm>
    </dsp:sp>
    <dsp:sp modelId="{EB2BDB46-B1F8-4502-BAF4-FF4CD80D55D7}">
      <dsp:nvSpPr>
        <dsp:cNvPr id="0" name=""/>
        <dsp:cNvSpPr/>
      </dsp:nvSpPr>
      <dsp:spPr>
        <a:xfrm>
          <a:off x="923657" y="64629"/>
          <a:ext cx="3834895" cy="3623321"/>
        </a:xfrm>
        <a:prstGeom prst="pie">
          <a:avLst>
            <a:gd name="adj1" fmla="val 1800000"/>
            <a:gd name="adj2" fmla="val 9000000"/>
          </a:avLst>
        </a:prstGeom>
        <a:solidFill>
          <a:srgbClr val="FFD7A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>
              <a:solidFill>
                <a:schemeClr val="tx1"/>
              </a:solidFill>
              <a:latin typeface="Bahnschrift" panose="020B0502040204020203" pitchFamily="34" charset="0"/>
              <a:ea typeface="+mn-ea"/>
              <a:cs typeface="+mn-cs"/>
            </a:rPr>
            <a:t>latent variables</a:t>
          </a:r>
        </a:p>
      </dsp:txBody>
      <dsp:txXfrm>
        <a:off x="1836728" y="2415474"/>
        <a:ext cx="2054408" cy="948965"/>
      </dsp:txXfrm>
    </dsp:sp>
    <dsp:sp modelId="{D5E000D8-9AAE-49A4-87FF-0642AB719E81}">
      <dsp:nvSpPr>
        <dsp:cNvPr id="0" name=""/>
        <dsp:cNvSpPr/>
      </dsp:nvSpPr>
      <dsp:spPr>
        <a:xfrm>
          <a:off x="1200102" y="187629"/>
          <a:ext cx="3152167" cy="3152167"/>
        </a:xfrm>
        <a:prstGeom prst="pie">
          <a:avLst>
            <a:gd name="adj1" fmla="val 9000000"/>
            <a:gd name="adj2" fmla="val 16200000"/>
          </a:avLst>
        </a:prstGeom>
        <a:solidFill>
          <a:srgbClr val="CFF1E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>
              <a:solidFill>
                <a:schemeClr val="tx1"/>
              </a:solidFill>
              <a:latin typeface="Bahnschrift" panose="020B0502040204020203" pitchFamily="34" charset="0"/>
              <a:ea typeface="+mn-ea"/>
              <a:cs typeface="+mn-cs"/>
            </a:rPr>
            <a:t>choice</a:t>
          </a:r>
        </a:p>
      </dsp:txBody>
      <dsp:txXfrm>
        <a:off x="1565228" y="855588"/>
        <a:ext cx="1125774" cy="938145"/>
      </dsp:txXfrm>
    </dsp:sp>
    <dsp:sp modelId="{E8DD7363-32E9-4432-A10F-A450F8052676}">
      <dsp:nvSpPr>
        <dsp:cNvPr id="0" name=""/>
        <dsp:cNvSpPr/>
      </dsp:nvSpPr>
      <dsp:spPr>
        <a:xfrm>
          <a:off x="1135067" y="-7505"/>
          <a:ext cx="3542435" cy="3542435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rgbClr val="0CB87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594C67-07A8-4253-96DD-429D3EBFF105}">
      <dsp:nvSpPr>
        <dsp:cNvPr id="0" name=""/>
        <dsp:cNvSpPr/>
      </dsp:nvSpPr>
      <dsp:spPr>
        <a:xfrm>
          <a:off x="681516" y="-162963"/>
          <a:ext cx="4309691" cy="4071923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rgbClr val="FF941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E90A44-D576-4B55-A365-B5C38D946CB1}">
      <dsp:nvSpPr>
        <dsp:cNvPr id="0" name=""/>
        <dsp:cNvSpPr/>
      </dsp:nvSpPr>
      <dsp:spPr>
        <a:xfrm>
          <a:off x="1004707" y="-7505"/>
          <a:ext cx="3542435" cy="3542435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rgbClr val="0CB87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59808-1A20-477A-A0D6-EA41C831B075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4F5B-D7E0-43D4-9683-3C07BF60FA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1258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59808-1A20-477A-A0D6-EA41C831B075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4F5B-D7E0-43D4-9683-3C07BF60FA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4591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59808-1A20-477A-A0D6-EA41C831B075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4F5B-D7E0-43D4-9683-3C07BF60FA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1937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59808-1A20-477A-A0D6-EA41C831B075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4F5B-D7E0-43D4-9683-3C07BF60FA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497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59808-1A20-477A-A0D6-EA41C831B075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4F5B-D7E0-43D4-9683-3C07BF60FA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566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59808-1A20-477A-A0D6-EA41C831B075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4F5B-D7E0-43D4-9683-3C07BF60FA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288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59808-1A20-477A-A0D6-EA41C831B075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4F5B-D7E0-43D4-9683-3C07BF60FA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6551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59808-1A20-477A-A0D6-EA41C831B075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4F5B-D7E0-43D4-9683-3C07BF60FA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5668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59808-1A20-477A-A0D6-EA41C831B075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4F5B-D7E0-43D4-9683-3C07BF60FA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9529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59808-1A20-477A-A0D6-EA41C831B075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4F5B-D7E0-43D4-9683-3C07BF60FA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883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59808-1A20-477A-A0D6-EA41C831B075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4F5B-D7E0-43D4-9683-3C07BF60FA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13020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59808-1A20-477A-A0D6-EA41C831B075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64F5B-D7E0-43D4-9683-3C07BF60FA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2941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zeta_mathematical_visualizer.html" TargetMode="Externa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0.png"/><Relationship Id="rId5" Type="http://schemas.openxmlformats.org/officeDocument/2006/relationships/image" Target="../media/image160.png"/><Relationship Id="rId6" Type="http://schemas.openxmlformats.org/officeDocument/2006/relationships/image" Target="../media/image170.png"/><Relationship Id="rId7" Type="http://schemas.openxmlformats.org/officeDocument/2006/relationships/image" Target="../media/image18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0.png"/><Relationship Id="rId5" Type="http://schemas.openxmlformats.org/officeDocument/2006/relationships/image" Target="../media/image190.png"/><Relationship Id="rId6" Type="http://schemas.openxmlformats.org/officeDocument/2006/relationships/image" Target="../media/image200.png"/><Relationship Id="rId7" Type="http://schemas.openxmlformats.org/officeDocument/2006/relationships/image" Target="../media/image2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25.svg"/><Relationship Id="rId11" Type="http://schemas.openxmlformats.org/officeDocument/2006/relationships/image" Target="../media/image26.svg"/><Relationship Id="rId12" Type="http://schemas.openxmlformats.org/officeDocument/2006/relationships/image" Target="../media/image3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1361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Bahnschrift SemiBold" panose="020B0502040204020203" pitchFamily="34" charset="0"/>
              </a:rPr>
              <a:t>Project Summary</a:t>
            </a:r>
            <a:endParaRPr lang="en-GB" dirty="0">
              <a:latin typeface="Bahnschrift SemiBol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78714" cy="4351338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de-DE" dirty="0">
                <a:solidFill>
                  <a:srgbClr val="088259"/>
                </a:solidFill>
                <a:latin typeface="Bahnschrift" panose="020B0502040204020203" pitchFamily="34" charset="0"/>
              </a:rPr>
              <a:t>Stroke patient </a:t>
            </a:r>
            <a:r>
              <a:rPr lang="de-DE" dirty="0">
                <a:latin typeface="Bahnschrift" panose="020B0502040204020203" pitchFamily="34" charset="0"/>
              </a:rPr>
              <a:t>with chronically implanted </a:t>
            </a:r>
            <a:r>
              <a:rPr lang="de-DE" dirty="0">
                <a:solidFill>
                  <a:srgbClr val="088259"/>
                </a:solidFill>
                <a:latin typeface="Bahnschrift" panose="020B0502040204020203" pitchFamily="34" charset="0"/>
              </a:rPr>
              <a:t>electrode array</a:t>
            </a:r>
          </a:p>
          <a:p>
            <a:r>
              <a:rPr lang="de-DE" dirty="0">
                <a:latin typeface="Bahnschrift" panose="020B0502040204020203" pitchFamily="34" charset="0"/>
              </a:rPr>
              <a:t>Spikes sorted into units and sampled at </a:t>
            </a:r>
            <a:r>
              <a:rPr lang="de-DE" dirty="0">
                <a:solidFill>
                  <a:srgbClr val="088259"/>
                </a:solidFill>
                <a:latin typeface="Bahnschrift" panose="020B0502040204020203" pitchFamily="34" charset="0"/>
              </a:rPr>
              <a:t>30kHz</a:t>
            </a:r>
          </a:p>
          <a:p>
            <a:pPr>
              <a:buClr>
                <a:schemeClr val="tx1"/>
              </a:buClr>
            </a:pPr>
            <a:r>
              <a:rPr lang="de-DE" dirty="0">
                <a:solidFill>
                  <a:srgbClr val="088259"/>
                </a:solidFill>
                <a:latin typeface="Bahnschrift" panose="020B0502040204020203" pitchFamily="34" charset="0"/>
              </a:rPr>
              <a:t>Four</a:t>
            </a:r>
            <a:r>
              <a:rPr lang="de-DE" dirty="0">
                <a:latin typeface="Bahnschrift" panose="020B0502040204020203" pitchFamily="34" charset="0"/>
              </a:rPr>
              <a:t> recorded cortical regions 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de-DE" dirty="0">
                <a:latin typeface="Bahnschrift" panose="020B0502040204020203" pitchFamily="34" charset="0"/>
              </a:rPr>
              <a:t>Frontal: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de-DE" dirty="0">
                <a:latin typeface="Bahnschrift" panose="020B0502040204020203" pitchFamily="34" charset="0"/>
              </a:rPr>
              <a:t>MFG &amp; IFG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de-DE" dirty="0">
                <a:latin typeface="Bahnschrift" panose="020B0502040204020203" pitchFamily="34" charset="0"/>
              </a:rPr>
              <a:t>Parietal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de-DE" dirty="0">
                <a:latin typeface="Bahnschrift" panose="020B0502040204020203" pitchFamily="34" charset="0"/>
              </a:rPr>
              <a:t>SMG &amp; AG</a:t>
            </a:r>
          </a:p>
          <a:p>
            <a:pPr lvl="1">
              <a:buClr>
                <a:schemeClr val="tx1"/>
              </a:buClr>
            </a:pP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38" b="9335"/>
          <a:stretch/>
        </p:blipFill>
        <p:spPr>
          <a:xfrm>
            <a:off x="6516914" y="1825625"/>
            <a:ext cx="5675086" cy="4484915"/>
          </a:xfrm>
          <a:prstGeom prst="rect">
            <a:avLst/>
          </a:prstGeom>
          <a:effectLst>
            <a:softEdge rad="76200"/>
          </a:effectLst>
        </p:spPr>
      </p:pic>
      <p:sp>
        <p:nvSpPr>
          <p:cNvPr id="7" name="TextBox 6"/>
          <p:cNvSpPr txBox="1"/>
          <p:nvPr/>
        </p:nvSpPr>
        <p:spPr>
          <a:xfrm>
            <a:off x="6905625" y="2038350"/>
            <a:ext cx="1868075" cy="338554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Middle frontal gyrus</a:t>
            </a: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09973" y="2117993"/>
            <a:ext cx="1880002" cy="338554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Supramarginal gyrus</a:t>
            </a: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296525" y="2660054"/>
            <a:ext cx="1326004" cy="338554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Angular gyrus</a:t>
            </a: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962775" y="5848350"/>
            <a:ext cx="1604963" cy="200025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6765131" y="5794473"/>
            <a:ext cx="19002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Inferior frontal gyrus</a:t>
            </a: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09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78714" cy="4351338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de-DE" dirty="0">
                <a:solidFill>
                  <a:srgbClr val="088259"/>
                </a:solidFill>
                <a:latin typeface="Bahnschrift" panose="020B0502040204020203" pitchFamily="34" charset="0"/>
              </a:rPr>
              <a:t>Stroke patient </a:t>
            </a:r>
            <a:r>
              <a:rPr lang="de-DE" dirty="0">
                <a:latin typeface="Bahnschrift" panose="020B0502040204020203" pitchFamily="34" charset="0"/>
              </a:rPr>
              <a:t>with chronically implanted </a:t>
            </a:r>
            <a:r>
              <a:rPr lang="de-DE" dirty="0">
                <a:solidFill>
                  <a:srgbClr val="088259"/>
                </a:solidFill>
                <a:latin typeface="Bahnschrift" panose="020B0502040204020203" pitchFamily="34" charset="0"/>
              </a:rPr>
              <a:t>electrode array</a:t>
            </a:r>
          </a:p>
          <a:p>
            <a:r>
              <a:rPr lang="de-DE" dirty="0">
                <a:latin typeface="Bahnschrift" panose="020B0502040204020203" pitchFamily="34" charset="0"/>
              </a:rPr>
              <a:t>Spikes sorted into units and sampled at </a:t>
            </a:r>
            <a:r>
              <a:rPr lang="de-DE" dirty="0">
                <a:solidFill>
                  <a:srgbClr val="088259"/>
                </a:solidFill>
                <a:latin typeface="Bahnschrift" panose="020B0502040204020203" pitchFamily="34" charset="0"/>
              </a:rPr>
              <a:t>30kHz</a:t>
            </a:r>
          </a:p>
          <a:p>
            <a:pPr>
              <a:buClr>
                <a:schemeClr val="tx1"/>
              </a:buClr>
            </a:pPr>
            <a:r>
              <a:rPr lang="de-DE" dirty="0">
                <a:solidFill>
                  <a:srgbClr val="088259"/>
                </a:solidFill>
                <a:latin typeface="Bahnschrift" panose="020B0502040204020203" pitchFamily="34" charset="0"/>
              </a:rPr>
              <a:t>Four</a:t>
            </a:r>
            <a:r>
              <a:rPr lang="de-DE" dirty="0">
                <a:latin typeface="Bahnschrift" panose="020B0502040204020203" pitchFamily="34" charset="0"/>
              </a:rPr>
              <a:t> recorded cortical regions 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de-DE" dirty="0">
                <a:latin typeface="Bahnschrift" panose="020B0502040204020203" pitchFamily="34" charset="0"/>
              </a:rPr>
              <a:t>Frontal: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de-DE" dirty="0">
                <a:latin typeface="Bahnschrift" panose="020B0502040204020203" pitchFamily="34" charset="0"/>
              </a:rPr>
              <a:t>MFG &amp; IFG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de-DE" dirty="0">
                <a:latin typeface="Bahnschrift" panose="020B0502040204020203" pitchFamily="34" charset="0"/>
              </a:rPr>
              <a:t>Parietal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de-DE" dirty="0">
                <a:latin typeface="Bahnschrift" panose="020B0502040204020203" pitchFamily="34" charset="0"/>
              </a:rPr>
              <a:t>SMG &amp; AG</a:t>
            </a:r>
          </a:p>
          <a:p>
            <a:pPr lvl="1">
              <a:buClr>
                <a:schemeClr val="tx1"/>
              </a:buClr>
            </a:pP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6962775" y="5848350"/>
            <a:ext cx="1604963" cy="200025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266"/>
          <a:stretch/>
        </p:blipFill>
        <p:spPr>
          <a:xfrm>
            <a:off x="7594525" y="316561"/>
            <a:ext cx="3835475" cy="626297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>
                <a:latin typeface="Bahnschrift SemiBold" panose="020B0502040204020203" pitchFamily="34" charset="0"/>
              </a:rPr>
              <a:t>Project Summary</a:t>
            </a:r>
            <a:endParaRPr lang="en-GB" dirty="0">
              <a:latin typeface="Bahnschrift SemiBold" panose="020B0502040204020203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FFD3012-39E5-C9B3-2EA7-EBE9B9CE4F28}"/>
              </a:ext>
            </a:extLst>
          </p:cNvPr>
          <p:cNvSpPr txBox="1">
            <a:spLocks/>
          </p:cNvSpPr>
          <p:nvPr/>
        </p:nvSpPr>
        <p:spPr>
          <a:xfrm>
            <a:off x="7134224" y="6419995"/>
            <a:ext cx="3286125" cy="319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Clr>
                <a:schemeClr val="tx1"/>
              </a:buClr>
              <a:buNone/>
            </a:pPr>
            <a:r>
              <a:rPr lang="en-GB" sz="900" dirty="0"/>
              <a:t>Image: Simon Jacob Lab; Chen </a:t>
            </a:r>
            <a:r>
              <a:rPr lang="en-GB" sz="900" dirty="0" err="1"/>
              <a:t>Hongbiao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397006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/>
              <a:t>Project Summary</a:t>
            </a:r>
            <a:endParaRPr lang="en-GB" dirty="0"/>
          </a:p>
        </p:txBody>
      </p:sp>
      <p:sp>
        <p:nvSpPr>
          <p:cNvPr id="17" name="Rectangle 16"/>
          <p:cNvSpPr/>
          <p:nvPr/>
        </p:nvSpPr>
        <p:spPr>
          <a:xfrm>
            <a:off x="-242696" y="1416582"/>
            <a:ext cx="12646152" cy="3758705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/>
          </p:nvPr>
        </p:nvGraphicFramePr>
        <p:xfrm>
          <a:off x="2016380" y="3958806"/>
          <a:ext cx="8128000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94196949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688124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800" b="1" dirty="0">
                          <a:latin typeface="Bahnschrift" panose="020B0502040204020203" pitchFamily="34" charset="0"/>
                        </a:rPr>
                        <a:t>Safe Side</a:t>
                      </a:r>
                      <a:endParaRPr lang="en-GB" sz="1800" b="1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598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b="1" dirty="0">
                          <a:latin typeface="Bahnschrift" panose="020B0502040204020203" pitchFamily="34" charset="0"/>
                        </a:rPr>
                        <a:t>Gamble</a:t>
                      </a:r>
                      <a:r>
                        <a:rPr lang="de-DE" sz="1800" b="1" baseline="0" dirty="0">
                          <a:latin typeface="Bahnschrift" panose="020B0502040204020203" pitchFamily="34" charset="0"/>
                        </a:rPr>
                        <a:t> Side</a:t>
                      </a:r>
                      <a:endParaRPr lang="en-GB" sz="1800" b="1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FF94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866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b="0" dirty="0">
                          <a:latin typeface="Bahnschrift" panose="020B0502040204020203" pitchFamily="34" charset="0"/>
                        </a:rPr>
                        <a:t>1x reward</a:t>
                      </a:r>
                      <a:endParaRPr lang="en-GB" b="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C7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>
                          <a:latin typeface="Bahnschrift" panose="020B0502040204020203" pitchFamily="34" charset="0"/>
                        </a:rPr>
                        <a:t>4x reward</a:t>
                      </a:r>
                      <a:endParaRPr lang="en-GB" b="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867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b="0" dirty="0">
                          <a:latin typeface="Bahnschrift" panose="020B0502040204020203" pitchFamily="34" charset="0"/>
                        </a:rPr>
                        <a:t>guaranteed probability</a:t>
                      </a:r>
                      <a:endParaRPr lang="en-GB" b="0" dirty="0">
                        <a:latin typeface="Bahnschrift" panose="020B0502040204020203" pitchFamily="34" charset="0"/>
                      </a:endParaRP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>
                          <a:latin typeface="Bahnschrift" panose="020B0502040204020203" pitchFamily="34" charset="0"/>
                        </a:rPr>
                        <a:t>varying probability: {0.1, 0.2, 0.4, 0.8}</a:t>
                      </a:r>
                      <a:endParaRPr lang="en-GB" b="0" dirty="0">
                        <a:latin typeface="Bahnschrift" panose="020B0502040204020203" pitchFamily="34" charset="0"/>
                      </a:endParaRP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47317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0" dirty="0">
                          <a:latin typeface="Bahnschrift" panose="020B0502040204020203" pitchFamily="34" charset="0"/>
                        </a:rPr>
                        <a:t>          ~3 seconds trial start to trial end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D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74224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0" dirty="0">
                          <a:latin typeface="Bahnschrift" panose="020B0502040204020203" pitchFamily="34" charset="0"/>
                        </a:rPr>
                        <a:t>          ~2h per session duration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rgbClr val="FFFD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22670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0" dirty="0">
                          <a:latin typeface="Bahnschrift" panose="020B0502040204020203" pitchFamily="34" charset="0"/>
                        </a:rPr>
                        <a:t>          randomized probability schedule per session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778732"/>
                  </a:ext>
                </a:extLst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0" y="81775"/>
            <a:ext cx="12160760" cy="3593681"/>
            <a:chOff x="0" y="81775"/>
            <a:chExt cx="12160760" cy="3593681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1775"/>
              <a:ext cx="12160760" cy="3593681"/>
            </a:xfrm>
            <a:prstGeom prst="rect">
              <a:avLst/>
            </a:prstGeom>
            <a:effectLst>
              <a:softEdge rad="63500"/>
            </a:effectLst>
          </p:spPr>
        </p:pic>
        <p:sp>
          <p:nvSpPr>
            <p:cNvPr id="20" name="TextBox 19"/>
            <p:cNvSpPr txBox="1"/>
            <p:nvPr/>
          </p:nvSpPr>
          <p:spPr>
            <a:xfrm>
              <a:off x="4424856" y="81775"/>
              <a:ext cx="321273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de-DE" sz="1400" dirty="0">
                  <a:latin typeface="Bahnschrift" panose="020B0502040204020203" pitchFamily="34" charset="0"/>
                </a:rPr>
                <a:t>Choice Behaviour – Session 21.05.2025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671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4.44444E-6 L 0.00534 -0.222 " pathEditMode="relative" rAng="0" ptsTypes="AA">
                                      <p:cBhvr>
                                        <p:cTn id="6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0" y="-1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2300945"/>
          <a:ext cx="10515600" cy="35052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177024517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6471046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8071194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7552305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6230977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448417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bg1"/>
                          </a:solidFill>
                          <a:effectLst/>
                          <a:latin typeface="Bahnschrift SemiBold" panose="020B0502040204020203" pitchFamily="34" charset="0"/>
                        </a:rPr>
                        <a:t>Session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44C89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bg1"/>
                          </a:solidFill>
                          <a:effectLst/>
                          <a:latin typeface="Bahnschrift SemiBold" panose="020B0502040204020203" pitchFamily="34" charset="0"/>
                        </a:rPr>
                        <a:t>Trials (resp.)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44C89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bg1"/>
                          </a:solidFill>
                          <a:effectLst/>
                          <a:latin typeface="Bahnschrift SemiBold" panose="020B0502040204020203" pitchFamily="34" charset="0"/>
                        </a:rPr>
                        <a:t>Units (</a:t>
                      </a:r>
                      <a:r>
                        <a:rPr lang="en-GB" b="1" dirty="0" err="1">
                          <a:solidFill>
                            <a:schemeClr val="bg1"/>
                          </a:solidFill>
                          <a:effectLst/>
                          <a:latin typeface="Bahnschrift SemiBold" panose="020B0502040204020203" pitchFamily="34" charset="0"/>
                        </a:rPr>
                        <a:t>su</a:t>
                      </a:r>
                      <a:r>
                        <a:rPr lang="en-GB" b="1" dirty="0">
                          <a:solidFill>
                            <a:schemeClr val="bg1"/>
                          </a:solidFill>
                          <a:effectLst/>
                          <a:latin typeface="Bahnschrift SemiBold" panose="020B0502040204020203" pitchFamily="34" charset="0"/>
                        </a:rPr>
                        <a:t>/mu)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44C89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bg1"/>
                          </a:solidFill>
                          <a:effectLst/>
                          <a:latin typeface="Bahnschrift SemiBold" panose="020B0502040204020203" pitchFamily="34" charset="0"/>
                        </a:rPr>
                        <a:t>Rec. (min)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44C89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bg1"/>
                          </a:solidFill>
                          <a:effectLst/>
                          <a:latin typeface="Bahnschrift SemiBold" panose="020B0502040204020203" pitchFamily="34" charset="0"/>
                        </a:rPr>
                        <a:t>Gamble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44C89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bg1"/>
                          </a:solidFill>
                          <a:effectLst/>
                          <a:latin typeface="Bahnschrift SemiBold" panose="020B0502040204020203" pitchFamily="34" charset="0"/>
                        </a:rPr>
                        <a:t>Reward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44C8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678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20250521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1009 (939)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252 (180/72)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116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0.42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0.77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848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20250602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1018 (947)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214 (152/62)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118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0.36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0.81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16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20250605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1037 (962)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241 (167/74)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143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0.35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0.82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963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20250703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635 (507)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215 (165/50)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70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0.33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0.81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514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20250707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911 (772)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220 (167/53)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129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0.38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0.81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340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20250709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694 (639)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225 (184/41)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105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0.37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0.81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259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20250710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984 (902)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249 (191/58)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135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0.36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0.81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577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20250714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1006 (959)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229 (180/49)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116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0.40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0.80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349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effectLst/>
                          <a:latin typeface="Bahnschrift" panose="020B0502040204020203" pitchFamily="34" charset="0"/>
                        </a:rPr>
                        <a:t>Total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>
                          <a:effectLst/>
                          <a:latin typeface="Bahnschrift" panose="020B0502040204020203" pitchFamily="34" charset="0"/>
                        </a:rPr>
                        <a:t>7294 (6627)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>
                          <a:effectLst/>
                          <a:latin typeface="Bahnschrift" panose="020B0502040204020203" pitchFamily="34" charset="0"/>
                        </a:rPr>
                        <a:t>1845 (1386/459)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>
                          <a:effectLst/>
                          <a:latin typeface="Bahnschrift" panose="020B0502040204020203" pitchFamily="34" charset="0"/>
                        </a:rPr>
                        <a:t>—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effectLst/>
                          <a:latin typeface="Bahnschrift" panose="020B0502040204020203" pitchFamily="34" charset="0"/>
                        </a:rPr>
                        <a:t>0.37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effectLst/>
                          <a:latin typeface="Bahnschrift" panose="020B0502040204020203" pitchFamily="34" charset="0"/>
                        </a:rPr>
                        <a:t>0.80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920000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38200" y="479255"/>
            <a:ext cx="1904999" cy="1516561"/>
          </a:xfrm>
          <a:prstGeom prst="roundRect">
            <a:avLst>
              <a:gd name="adj" fmla="val 37941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600" b="1" dirty="0">
                <a:solidFill>
                  <a:schemeClr val="tx1"/>
                </a:solidFill>
                <a:latin typeface="Bahnschrift" panose="020B0502040204020203" pitchFamily="34" charset="0"/>
              </a:rPr>
              <a:t>8</a:t>
            </a:r>
            <a:endParaRPr lang="de-DE" sz="3200" b="1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algn="ctr"/>
            <a:r>
              <a:rPr lang="de-DE" sz="2000" b="1" dirty="0">
                <a:solidFill>
                  <a:schemeClr val="tx1"/>
                </a:solidFill>
                <a:latin typeface="Bahnschrift" panose="020B0502040204020203" pitchFamily="34" charset="0"/>
              </a:rPr>
              <a:t>sessions</a:t>
            </a:r>
            <a:endParaRPr lang="en-GB" sz="32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47754" y="514371"/>
            <a:ext cx="2915195" cy="1516561"/>
          </a:xfrm>
          <a:prstGeom prst="roundRect">
            <a:avLst>
              <a:gd name="adj" fmla="val 37941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600" b="1" dirty="0">
                <a:solidFill>
                  <a:schemeClr val="tx1"/>
                </a:solidFill>
                <a:latin typeface="Bahnschrift" panose="020B0502040204020203" pitchFamily="34" charset="0"/>
              </a:rPr>
              <a:t>6,627</a:t>
            </a:r>
            <a:endParaRPr lang="de-DE" sz="3200" b="1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algn="ctr"/>
            <a:r>
              <a:rPr lang="de-DE" sz="2000" b="1" dirty="0">
                <a:solidFill>
                  <a:schemeClr val="tx1"/>
                </a:solidFill>
                <a:latin typeface="Bahnschrift" panose="020B0502040204020203" pitchFamily="34" charset="0"/>
              </a:rPr>
              <a:t>responding trials</a:t>
            </a:r>
            <a:endParaRPr lang="en-GB" sz="32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438605" y="479254"/>
            <a:ext cx="2915195" cy="1516561"/>
          </a:xfrm>
          <a:prstGeom prst="roundRect">
            <a:avLst>
              <a:gd name="adj" fmla="val 37941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600" b="1" dirty="0">
                <a:solidFill>
                  <a:schemeClr val="tx1"/>
                </a:solidFill>
                <a:latin typeface="Bahnschrift" panose="020B0502040204020203" pitchFamily="34" charset="0"/>
              </a:rPr>
              <a:t>37%</a:t>
            </a:r>
            <a:endParaRPr lang="de-DE" sz="3200" b="1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algn="ctr"/>
            <a:r>
              <a:rPr lang="de-DE" sz="2000" b="1" dirty="0">
                <a:solidFill>
                  <a:schemeClr val="tx1"/>
                </a:solidFill>
                <a:latin typeface="Bahnschrift" panose="020B0502040204020203" pitchFamily="34" charset="0"/>
              </a:rPr>
              <a:t>Gamble rate</a:t>
            </a:r>
            <a:endParaRPr lang="en-GB" sz="32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Rounded Rectangle 8">
            <a:extLst>
              <a:ext uri="{FF2B5EF4-FFF2-40B4-BE49-F238E27FC236}">
                <a16:creationId xmlns:a16="http://schemas.microsoft.com/office/drawing/2014/main" id="{E4DA88D5-3355-65A7-49E6-A8851A2ADA16}"/>
              </a:ext>
            </a:extLst>
          </p:cNvPr>
          <p:cNvSpPr/>
          <p:nvPr/>
        </p:nvSpPr>
        <p:spPr>
          <a:xfrm>
            <a:off x="7262949" y="2857521"/>
            <a:ext cx="2915195" cy="1516561"/>
          </a:xfrm>
          <a:prstGeom prst="roundRect">
            <a:avLst>
              <a:gd name="adj" fmla="val 37941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  <a:latin typeface="Bahnschrift" panose="020B0502040204020203" pitchFamily="34" charset="0"/>
              </a:rPr>
              <a:t>check </a:t>
            </a:r>
            <a:r>
              <a:rPr lang="de-DE" sz="3200" b="1" dirty="0" err="1">
                <a:solidFill>
                  <a:schemeClr val="tx1"/>
                </a:solidFill>
                <a:latin typeface="Bahnschrift" panose="020B0502040204020203" pitchFamily="34" charset="0"/>
              </a:rPr>
              <a:t>these</a:t>
            </a:r>
            <a:r>
              <a:rPr lang="de-DE" sz="3200" b="1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de-DE" sz="3200" b="1" dirty="0" err="1">
                <a:solidFill>
                  <a:schemeClr val="tx1"/>
                </a:solidFill>
                <a:latin typeface="Bahnschrift" panose="020B0502040204020203" pitchFamily="34" charset="0"/>
              </a:rPr>
              <a:t>values</a:t>
            </a:r>
            <a:endParaRPr lang="en-GB" sz="12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277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Bahnschrift SemiBold" panose="020B0502040204020203" pitchFamily="34" charset="0"/>
              </a:rPr>
              <a:t>Research Questions</a:t>
            </a:r>
            <a:endParaRPr lang="en-GB" dirty="0">
              <a:latin typeface="Bahnschrift SemiBold" panose="020B0502040204020203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38200" y="1795192"/>
            <a:ext cx="4517571" cy="3939403"/>
          </a:xfrm>
          <a:prstGeom prst="roundRect">
            <a:avLst>
              <a:gd name="adj" fmla="val 5845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1 · Selectivity</a:t>
            </a:r>
          </a:p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Are there neurons that respond </a:t>
            </a:r>
            <a:r>
              <a:rPr lang="de-DE" sz="2800" b="1" dirty="0">
                <a:solidFill>
                  <a:schemeClr val="tx1"/>
                </a:solidFill>
                <a:latin typeface="Bahnschrift" panose="020B0502040204020203" pitchFamily="34" charset="0"/>
              </a:rPr>
              <a:t>differently</a:t>
            </a:r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 to </a:t>
            </a:r>
            <a:r>
              <a:rPr lang="de-DE" sz="2800" dirty="0">
                <a:solidFill>
                  <a:srgbClr val="FF9412"/>
                </a:solidFill>
                <a:latin typeface="Bahnschrift" panose="020B0502040204020203" pitchFamily="34" charset="0"/>
              </a:rPr>
              <a:t>reward</a:t>
            </a:r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 vs </a:t>
            </a:r>
            <a:r>
              <a:rPr lang="de-DE" sz="2800" dirty="0">
                <a:solidFill>
                  <a:srgbClr val="C00000"/>
                </a:solidFill>
                <a:latin typeface="Bahnschrift" panose="020B0502040204020203" pitchFamily="34" charset="0"/>
              </a:rPr>
              <a:t>no reward</a:t>
            </a:r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 in the </a:t>
            </a:r>
            <a:r>
              <a:rPr lang="de-DE" sz="2800" b="1" dirty="0">
                <a:solidFill>
                  <a:schemeClr val="tx1"/>
                </a:solidFill>
                <a:latin typeface="Bahnschrift" panose="020B0502040204020203" pitchFamily="34" charset="0"/>
              </a:rPr>
              <a:t>gamble</a:t>
            </a:r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 arm?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66114" y="1795192"/>
            <a:ext cx="4887686" cy="4035197"/>
          </a:xfrm>
          <a:prstGeom prst="roundRect">
            <a:avLst>
              <a:gd name="adj" fmla="val 5845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2 · Latent Variable encoding</a:t>
            </a:r>
          </a:p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en-GB" sz="2800" dirty="0">
                <a:solidFill>
                  <a:schemeClr val="tx1"/>
                </a:solidFill>
                <a:latin typeface="Bahnschrift" panose="020B0502040204020203" pitchFamily="34" charset="0"/>
              </a:rPr>
              <a:t>Do </a:t>
            </a:r>
            <a:r>
              <a:rPr lang="en-GB" sz="2800" b="1" dirty="0">
                <a:solidFill>
                  <a:schemeClr val="tx1"/>
                </a:solidFill>
                <a:latin typeface="Bahnschrift" panose="020B0502040204020203" pitchFamily="34" charset="0"/>
              </a:rPr>
              <a:t>neuronal firing rates </a:t>
            </a:r>
            <a:r>
              <a:rPr lang="en-GB" sz="2800" dirty="0">
                <a:solidFill>
                  <a:schemeClr val="tx1"/>
                </a:solidFill>
                <a:latin typeface="Bahnschrift" panose="020B0502040204020203" pitchFamily="34" charset="0"/>
              </a:rPr>
              <a:t>encode </a:t>
            </a:r>
            <a:r>
              <a:rPr lang="en-GB" sz="2800" b="1" dirty="0">
                <a:solidFill>
                  <a:schemeClr val="tx1"/>
                </a:solidFill>
                <a:latin typeface="Bahnschrift" panose="020B0502040204020203" pitchFamily="34" charset="0"/>
              </a:rPr>
              <a:t>prediction errors </a:t>
            </a:r>
            <a:r>
              <a:rPr lang="en-GB" sz="2800" dirty="0">
                <a:solidFill>
                  <a:schemeClr val="tx1"/>
                </a:solidFill>
                <a:latin typeface="Bahnschrift" panose="020B0502040204020203" pitchFamily="34" charset="0"/>
              </a:rPr>
              <a:t>estimated from a computational </a:t>
            </a:r>
            <a:r>
              <a:rPr lang="en-GB" sz="2800" b="1" dirty="0">
                <a:solidFill>
                  <a:schemeClr val="tx1"/>
                </a:solidFill>
                <a:latin typeface="Bahnschrift" panose="020B0502040204020203" pitchFamily="34" charset="0"/>
              </a:rPr>
              <a:t>model of behaviour</a:t>
            </a:r>
            <a:r>
              <a:rPr lang="en-GB" sz="2800" dirty="0">
                <a:solidFill>
                  <a:schemeClr val="tx1"/>
                </a:solidFill>
                <a:latin typeface="Bahnschrift" panose="020B0502040204020203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49029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-419100" y="-122585"/>
            <a:ext cx="4314824" cy="7237760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524" y="1907827"/>
            <a:ext cx="762000" cy="4578524"/>
          </a:xfrm>
        </p:spPr>
        <p:txBody>
          <a:bodyPr/>
          <a:lstStyle/>
          <a:p>
            <a:pPr marL="0" indent="0">
              <a:buNone/>
            </a:pPr>
            <a:r>
              <a:rPr lang="de-DE" sz="5400" b="1" dirty="0"/>
              <a:t>Z</a:t>
            </a:r>
          </a:p>
          <a:p>
            <a:pPr marL="0" indent="0">
              <a:buNone/>
            </a:pPr>
            <a:r>
              <a:rPr lang="de-DE" sz="5400" b="1" dirty="0"/>
              <a:t>E</a:t>
            </a:r>
          </a:p>
          <a:p>
            <a:pPr marL="0" indent="0">
              <a:buNone/>
            </a:pPr>
            <a:r>
              <a:rPr lang="de-DE" sz="5400" b="1" dirty="0"/>
              <a:t>T   </a:t>
            </a:r>
          </a:p>
          <a:p>
            <a:pPr marL="0" indent="0">
              <a:buNone/>
            </a:pPr>
            <a:r>
              <a:rPr lang="de-DE" sz="5400" b="1" dirty="0"/>
              <a:t>A</a:t>
            </a:r>
            <a:endParaRPr lang="de-DE" sz="4000" b="1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-755203" y="-122586"/>
            <a:ext cx="13137703" cy="1628775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895724" y="1907827"/>
            <a:ext cx="11163300" cy="457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5400" dirty="0"/>
              <a:t>enith of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5400" dirty="0"/>
              <a:t>vent-based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5400" dirty="0"/>
              <a:t>ime locked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5400" dirty="0"/>
              <a:t>nomalies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383993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uiExpand="1" build="p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ZETA test for time-locked spiking	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Pool spike times relative to the event across all trials.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Build their </a:t>
            </a:r>
            <a:r>
              <a:rPr lang="en-GB" b="1" dirty="0"/>
              <a:t>cumulative distribution</a:t>
            </a:r>
            <a:r>
              <a:rPr lang="en-GB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Compare to the flat line expected if spikes were </a:t>
            </a:r>
            <a:r>
              <a:rPr lang="en-GB" b="1" dirty="0"/>
              <a:t>uniformly</a:t>
            </a:r>
            <a:r>
              <a:rPr lang="en-GB" dirty="0"/>
              <a:t> spread (no time-locking).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The </a:t>
            </a:r>
            <a:r>
              <a:rPr lang="en-GB" b="1" dirty="0"/>
              <a:t>largest deviation</a:t>
            </a:r>
            <a:r>
              <a:rPr lang="en-GB" dirty="0"/>
              <a:t> from that line is ZETA; its timing is the </a:t>
            </a:r>
            <a:r>
              <a:rPr lang="en-GB" b="1" dirty="0"/>
              <a:t>zenith</a:t>
            </a:r>
            <a:r>
              <a:rPr lang="en-GB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Significance from </a:t>
            </a:r>
            <a:r>
              <a:rPr lang="en-GB" b="1" dirty="0"/>
              <a:t>jittered</a:t>
            </a:r>
            <a:r>
              <a:rPr lang="en-GB" dirty="0"/>
              <a:t> resampling of event times.</a:t>
            </a:r>
          </a:p>
        </p:txBody>
      </p:sp>
      <p:sp>
        <p:nvSpPr>
          <p:cNvPr id="4" name="Rounded Rectangle 8">
            <a:extLst>
              <a:ext uri="{FF2B5EF4-FFF2-40B4-BE49-F238E27FC236}">
                <a16:creationId xmlns:a16="http://schemas.microsoft.com/office/drawing/2014/main" id="{E4DA88D5-3355-65A7-49E6-A8851A2ADA16}"/>
              </a:ext>
            </a:extLst>
          </p:cNvPr>
          <p:cNvSpPr/>
          <p:nvPr/>
        </p:nvSpPr>
        <p:spPr>
          <a:xfrm>
            <a:off x="7262949" y="2857521"/>
            <a:ext cx="2915195" cy="1516561"/>
          </a:xfrm>
          <a:prstGeom prst="roundRect">
            <a:avLst>
              <a:gd name="adj" fmla="val 37941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More visual</a:t>
            </a:r>
            <a:endParaRPr lang="en-GB" sz="12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258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278953" y="-395763"/>
            <a:ext cx="12776548" cy="1803748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ZETA visualization</a:t>
            </a:r>
            <a:endParaRPr lang="en-GB" dirty="0"/>
          </a:p>
        </p:txBody>
      </p:sp>
      <p:pic>
        <p:nvPicPr>
          <p:cNvPr id="7" name="Picture 6">
            <a:hlinkClick r:id="rId2" action="ppaction://hlinkfil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815" y="1765333"/>
            <a:ext cx="7892370" cy="49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969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614" y="1549101"/>
            <a:ext cx="5529798" cy="5160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278953" y="-72825"/>
            <a:ext cx="12556851" cy="1480810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/>
              <a:t>ZETA visualization</a:t>
            </a:r>
            <a:endParaRPr lang="en-GB" dirty="0"/>
          </a:p>
        </p:txBody>
      </p:sp>
      <p:sp>
        <p:nvSpPr>
          <p:cNvPr id="11" name="Rounded Rectangle 10"/>
          <p:cNvSpPr/>
          <p:nvPr/>
        </p:nvSpPr>
        <p:spPr>
          <a:xfrm>
            <a:off x="6928693" y="2111742"/>
            <a:ext cx="4887686" cy="4035197"/>
          </a:xfrm>
          <a:prstGeom prst="roundRect">
            <a:avLst>
              <a:gd name="adj" fmla="val 5845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en-GB" sz="2800" dirty="0">
                <a:solidFill>
                  <a:schemeClr val="tx1"/>
                </a:solidFill>
                <a:latin typeface="Bahnschrift" panose="020B0502040204020203" pitchFamily="34" charset="0"/>
              </a:rPr>
              <a:t>⇦ </a:t>
            </a:r>
            <a:r>
              <a:rPr lang="en-GB" sz="2800" b="1" dirty="0">
                <a:solidFill>
                  <a:schemeClr val="tx1"/>
                </a:solidFill>
                <a:latin typeface="Bahnschrift" panose="020B0502040204020203" pitchFamily="34" charset="0"/>
              </a:rPr>
              <a:t>Normalized</a:t>
            </a:r>
            <a:r>
              <a:rPr lang="en-GB" sz="2800" dirty="0">
                <a:solidFill>
                  <a:schemeClr val="tx1"/>
                </a:solidFill>
                <a:latin typeface="Bahnschrift" panose="020B0502040204020203" pitchFamily="34" charset="0"/>
              </a:rPr>
              <a:t> cumulative spike count</a:t>
            </a:r>
          </a:p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en-GB" sz="2800" dirty="0">
                <a:solidFill>
                  <a:schemeClr val="tx1"/>
                </a:solidFill>
                <a:latin typeface="Bahnschrift" panose="020B0502040204020203" pitchFamily="34" charset="0"/>
              </a:rPr>
              <a:t>⇦ </a:t>
            </a:r>
            <a:r>
              <a:rPr lang="en-GB" sz="2800" b="1" dirty="0">
                <a:solidFill>
                  <a:schemeClr val="tx1"/>
                </a:solidFill>
                <a:latin typeface="Bahnschrift" panose="020B0502040204020203" pitchFamily="34" charset="0"/>
              </a:rPr>
              <a:t>Mean-subtracted </a:t>
            </a:r>
            <a:r>
              <a:rPr lang="en-GB" sz="2800" dirty="0">
                <a:solidFill>
                  <a:schemeClr val="tx1"/>
                </a:solidFill>
                <a:latin typeface="Bahnschrift" panose="020B0502040204020203" pitchFamily="34" charset="0"/>
              </a:rPr>
              <a:t>spike density deviation</a:t>
            </a:r>
          </a:p>
          <a:p>
            <a:endParaRPr lang="en-GB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GB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E4DA88D5-3355-65A7-49E6-A8851A2ADA16}"/>
              </a:ext>
            </a:extLst>
          </p:cNvPr>
          <p:cNvSpPr/>
          <p:nvPr/>
        </p:nvSpPr>
        <p:spPr>
          <a:xfrm>
            <a:off x="5599599" y="3864932"/>
            <a:ext cx="2915195" cy="1516561"/>
          </a:xfrm>
          <a:prstGeom prst="roundRect">
            <a:avLst>
              <a:gd name="adj" fmla="val 37941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rasterplot</a:t>
            </a:r>
            <a:endParaRPr lang="en-GB" sz="12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45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12894"/>
            <a:ext cx="3928813" cy="36664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812" y="2406320"/>
            <a:ext cx="8165505" cy="352996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278953" y="-395763"/>
            <a:ext cx="12776548" cy="1803748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/>
              <a:t>ZETA visualization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384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12894"/>
            <a:ext cx="3928813" cy="36664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812" y="2406320"/>
            <a:ext cx="8165505" cy="352996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278953" y="-395763"/>
            <a:ext cx="12776548" cy="1803748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/>
              <a:t>ZETA visualization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4788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E3696-AFF0-48BF-06A1-D0D49A7EA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ZETA </a:t>
            </a:r>
            <a:r>
              <a:rPr lang="de-AT" dirty="0" err="1"/>
              <a:t>Results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286E00-2FCA-A965-B93F-CF648CFD9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34654" cy="4351338"/>
          </a:xfrm>
        </p:spPr>
        <p:txBody>
          <a:bodyPr>
            <a:normAutofit/>
          </a:bodyPr>
          <a:lstStyle/>
          <a:p>
            <a:r>
              <a:rPr lang="de-AT" dirty="0" err="1"/>
              <a:t>most</a:t>
            </a:r>
            <a:r>
              <a:rPr lang="de-AT" dirty="0"/>
              <a:t> </a:t>
            </a:r>
            <a:r>
              <a:rPr lang="de-AT" dirty="0" err="1"/>
              <a:t>neurons</a:t>
            </a:r>
            <a:r>
              <a:rPr lang="de-AT" dirty="0"/>
              <a:t> </a:t>
            </a:r>
            <a:r>
              <a:rPr lang="de-AT" dirty="0" err="1"/>
              <a:t>come</a:t>
            </a:r>
            <a:r>
              <a:rPr lang="de-AT" dirty="0"/>
              <a:t> out </a:t>
            </a:r>
            <a:r>
              <a:rPr lang="de-AT" dirty="0" err="1"/>
              <a:t>as</a:t>
            </a:r>
            <a:r>
              <a:rPr lang="de-AT" dirty="0"/>
              <a:t> „responsive“</a:t>
            </a:r>
          </a:p>
          <a:p>
            <a:pPr marL="0" indent="0">
              <a:buNone/>
            </a:pPr>
            <a:endParaRPr lang="de-AT" dirty="0"/>
          </a:p>
          <a:p>
            <a:pPr marL="0" indent="0">
              <a:buNone/>
            </a:pPr>
            <a:r>
              <a:rPr lang="de-AT" b="1" dirty="0"/>
              <a:t>Possible </a:t>
            </a:r>
            <a:r>
              <a:rPr lang="de-AT" b="1" dirty="0" err="1"/>
              <a:t>reasons</a:t>
            </a:r>
            <a:r>
              <a:rPr lang="de-AT" b="1" dirty="0"/>
              <a:t>:</a:t>
            </a:r>
          </a:p>
          <a:p>
            <a:r>
              <a:rPr lang="de-AT" dirty="0"/>
              <a:t>ZETA </a:t>
            </a:r>
            <a:r>
              <a:rPr lang="de-AT" dirty="0" err="1"/>
              <a:t>is</a:t>
            </a:r>
            <a:r>
              <a:rPr lang="de-AT" dirty="0"/>
              <a:t> </a:t>
            </a:r>
            <a:r>
              <a:rPr lang="de-AT" dirty="0" err="1"/>
              <a:t>more</a:t>
            </a:r>
            <a:r>
              <a:rPr lang="de-AT" dirty="0"/>
              <a:t> sensitive </a:t>
            </a:r>
            <a:r>
              <a:rPr lang="de-AT" dirty="0" err="1"/>
              <a:t>than</a:t>
            </a:r>
            <a:r>
              <a:rPr lang="de-AT" dirty="0"/>
              <a:t> </a:t>
            </a:r>
            <a:r>
              <a:rPr lang="de-AT" dirty="0" err="1"/>
              <a:t>binned</a:t>
            </a:r>
            <a:r>
              <a:rPr lang="de-AT" dirty="0"/>
              <a:t> t-test/ANOVA</a:t>
            </a:r>
          </a:p>
          <a:p>
            <a:r>
              <a:rPr lang="de-AT" dirty="0"/>
              <a:t>ZETA </a:t>
            </a:r>
            <a:r>
              <a:rPr lang="de-AT" dirty="0" err="1"/>
              <a:t>asks</a:t>
            </a:r>
            <a:r>
              <a:rPr lang="de-AT" dirty="0"/>
              <a:t>: </a:t>
            </a:r>
            <a:r>
              <a:rPr lang="de-AT" dirty="0" err="1"/>
              <a:t>Is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spike</a:t>
            </a:r>
            <a:r>
              <a:rPr lang="de-AT" dirty="0"/>
              <a:t> </a:t>
            </a:r>
            <a:r>
              <a:rPr lang="de-AT" dirty="0" err="1"/>
              <a:t>timing</a:t>
            </a:r>
            <a:r>
              <a:rPr lang="de-AT" dirty="0"/>
              <a:t> after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event</a:t>
            </a:r>
            <a:r>
              <a:rPr lang="de-AT" dirty="0"/>
              <a:t> </a:t>
            </a:r>
            <a:r>
              <a:rPr lang="de-AT" b="1" dirty="0" err="1"/>
              <a:t>anything</a:t>
            </a:r>
            <a:r>
              <a:rPr lang="de-AT" b="1" dirty="0"/>
              <a:t> </a:t>
            </a:r>
            <a:r>
              <a:rPr lang="de-AT" b="1" dirty="0" err="1"/>
              <a:t>other</a:t>
            </a:r>
            <a:r>
              <a:rPr lang="de-AT" b="1" dirty="0"/>
              <a:t> </a:t>
            </a:r>
            <a:r>
              <a:rPr lang="de-AT" dirty="0" err="1"/>
              <a:t>than</a:t>
            </a:r>
            <a:r>
              <a:rPr lang="de-AT" dirty="0"/>
              <a:t> </a:t>
            </a:r>
            <a:r>
              <a:rPr lang="de-AT" dirty="0" err="1"/>
              <a:t>constant</a:t>
            </a:r>
            <a:r>
              <a:rPr lang="de-AT" dirty="0"/>
              <a:t>/flat?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854" y="1515790"/>
            <a:ext cx="6519146" cy="463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669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12008"/>
            <a:ext cx="5733757" cy="5345992"/>
          </a:xfrm>
        </p:spPr>
      </p:pic>
      <p:sp>
        <p:nvSpPr>
          <p:cNvPr id="7" name="Rectangle 6"/>
          <p:cNvSpPr/>
          <p:nvPr/>
        </p:nvSpPr>
        <p:spPr>
          <a:xfrm>
            <a:off x="-278953" y="-395763"/>
            <a:ext cx="12776548" cy="1803748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ounded Rectangle 5"/>
          <p:cNvSpPr/>
          <p:nvPr/>
        </p:nvSpPr>
        <p:spPr>
          <a:xfrm>
            <a:off x="6725493" y="2167405"/>
            <a:ext cx="4887686" cy="4035197"/>
          </a:xfrm>
          <a:prstGeom prst="roundRect">
            <a:avLst>
              <a:gd name="adj" fmla="val 5845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en-GB" sz="2800" dirty="0">
                <a:solidFill>
                  <a:schemeClr val="tx1"/>
                </a:solidFill>
                <a:latin typeface="Bahnschrift" panose="020B0502040204020203" pitchFamily="34" charset="0"/>
              </a:rPr>
              <a:t>⇦ Cumulative</a:t>
            </a:r>
            <a:r>
              <a:rPr lang="en-GB" sz="2800" b="1" dirty="0">
                <a:solidFill>
                  <a:schemeClr val="tx1"/>
                </a:solidFill>
                <a:latin typeface="Bahnschrift" panose="020B0502040204020203" pitchFamily="34" charset="0"/>
              </a:rPr>
              <a:t> Spikes/Trial</a:t>
            </a:r>
            <a:endParaRPr lang="en-GB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en-GB" sz="2800" dirty="0">
                <a:solidFill>
                  <a:schemeClr val="tx1"/>
                </a:solidFill>
                <a:latin typeface="Bahnschrift" panose="020B0502040204020203" pitchFamily="34" charset="0"/>
              </a:rPr>
              <a:t>⇦ </a:t>
            </a:r>
            <a:r>
              <a:rPr lang="en-GB" sz="2800" b="1" dirty="0">
                <a:solidFill>
                  <a:schemeClr val="tx1"/>
                </a:solidFill>
                <a:latin typeface="Bahnschrift" panose="020B0502040204020203" pitchFamily="34" charset="0"/>
              </a:rPr>
              <a:t>Mean-subtracted difference </a:t>
            </a:r>
            <a:r>
              <a:rPr lang="en-GB" sz="2800" dirty="0">
                <a:solidFill>
                  <a:schemeClr val="tx1"/>
                </a:solidFill>
                <a:latin typeface="Bahnschrift" panose="020B0502040204020203" pitchFamily="34" charset="0"/>
              </a:rPr>
              <a:t>in cumulative spikes/trial</a:t>
            </a:r>
          </a:p>
          <a:p>
            <a:endParaRPr lang="en-GB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GB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ZETA2 visualization</a:t>
            </a:r>
            <a:endParaRPr lang="en-GB" dirty="0"/>
          </a:p>
        </p:txBody>
      </p:sp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3F45D3EE-92C0-13A1-72E2-B30AABC82EC6}"/>
              </a:ext>
            </a:extLst>
          </p:cNvPr>
          <p:cNvSpPr/>
          <p:nvPr/>
        </p:nvSpPr>
        <p:spPr>
          <a:xfrm>
            <a:off x="3180805" y="3086121"/>
            <a:ext cx="3839120" cy="1516561"/>
          </a:xfrm>
          <a:prstGeom prst="roundRect">
            <a:avLst>
              <a:gd name="adj" fmla="val 37941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  <a:latin typeface="Bahnschrift" panose="020B0502040204020203" pitchFamily="34" charset="0"/>
              </a:rPr>
              <a:t>what </a:t>
            </a:r>
            <a:r>
              <a:rPr lang="de-DE" sz="3200" b="1" dirty="0" err="1">
                <a:solidFill>
                  <a:schemeClr val="tx1"/>
                </a:solidFill>
                <a:latin typeface="Bahnschrift" panose="020B0502040204020203" pitchFamily="34" charset="0"/>
              </a:rPr>
              <a:t>exactly</a:t>
            </a:r>
            <a:r>
              <a:rPr lang="de-DE" sz="3200" b="1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de-DE" sz="3200" b="1" dirty="0" err="1">
                <a:solidFill>
                  <a:schemeClr val="tx1"/>
                </a:solidFill>
                <a:latin typeface="Bahnschrift" panose="020B0502040204020203" pitchFamily="34" charset="0"/>
              </a:rPr>
              <a:t>is</a:t>
            </a:r>
            <a:r>
              <a:rPr lang="de-DE" sz="3200" b="1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de-DE" sz="3200" b="1" dirty="0" err="1">
                <a:solidFill>
                  <a:schemeClr val="tx1"/>
                </a:solidFill>
                <a:latin typeface="Bahnschrift" panose="020B0502040204020203" pitchFamily="34" charset="0"/>
              </a:rPr>
              <a:t>the</a:t>
            </a:r>
            <a:r>
              <a:rPr lang="de-DE" sz="3200" b="1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de-DE" sz="3200" b="1" dirty="0" err="1">
                <a:solidFill>
                  <a:schemeClr val="tx1"/>
                </a:solidFill>
                <a:latin typeface="Bahnschrift" panose="020B0502040204020203" pitchFamily="34" charset="0"/>
              </a:rPr>
              <a:t>meaning</a:t>
            </a:r>
            <a:r>
              <a:rPr lang="de-DE" sz="3200" b="1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de-DE" sz="3200" b="1" dirty="0" err="1">
                <a:solidFill>
                  <a:schemeClr val="tx1"/>
                </a:solidFill>
                <a:latin typeface="Bahnschrift" panose="020B0502040204020203" pitchFamily="34" charset="0"/>
              </a:rPr>
              <a:t>of</a:t>
            </a:r>
            <a:r>
              <a:rPr lang="de-DE" sz="3200" b="1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de-DE" sz="3200" b="1" dirty="0" err="1">
                <a:solidFill>
                  <a:schemeClr val="tx1"/>
                </a:solidFill>
                <a:latin typeface="Bahnschrift" panose="020B0502040204020203" pitchFamily="34" charset="0"/>
              </a:rPr>
              <a:t>the</a:t>
            </a:r>
            <a:r>
              <a:rPr lang="de-DE" sz="3200" b="1" dirty="0">
                <a:solidFill>
                  <a:schemeClr val="tx1"/>
                </a:solidFill>
                <a:latin typeface="Bahnschrift" panose="020B0502040204020203" pitchFamily="34" charset="0"/>
              </a:rPr>
              <a:t> ZETA </a:t>
            </a:r>
            <a:r>
              <a:rPr lang="de-DE" sz="3200" b="1" dirty="0" err="1">
                <a:solidFill>
                  <a:schemeClr val="tx1"/>
                </a:solidFill>
                <a:latin typeface="Bahnschrift" panose="020B0502040204020203" pitchFamily="34" charset="0"/>
              </a:rPr>
              <a:t>value</a:t>
            </a:r>
            <a:r>
              <a:rPr lang="de-DE" sz="3200" b="1" dirty="0">
                <a:solidFill>
                  <a:schemeClr val="tx1"/>
                </a:solidFill>
                <a:latin typeface="Bahnschrift" panose="020B0502040204020203" pitchFamily="34" charset="0"/>
              </a:rPr>
              <a:t>?</a:t>
            </a:r>
            <a:endParaRPr lang="en-GB" sz="12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487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151" y="1956744"/>
            <a:ext cx="7852049" cy="43551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278953" y="-395763"/>
            <a:ext cx="12776548" cy="1803748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42" y="2168872"/>
            <a:ext cx="3982909" cy="37135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ZETA2 visualization</a:t>
            </a:r>
            <a:endParaRPr lang="en-GB" dirty="0"/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E4DA88D5-3355-65A7-49E6-A8851A2ADA16}"/>
              </a:ext>
            </a:extLst>
          </p:cNvPr>
          <p:cNvSpPr/>
          <p:nvPr/>
        </p:nvSpPr>
        <p:spPr>
          <a:xfrm>
            <a:off x="6780811" y="2849208"/>
            <a:ext cx="2915195" cy="1516561"/>
          </a:xfrm>
          <a:prstGeom prst="roundRect">
            <a:avLst>
              <a:gd name="adj" fmla="val 37941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rasterplot</a:t>
            </a:r>
            <a:endParaRPr lang="en-GB" sz="12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785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ZETA2 visualization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86" y="1591161"/>
            <a:ext cx="11818027" cy="4402016"/>
          </a:xfrm>
        </p:spPr>
      </p:pic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E4DA88D5-3355-65A7-49E6-A8851A2ADA16}"/>
              </a:ext>
            </a:extLst>
          </p:cNvPr>
          <p:cNvSpPr/>
          <p:nvPr/>
        </p:nvSpPr>
        <p:spPr>
          <a:xfrm>
            <a:off x="7262949" y="2857521"/>
            <a:ext cx="2915195" cy="1516561"/>
          </a:xfrm>
          <a:prstGeom prst="roundRect">
            <a:avLst>
              <a:gd name="adj" fmla="val 37941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Bigger legend</a:t>
            </a:r>
            <a:endParaRPr lang="en-GB" sz="12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299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ZETA2 visualization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10" y="1549372"/>
            <a:ext cx="12127380" cy="4653411"/>
          </a:xfrm>
        </p:spPr>
      </p:pic>
    </p:spTree>
    <p:extLst>
      <p:ext uri="{BB962C8B-B14F-4D97-AF65-F5344CB8AC3E}">
        <p14:creationId xmlns:p14="http://schemas.microsoft.com/office/powerpoint/2010/main" val="3332727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ZETA2 results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524000"/>
            <a:ext cx="7464314" cy="5318234"/>
          </a:xfrm>
        </p:spPr>
      </p:pic>
      <p:sp>
        <p:nvSpPr>
          <p:cNvPr id="5" name="Rounded Rectangle 4"/>
          <p:cNvSpPr/>
          <p:nvPr/>
        </p:nvSpPr>
        <p:spPr>
          <a:xfrm>
            <a:off x="7882758" y="2228193"/>
            <a:ext cx="4064961" cy="3614456"/>
          </a:xfrm>
          <a:prstGeom prst="roundRect">
            <a:avLst>
              <a:gd name="adj" fmla="val 5845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reward outcome selectivity is primarily frontal</a:t>
            </a:r>
            <a:endParaRPr lang="en-GB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GB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E4DA88D5-3355-65A7-49E6-A8851A2ADA16}"/>
              </a:ext>
            </a:extLst>
          </p:cNvPr>
          <p:cNvSpPr/>
          <p:nvPr/>
        </p:nvSpPr>
        <p:spPr>
          <a:xfrm>
            <a:off x="4153989" y="1991619"/>
            <a:ext cx="2915195" cy="1516561"/>
          </a:xfrm>
          <a:prstGeom prst="roundRect">
            <a:avLst>
              <a:gd name="adj" fmla="val 37941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Percentage?</a:t>
            </a:r>
            <a:endParaRPr lang="en-GB" sz="12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424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338EF-BF94-7B55-A4D2-1827AAC8A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5C846-530C-88D6-6168-5ECF2447A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Bahnschrift SemiBold" panose="020B0502040204020203" pitchFamily="34" charset="0"/>
              </a:rPr>
              <a:t>Research Questions</a:t>
            </a:r>
            <a:endParaRPr lang="en-GB" dirty="0">
              <a:latin typeface="Bahnschrift SemiBold" panose="020B0502040204020203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E2BA866-D3F9-18B9-9C34-0FBE0C093114}"/>
              </a:ext>
            </a:extLst>
          </p:cNvPr>
          <p:cNvSpPr/>
          <p:nvPr/>
        </p:nvSpPr>
        <p:spPr>
          <a:xfrm>
            <a:off x="838200" y="1795192"/>
            <a:ext cx="4517571" cy="3939403"/>
          </a:xfrm>
          <a:prstGeom prst="roundRect">
            <a:avLst>
              <a:gd name="adj" fmla="val 5845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1 · Selectivity</a:t>
            </a:r>
          </a:p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Are there neurons that respond </a:t>
            </a:r>
            <a:r>
              <a:rPr lang="de-DE" sz="2800" b="1" dirty="0">
                <a:solidFill>
                  <a:schemeClr val="tx1"/>
                </a:solidFill>
                <a:latin typeface="Bahnschrift" panose="020B0502040204020203" pitchFamily="34" charset="0"/>
              </a:rPr>
              <a:t>differently</a:t>
            </a:r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 to </a:t>
            </a:r>
            <a:r>
              <a:rPr lang="de-DE" sz="2800" dirty="0">
                <a:solidFill>
                  <a:srgbClr val="FF9412"/>
                </a:solidFill>
                <a:latin typeface="Bahnschrift" panose="020B0502040204020203" pitchFamily="34" charset="0"/>
              </a:rPr>
              <a:t>reward</a:t>
            </a:r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 vs </a:t>
            </a:r>
            <a:r>
              <a:rPr lang="de-DE" sz="2800" dirty="0">
                <a:solidFill>
                  <a:srgbClr val="C00000"/>
                </a:solidFill>
                <a:latin typeface="Bahnschrift" panose="020B0502040204020203" pitchFamily="34" charset="0"/>
              </a:rPr>
              <a:t>no reward</a:t>
            </a:r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 in the </a:t>
            </a:r>
            <a:r>
              <a:rPr lang="de-DE" sz="2800" b="1" dirty="0">
                <a:solidFill>
                  <a:schemeClr val="tx1"/>
                </a:solidFill>
                <a:latin typeface="Bahnschrift" panose="020B0502040204020203" pitchFamily="34" charset="0"/>
              </a:rPr>
              <a:t>gamble</a:t>
            </a:r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 arm?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E8BC9CB-A270-A1A7-41C1-7DB1E9BBFC01}"/>
              </a:ext>
            </a:extLst>
          </p:cNvPr>
          <p:cNvSpPr txBox="1"/>
          <p:nvPr/>
        </p:nvSpPr>
        <p:spPr>
          <a:xfrm>
            <a:off x="8220075" y="3349394"/>
            <a:ext cx="20002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4800" dirty="0" smtClean="0">
                <a:latin typeface="Bahnschrift" panose="020B0502040204020203" pitchFamily="34" charset="0"/>
              </a:rPr>
              <a:t>Yes</a:t>
            </a:r>
            <a:endParaRPr lang="en-US" sz="4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10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Why behavioural modelling?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216833" cy="4351338"/>
          </a:xfrm>
        </p:spPr>
        <p:txBody>
          <a:bodyPr/>
          <a:lstStyle/>
          <a:p>
            <a:r>
              <a:rPr lang="de-DE" dirty="0"/>
              <a:t>We can only observe the </a:t>
            </a:r>
            <a:r>
              <a:rPr lang="de-DE" b="1" dirty="0">
                <a:solidFill>
                  <a:srgbClr val="0CB87F"/>
                </a:solidFill>
              </a:rPr>
              <a:t>choices</a:t>
            </a:r>
            <a:r>
              <a:rPr lang="de-DE" dirty="0"/>
              <a:t> made and their </a:t>
            </a:r>
            <a:r>
              <a:rPr lang="de-DE" b="1" dirty="0">
                <a:solidFill>
                  <a:srgbClr val="0CB87F"/>
                </a:solidFill>
              </a:rPr>
              <a:t>outcomes </a:t>
            </a:r>
            <a:r>
              <a:rPr lang="de-DE" dirty="0"/>
              <a:t>but not the </a:t>
            </a:r>
            <a:r>
              <a:rPr lang="de-DE" b="1" dirty="0">
                <a:solidFill>
                  <a:srgbClr val="FF9412"/>
                </a:solidFill>
              </a:rPr>
              <a:t>cognitive variables </a:t>
            </a:r>
            <a:r>
              <a:rPr lang="de-DE" dirty="0"/>
              <a:t>that drive them:</a:t>
            </a:r>
          </a:p>
          <a:p>
            <a:pPr lvl="1"/>
            <a:r>
              <a:rPr lang="de-DE" dirty="0"/>
              <a:t>Belief about probability</a:t>
            </a:r>
          </a:p>
          <a:p>
            <a:pPr lvl="1"/>
            <a:r>
              <a:rPr lang="de-DE" dirty="0"/>
              <a:t>Prediction error</a:t>
            </a:r>
          </a:p>
          <a:p>
            <a:pPr lvl="1"/>
            <a:r>
              <a:rPr lang="de-DE" dirty="0"/>
              <a:t>Expected Reward</a:t>
            </a:r>
          </a:p>
          <a:p>
            <a:pPr lvl="1"/>
            <a:r>
              <a:rPr lang="de-DE" dirty="0"/>
              <a:t>...</a:t>
            </a:r>
          </a:p>
          <a:p>
            <a:r>
              <a:rPr lang="de-DE" dirty="0"/>
              <a:t>A behavioural model is </a:t>
            </a:r>
            <a:r>
              <a:rPr lang="de-DE" b="1" dirty="0"/>
              <a:t>a generative rule </a:t>
            </a:r>
            <a:r>
              <a:rPr lang="de-DE" dirty="0"/>
              <a:t>fit to the participants choice</a:t>
            </a:r>
          </a:p>
          <a:p>
            <a:endParaRPr lang="en-GB" dirty="0"/>
          </a:p>
        </p:txBody>
      </p:sp>
      <p:graphicFrame>
        <p:nvGraphicFramePr>
          <p:cNvPr id="5" name="Diagram 4"/>
          <p:cNvGraphicFramePr/>
          <p:nvPr>
            <p:extLst/>
          </p:nvPr>
        </p:nvGraphicFramePr>
        <p:xfrm>
          <a:off x="6986382" y="1825625"/>
          <a:ext cx="5682211" cy="37525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74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Rescorla wagner/ Q-learning</a:t>
            </a:r>
            <a:endParaRPr lang="en-GB" dirty="0"/>
          </a:p>
        </p:txBody>
      </p:sp>
      <p:grpSp>
        <p:nvGrpSpPr>
          <p:cNvPr id="4" name="Group 3"/>
          <p:cNvGrpSpPr/>
          <p:nvPr/>
        </p:nvGrpSpPr>
        <p:grpSpPr>
          <a:xfrm>
            <a:off x="838200" y="2443454"/>
            <a:ext cx="10515600" cy="1475178"/>
            <a:chOff x="838200" y="2226352"/>
            <a:chExt cx="10515600" cy="14751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ounded Rectangle 5"/>
                <p:cNvSpPr/>
                <p:nvPr/>
              </p:nvSpPr>
              <p:spPr>
                <a:xfrm>
                  <a:off x="838200" y="2226352"/>
                  <a:ext cx="10515600" cy="1475178"/>
                </a:xfrm>
                <a:prstGeom prst="roundRect">
                  <a:avLst>
                    <a:gd name="adj" fmla="val 5845"/>
                  </a:avLst>
                </a:prstGeom>
                <a:solidFill>
                  <a:srgbClr val="FFFDF7"/>
                </a:solidFill>
                <a:ln w="76200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endParaRPr lang="en-GB" sz="28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endParaRPr lang="en-GB" sz="28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de-DE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GB" sz="2400" dirty="0">
                      <a:solidFill>
                        <a:schemeClr val="tx1"/>
                      </a:solidFill>
                      <a:latin typeface="Bahnschrift" panose="020B0502040204020203" pitchFamily="34" charset="0"/>
                    </a:rPr>
                    <a:t> = prediction error (“surprise”); </a:t>
                  </a:r>
                  <a14:m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a14:m>
                  <a:r>
                    <a:rPr lang="en-GB" sz="2400" dirty="0">
                      <a:solidFill>
                        <a:schemeClr val="tx1"/>
                      </a:solidFill>
                      <a:latin typeface="Bahnschrift" panose="020B0502040204020203" pitchFamily="34" charset="0"/>
                    </a:rPr>
                    <a:t> = learning rate</a:t>
                  </a:r>
                </a:p>
              </p:txBody>
            </p:sp>
          </mc:Choice>
          <mc:Fallback xmlns="">
            <p:sp>
              <p:nvSpPr>
                <p:cNvPr id="6" name="Rounded 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2226352"/>
                  <a:ext cx="10515600" cy="1475178"/>
                </a:xfrm>
                <a:prstGeom prst="roundRect">
                  <a:avLst>
                    <a:gd name="adj" fmla="val 5845"/>
                  </a:avLst>
                </a:prstGeom>
                <a:blipFill>
                  <a:blip r:embed="rId2"/>
                  <a:stretch>
                    <a:fillRect/>
                  </a:stretch>
                </a:blipFill>
                <a:ln w="76200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3186907" y="2396061"/>
                  <a:ext cx="1993559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de-DE" sz="2800" b="0" i="1" smtClean="0">
                            <a:latin typeface="Cambria Math" panose="02040503050406030204" pitchFamily="18" charset="0"/>
                          </a:rPr>
                          <m:t> = </m:t>
                        </m:r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GB" sz="2800" dirty="0"/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6907" y="2396061"/>
                  <a:ext cx="1993559" cy="43088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6522600" y="2395475"/>
                  <a:ext cx="2492285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GB" sz="2800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2600" y="2395475"/>
                  <a:ext cx="2492285" cy="4308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/>
          <p:cNvGrpSpPr/>
          <p:nvPr/>
        </p:nvGrpSpPr>
        <p:grpSpPr>
          <a:xfrm>
            <a:off x="838200" y="4817765"/>
            <a:ext cx="10515600" cy="1475178"/>
            <a:chOff x="838200" y="4266223"/>
            <a:chExt cx="10515600" cy="14751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ounded Rectangle 7"/>
                <p:cNvSpPr/>
                <p:nvPr/>
              </p:nvSpPr>
              <p:spPr>
                <a:xfrm>
                  <a:off x="838200" y="4266223"/>
                  <a:ext cx="10515600" cy="1475178"/>
                </a:xfrm>
                <a:prstGeom prst="roundRect">
                  <a:avLst>
                    <a:gd name="adj" fmla="val 5845"/>
                  </a:avLst>
                </a:prstGeom>
                <a:solidFill>
                  <a:srgbClr val="FFFDF7"/>
                </a:solidFill>
                <a:ln w="76200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en-GB" sz="28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:endParaRPr lang="en-GB" sz="28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r>
                        <a:rPr lang="de-DE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de-DE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de-DE" sz="24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:r>
                    <a:rPr lang="de-DE" sz="2400" dirty="0">
                      <a:solidFill>
                        <a:schemeClr val="tx1"/>
                      </a:solidFill>
                      <a:latin typeface="Bahnschrift" panose="020B0502040204020203" pitchFamily="34" charset="0"/>
                    </a:rPr>
                    <a:t>temperature</a:t>
                  </a:r>
                  <a:endParaRPr lang="en-GB" sz="2400" dirty="0">
                    <a:solidFill>
                      <a:schemeClr val="tx1"/>
                    </a:solidFill>
                    <a:latin typeface="Bahnschrif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8" name="Rounded 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4266223"/>
                  <a:ext cx="10515600" cy="1475178"/>
                </a:xfrm>
                <a:prstGeom prst="roundRect">
                  <a:avLst>
                    <a:gd name="adj" fmla="val 5845"/>
                  </a:avLst>
                </a:prstGeom>
                <a:blipFill>
                  <a:blip r:embed="rId5"/>
                  <a:stretch>
                    <a:fillRect/>
                  </a:stretch>
                </a:blipFill>
                <a:ln w="76200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/>
                <p:cNvSpPr txBox="1"/>
                <p:nvPr/>
              </p:nvSpPr>
              <p:spPr>
                <a:xfrm>
                  <a:off x="4245525" y="4569568"/>
                  <a:ext cx="3700949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𝑔𝑎𝑚𝑏𝑙𝑒</m:t>
                            </m:r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sz="28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5525" y="4569568"/>
                  <a:ext cx="3700949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TextBox 9"/>
          <p:cNvSpPr txBox="1"/>
          <p:nvPr/>
        </p:nvSpPr>
        <p:spPr>
          <a:xfrm>
            <a:off x="927100" y="1886858"/>
            <a:ext cx="103378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latin typeface="Bahnschrift" panose="020B0502040204020203" pitchFamily="34" charset="0"/>
              </a:rPr>
              <a:t>For each side:</a:t>
            </a:r>
          </a:p>
          <a:p>
            <a:endParaRPr lang="de-DE" sz="2800" dirty="0">
              <a:latin typeface="Bahnschrift" panose="020B0502040204020203" pitchFamily="34" charset="0"/>
            </a:endParaRPr>
          </a:p>
          <a:p>
            <a:endParaRPr lang="de-DE" sz="2800" dirty="0">
              <a:latin typeface="Bahnschrift" panose="020B0502040204020203" pitchFamily="34" charset="0"/>
            </a:endParaRPr>
          </a:p>
          <a:p>
            <a:endParaRPr lang="de-DE" sz="2800" dirty="0">
              <a:latin typeface="Bahnschrift" panose="020B0502040204020203" pitchFamily="34" charset="0"/>
            </a:endParaRPr>
          </a:p>
          <a:p>
            <a:endParaRPr lang="de-DE" sz="2800" dirty="0">
              <a:latin typeface="Bahnschrift" panose="020B0502040204020203" pitchFamily="34" charset="0"/>
            </a:endParaRPr>
          </a:p>
          <a:p>
            <a:r>
              <a:rPr lang="de-DE" sz="2800" dirty="0">
                <a:latin typeface="Bahnschrift" panose="020B0502040204020203" pitchFamily="34" charset="0"/>
              </a:rPr>
              <a:t>Their difference is used to calculate the probability to gamble:</a:t>
            </a:r>
          </a:p>
          <a:p>
            <a:endParaRPr lang="en-GB" sz="2800" dirty="0">
              <a:latin typeface="Bahnschrif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/>
              <p:cNvSpPr/>
              <p:nvPr/>
            </p:nvSpPr>
            <p:spPr>
              <a:xfrm>
                <a:off x="7946474" y="4545597"/>
                <a:ext cx="2507295" cy="1502310"/>
              </a:xfrm>
              <a:prstGeom prst="roundRect">
                <a:avLst>
                  <a:gd name="adj" fmla="val 5845"/>
                </a:avLst>
              </a:prstGeom>
              <a:solidFill>
                <a:srgbClr val="FFFDF7"/>
              </a:solid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de-DE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(∆</m:t>
                              </m:r>
                              <m:sSub>
                                <m:sSubPr>
                                  <m:ctrlP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6474" y="4545597"/>
                <a:ext cx="2507295" cy="1502310"/>
              </a:xfrm>
              <a:prstGeom prst="roundRect">
                <a:avLst>
                  <a:gd name="adj" fmla="val 5845"/>
                </a:avLst>
              </a:prstGeom>
              <a:blipFill>
                <a:blip r:embed="rId7"/>
                <a:stretch>
                  <a:fillRect/>
                </a:stretch>
              </a:blip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3723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Rescorla wagner/ Q-learning</a:t>
            </a:r>
            <a:endParaRPr lang="en-GB" dirty="0"/>
          </a:p>
        </p:txBody>
      </p:sp>
      <p:grpSp>
        <p:nvGrpSpPr>
          <p:cNvPr id="4" name="Group 3"/>
          <p:cNvGrpSpPr/>
          <p:nvPr/>
        </p:nvGrpSpPr>
        <p:grpSpPr>
          <a:xfrm>
            <a:off x="838200" y="2443454"/>
            <a:ext cx="10515600" cy="1475178"/>
            <a:chOff x="838200" y="2226352"/>
            <a:chExt cx="10515600" cy="14751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ounded Rectangle 5"/>
                <p:cNvSpPr/>
                <p:nvPr/>
              </p:nvSpPr>
              <p:spPr>
                <a:xfrm>
                  <a:off x="838200" y="2226352"/>
                  <a:ext cx="10515600" cy="1475178"/>
                </a:xfrm>
                <a:prstGeom prst="roundRect">
                  <a:avLst>
                    <a:gd name="adj" fmla="val 5845"/>
                  </a:avLst>
                </a:prstGeom>
                <a:solidFill>
                  <a:srgbClr val="FFFDF7"/>
                </a:solidFill>
                <a:ln w="76200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endParaRPr lang="en-GB" sz="28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endParaRPr lang="en-GB" sz="28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de-DE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GB" sz="2400" dirty="0">
                      <a:solidFill>
                        <a:schemeClr val="tx1"/>
                      </a:solidFill>
                      <a:latin typeface="Bahnschrift" panose="020B0502040204020203" pitchFamily="34" charset="0"/>
                    </a:rPr>
                    <a:t> = prediction error (“surprise”); </a:t>
                  </a:r>
                  <a14:m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a14:m>
                  <a:r>
                    <a:rPr lang="en-GB" sz="2400" dirty="0">
                      <a:solidFill>
                        <a:schemeClr val="tx1"/>
                      </a:solidFill>
                      <a:latin typeface="Bahnschrift" panose="020B0502040204020203" pitchFamily="34" charset="0"/>
                    </a:rPr>
                    <a:t> = learning rate</a:t>
                  </a:r>
                </a:p>
              </p:txBody>
            </p:sp>
          </mc:Choice>
          <mc:Fallback xmlns="">
            <p:sp>
              <p:nvSpPr>
                <p:cNvPr id="6" name="Rounded 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2226352"/>
                  <a:ext cx="10515600" cy="1475178"/>
                </a:xfrm>
                <a:prstGeom prst="roundRect">
                  <a:avLst>
                    <a:gd name="adj" fmla="val 5845"/>
                  </a:avLst>
                </a:prstGeom>
                <a:blipFill>
                  <a:blip r:embed="rId2"/>
                  <a:stretch>
                    <a:fillRect/>
                  </a:stretch>
                </a:blipFill>
                <a:ln w="76200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3186907" y="2396061"/>
                  <a:ext cx="1993559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de-DE" sz="2800" b="0" i="1" smtClean="0">
                            <a:latin typeface="Cambria Math" panose="02040503050406030204" pitchFamily="18" charset="0"/>
                          </a:rPr>
                          <m:t> = </m:t>
                        </m:r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GB" sz="2800" dirty="0"/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6907" y="2396061"/>
                  <a:ext cx="1993559" cy="43088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6522600" y="2395475"/>
                  <a:ext cx="2492285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GB" sz="2800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2600" y="2395475"/>
                  <a:ext cx="2492285" cy="4308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/>
          <p:cNvGrpSpPr/>
          <p:nvPr/>
        </p:nvGrpSpPr>
        <p:grpSpPr>
          <a:xfrm>
            <a:off x="838200" y="4817765"/>
            <a:ext cx="10515600" cy="1475178"/>
            <a:chOff x="838200" y="4266223"/>
            <a:chExt cx="10515600" cy="14751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ounded Rectangle 7"/>
                <p:cNvSpPr/>
                <p:nvPr/>
              </p:nvSpPr>
              <p:spPr>
                <a:xfrm>
                  <a:off x="838200" y="4266223"/>
                  <a:ext cx="10515600" cy="1475178"/>
                </a:xfrm>
                <a:prstGeom prst="roundRect">
                  <a:avLst>
                    <a:gd name="adj" fmla="val 5845"/>
                  </a:avLst>
                </a:prstGeom>
                <a:solidFill>
                  <a:srgbClr val="FFFDF7"/>
                </a:solidFill>
                <a:ln w="76200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en-GB" sz="28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:endParaRPr lang="en-GB" sz="28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r>
                        <a:rPr lang="de-DE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de-DE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de-DE" sz="24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:r>
                    <a:rPr lang="de-DE" sz="2400" dirty="0">
                      <a:solidFill>
                        <a:schemeClr val="tx1"/>
                      </a:solidFill>
                      <a:latin typeface="Bahnschrift" panose="020B0502040204020203" pitchFamily="34" charset="0"/>
                    </a:rPr>
                    <a:t>temperature;</a:t>
                  </a:r>
                  <a:r>
                    <a:rPr lang="de-DE" sz="24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de-DE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±1=</m:t>
                      </m:r>
                    </m:oMath>
                  </a14:m>
                  <a:r>
                    <a:rPr lang="en-GB" sz="2400" i="1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  <a:r>
                    <a:rPr lang="en-GB" sz="2400" dirty="0">
                      <a:solidFill>
                        <a:schemeClr val="tx1"/>
                      </a:solidFill>
                      <a:latin typeface="Bahnschrift" panose="020B0502040204020203" pitchFamily="34" charset="0"/>
                    </a:rPr>
                    <a:t>previous choice;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ϕ</m:t>
                      </m:r>
                      <m:r>
                        <a:rPr lang="de-DE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GB" sz="2400" dirty="0">
                      <a:solidFill>
                        <a:schemeClr val="tx1"/>
                      </a:solidFill>
                      <a:latin typeface="Bahnschrift" panose="020B0502040204020203" pitchFamily="34" charset="0"/>
                    </a:rPr>
                    <a:t> weights perseveration</a:t>
                  </a:r>
                </a:p>
              </p:txBody>
            </p:sp>
          </mc:Choice>
          <mc:Fallback xmlns="">
            <p:sp>
              <p:nvSpPr>
                <p:cNvPr id="8" name="Rounded 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4266223"/>
                  <a:ext cx="10515600" cy="1475178"/>
                </a:xfrm>
                <a:prstGeom prst="roundRect">
                  <a:avLst>
                    <a:gd name="adj" fmla="val 5845"/>
                  </a:avLst>
                </a:prstGeom>
                <a:blipFill>
                  <a:blip r:embed="rId5"/>
                  <a:stretch>
                    <a:fillRect/>
                  </a:stretch>
                </a:blipFill>
                <a:ln w="76200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/>
                <p:cNvSpPr txBox="1"/>
                <p:nvPr/>
              </p:nvSpPr>
              <p:spPr>
                <a:xfrm>
                  <a:off x="3297221" y="4543897"/>
                  <a:ext cx="5017849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𝑔𝑎𝑚𝑏𝑙𝑒</m:t>
                            </m:r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sz="28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7221" y="4543897"/>
                  <a:ext cx="5017849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TextBox 9"/>
          <p:cNvSpPr txBox="1"/>
          <p:nvPr/>
        </p:nvSpPr>
        <p:spPr>
          <a:xfrm>
            <a:off x="927100" y="1886858"/>
            <a:ext cx="103378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latin typeface="Bahnschrift" panose="020B0502040204020203" pitchFamily="34" charset="0"/>
              </a:rPr>
              <a:t>For each side:</a:t>
            </a:r>
          </a:p>
          <a:p>
            <a:endParaRPr lang="de-DE" sz="2800" dirty="0">
              <a:latin typeface="Bahnschrift" panose="020B0502040204020203" pitchFamily="34" charset="0"/>
            </a:endParaRPr>
          </a:p>
          <a:p>
            <a:endParaRPr lang="de-DE" sz="2800" dirty="0">
              <a:latin typeface="Bahnschrift" panose="020B0502040204020203" pitchFamily="34" charset="0"/>
            </a:endParaRPr>
          </a:p>
          <a:p>
            <a:endParaRPr lang="de-DE" sz="2800" dirty="0">
              <a:latin typeface="Bahnschrift" panose="020B0502040204020203" pitchFamily="34" charset="0"/>
            </a:endParaRPr>
          </a:p>
          <a:p>
            <a:endParaRPr lang="de-DE" sz="2800" dirty="0">
              <a:latin typeface="Bahnschrift" panose="020B0502040204020203" pitchFamily="34" charset="0"/>
            </a:endParaRPr>
          </a:p>
          <a:p>
            <a:r>
              <a:rPr lang="de-DE" sz="2800" dirty="0">
                <a:latin typeface="Bahnschrift" panose="020B0502040204020203" pitchFamily="34" charset="0"/>
              </a:rPr>
              <a:t>Their difference is used to calculate the probability to gamble:</a:t>
            </a:r>
          </a:p>
          <a:p>
            <a:endParaRPr lang="en-GB" sz="2800" dirty="0">
              <a:latin typeface="Bahnschrif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/>
              <p:cNvSpPr/>
              <p:nvPr/>
            </p:nvSpPr>
            <p:spPr>
              <a:xfrm>
                <a:off x="12557098" y="2439693"/>
                <a:ext cx="4106573" cy="2871189"/>
              </a:xfrm>
              <a:prstGeom prst="roundRect">
                <a:avLst>
                  <a:gd name="adj" fmla="val 5845"/>
                </a:avLst>
              </a:prstGeom>
              <a:solidFill>
                <a:srgbClr val="FFFDF7"/>
              </a:solid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f>
                        <m:fPr>
                          <m:ctrlPr>
                            <a:rPr lang="de-DE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(∆</m:t>
                              </m:r>
                              <m:sSub>
                                <m:sSubPr>
                                  <m:ctrlP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de-DE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  <m:sSub>
                                <m:sSubPr>
                                  <m:ctrlP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7098" y="2439693"/>
                <a:ext cx="4106573" cy="2871189"/>
              </a:xfrm>
              <a:prstGeom prst="roundRect">
                <a:avLst>
                  <a:gd name="adj" fmla="val 5845"/>
                </a:avLst>
              </a:prstGeom>
              <a:blipFill>
                <a:blip r:embed="rId7"/>
                <a:stretch>
                  <a:fillRect/>
                </a:stretch>
              </a:blip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6326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Rescorla wagner/ Q-learning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/>
              <p:cNvSpPr/>
              <p:nvPr/>
            </p:nvSpPr>
            <p:spPr>
              <a:xfrm>
                <a:off x="12607034" y="1392425"/>
                <a:ext cx="4106573" cy="2871189"/>
              </a:xfrm>
              <a:prstGeom prst="roundRect">
                <a:avLst>
                  <a:gd name="adj" fmla="val 5845"/>
                </a:avLst>
              </a:prstGeom>
              <a:solidFill>
                <a:srgbClr val="FFFDF7"/>
              </a:solid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f>
                        <m:fPr>
                          <m:ctrlPr>
                            <a:rPr lang="de-DE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(∆</m:t>
                              </m:r>
                              <m:sSub>
                                <m:sSubPr>
                                  <m:ctrlP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de-DE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sSub>
                                <m:sSubPr>
                                  <m:ctrlP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de-DE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7034" y="1392425"/>
                <a:ext cx="4106573" cy="2871189"/>
              </a:xfrm>
              <a:prstGeom prst="roundRect">
                <a:avLst>
                  <a:gd name="adj" fmla="val 5845"/>
                </a:avLst>
              </a:prstGeom>
              <a:blipFill>
                <a:blip r:embed="rId2"/>
                <a:stretch>
                  <a:fillRect/>
                </a:stretch>
              </a:blip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927100" y="1930400"/>
            <a:ext cx="10337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latin typeface="Bahnschrift" panose="020B0502040204020203" pitchFamily="34" charset="0"/>
              </a:rPr>
              <a:t>This allows us to simulate what the model would do and see how well it would match the participants choices, but this is </a:t>
            </a:r>
            <a:r>
              <a:rPr lang="de-DE" sz="2800" b="1" dirty="0">
                <a:latin typeface="Bahnschrift" panose="020B0502040204020203" pitchFamily="34" charset="0"/>
              </a:rPr>
              <a:t>not </a:t>
            </a:r>
            <a:r>
              <a:rPr lang="de-DE" sz="2800" dirty="0">
                <a:latin typeface="Bahnschrift" panose="020B0502040204020203" pitchFamily="34" charset="0"/>
              </a:rPr>
              <a:t>what we want.</a:t>
            </a:r>
          </a:p>
          <a:p>
            <a:endParaRPr lang="de-DE" sz="2800" dirty="0">
              <a:latin typeface="Bahnschrift" panose="020B0502040204020203" pitchFamily="34" charset="0"/>
            </a:endParaRPr>
          </a:p>
          <a:p>
            <a:endParaRPr lang="de-DE" sz="2800" dirty="0">
              <a:latin typeface="Bahnschrift" panose="020B0502040204020203" pitchFamily="34" charset="0"/>
            </a:endParaRPr>
          </a:p>
          <a:p>
            <a:r>
              <a:rPr lang="de-DE" sz="2800" dirty="0">
                <a:latin typeface="Bahnschrift" panose="020B0502040204020203" pitchFamily="34" charset="0"/>
              </a:rPr>
              <a:t>Instead the model </a:t>
            </a:r>
            <a:r>
              <a:rPr lang="de-DE" sz="2800" b="1" dirty="0">
                <a:latin typeface="Bahnschrift" panose="020B0502040204020203" pitchFamily="34" charset="0"/>
              </a:rPr>
              <a:t>shadows</a:t>
            </a:r>
            <a:r>
              <a:rPr lang="de-DE" sz="2800" dirty="0">
                <a:latin typeface="Bahnschrift" panose="020B0502040204020203" pitchFamily="34" charset="0"/>
              </a:rPr>
              <a:t> the participants choices and at each step determines how likely their choices are using the model weights. </a:t>
            </a:r>
            <a:endParaRPr lang="en-GB" sz="2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995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-162839" y="5723898"/>
            <a:ext cx="12776548" cy="1803748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426"/>
            <a:ext cx="12192000" cy="6502401"/>
          </a:xfrm>
        </p:spPr>
      </p:pic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E4DA88D5-3355-65A7-49E6-A8851A2ADA16}"/>
              </a:ext>
            </a:extLst>
          </p:cNvPr>
          <p:cNvSpPr/>
          <p:nvPr/>
        </p:nvSpPr>
        <p:spPr>
          <a:xfrm>
            <a:off x="7262949" y="2857521"/>
            <a:ext cx="2915195" cy="1516561"/>
          </a:xfrm>
          <a:prstGeom prst="roundRect">
            <a:avLst>
              <a:gd name="adj" fmla="val 37941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Show less</a:t>
            </a:r>
            <a:endParaRPr lang="en-GB" sz="12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936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Hierarchical Gaussian Filter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b="1" dirty="0"/>
              <a:t>What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?</a:t>
            </a:r>
          </a:p>
          <a:p>
            <a:pPr lvl="1">
              <a:lnSpc>
                <a:spcPct val="150000"/>
              </a:lnSpc>
            </a:pPr>
            <a:r>
              <a:rPr lang="de-DE" dirty="0"/>
              <a:t>A </a:t>
            </a:r>
            <a:r>
              <a:rPr lang="de-DE" dirty="0" err="1"/>
              <a:t>Bayesian</a:t>
            </a:r>
            <a:r>
              <a:rPr lang="de-DE" dirty="0"/>
              <a:t> </a:t>
            </a:r>
            <a:r>
              <a:rPr lang="de-DE" dirty="0" err="1"/>
              <a:t>observer</a:t>
            </a:r>
            <a:r>
              <a:rPr lang="de-DE" dirty="0"/>
              <a:t> that </a:t>
            </a:r>
            <a:r>
              <a:rPr lang="de-DE" dirty="0" err="1"/>
              <a:t>infers</a:t>
            </a:r>
            <a:r>
              <a:rPr lang="de-DE" dirty="0"/>
              <a:t> </a:t>
            </a:r>
            <a:r>
              <a:rPr lang="de-DE" dirty="0" err="1"/>
              <a:t>both</a:t>
            </a:r>
            <a:r>
              <a:rPr lang="de-DE" dirty="0"/>
              <a:t>: </a:t>
            </a:r>
          </a:p>
          <a:p>
            <a:pPr lvl="2">
              <a:lnSpc>
                <a:spcPct val="150000"/>
              </a:lnSpc>
            </a:pP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hidden</a:t>
            </a:r>
            <a:r>
              <a:rPr lang="de-DE" sz="2400" dirty="0"/>
              <a:t>, </a:t>
            </a:r>
            <a:r>
              <a:rPr lang="de-DE" sz="2400" dirty="0" err="1"/>
              <a:t>drifting</a:t>
            </a:r>
            <a:r>
              <a:rPr lang="de-DE" sz="2400" dirty="0"/>
              <a:t> </a:t>
            </a:r>
            <a:r>
              <a:rPr lang="de-DE" sz="2400" b="1" dirty="0" err="1"/>
              <a:t>reward</a:t>
            </a:r>
            <a:r>
              <a:rPr lang="de-DE" sz="2400" b="1" dirty="0"/>
              <a:t> </a:t>
            </a:r>
            <a:r>
              <a:rPr lang="de-DE" sz="2400" b="1" dirty="0" err="1"/>
              <a:t>probability</a:t>
            </a:r>
            <a:endParaRPr lang="de-DE" sz="2400" b="1" dirty="0"/>
          </a:p>
          <a:p>
            <a:pPr lvl="2">
              <a:lnSpc>
                <a:spcPct val="150000"/>
              </a:lnSpc>
            </a:pPr>
            <a:r>
              <a:rPr lang="de-DE" sz="2400" dirty="0"/>
              <a:t>how fast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probability</a:t>
            </a:r>
            <a:r>
              <a:rPr lang="de-DE" sz="2400" dirty="0"/>
              <a:t> </a:t>
            </a:r>
            <a:r>
              <a:rPr lang="de-DE" sz="2400" dirty="0" err="1"/>
              <a:t>is</a:t>
            </a:r>
            <a:r>
              <a:rPr lang="de-DE" sz="2400" dirty="0"/>
              <a:t> </a:t>
            </a:r>
            <a:r>
              <a:rPr lang="de-DE" sz="2400" dirty="0" err="1"/>
              <a:t>changing</a:t>
            </a:r>
            <a:r>
              <a:rPr lang="de-DE" sz="2400" dirty="0"/>
              <a:t>: </a:t>
            </a:r>
            <a:r>
              <a:rPr lang="de-DE" sz="2400" b="1" dirty="0" err="1"/>
              <a:t>the</a:t>
            </a:r>
            <a:r>
              <a:rPr lang="de-DE" sz="2400" b="1" dirty="0"/>
              <a:t> </a:t>
            </a:r>
            <a:r>
              <a:rPr lang="de-DE" sz="2400" b="1" dirty="0" err="1"/>
              <a:t>volatility</a:t>
            </a:r>
            <a:endParaRPr lang="de-DE" sz="2400" b="1" dirty="0"/>
          </a:p>
        </p:txBody>
      </p:sp>
    </p:spTree>
    <p:extLst>
      <p:ext uri="{BB962C8B-B14F-4D97-AF65-F5344CB8AC3E}">
        <p14:creationId xmlns:p14="http://schemas.microsoft.com/office/powerpoint/2010/main" val="3775522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24062-FE02-D332-ACCC-2BC29D297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C6EC0-4680-977E-157D-B70D093C6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Hierarchical Gaussian Filter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1E7D93-5799-2FF4-8FE2-BE951CCCEF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1" dirty="0"/>
                  <a:t>Why use it instead of RW?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RW's learning rate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 is </a:t>
                </a:r>
                <a:r>
                  <a:rPr lang="en-US" b="1" dirty="0"/>
                  <a:t>fixed</a:t>
                </a:r>
                <a:r>
                  <a:rPr lang="en-US" dirty="0"/>
                  <a:t>. The HGF's learning rate is </a:t>
                </a:r>
                <a:r>
                  <a:rPr lang="en-US" b="1" dirty="0"/>
                  <a:t>dynamic</a:t>
                </a:r>
                <a:r>
                  <a:rPr lang="en-US" dirty="0"/>
                  <a:t> and rises when the environment seems volatile.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This potentially represents </a:t>
                </a:r>
                <a:r>
                  <a:rPr lang="en-US" b="1" dirty="0"/>
                  <a:t>adaptive</a:t>
                </a:r>
                <a:r>
                  <a:rPr lang="en-US" dirty="0"/>
                  <a:t> learning: learn fast when the world is changing, slow when it's stable.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1E7D93-5799-2FF4-8FE2-BE951CCCEF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2374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4D2C0-71C3-A36D-C240-19C1408E9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1">
            <a:extLst>
              <a:ext uri="{FF2B5EF4-FFF2-40B4-BE49-F238E27FC236}">
                <a16:creationId xmlns:a16="http://schemas.microsoft.com/office/drawing/2014/main" id="{9953E334-562A-1506-26C0-BF18DCB52639}"/>
              </a:ext>
            </a:extLst>
          </p:cNvPr>
          <p:cNvSpPr/>
          <p:nvPr/>
        </p:nvSpPr>
        <p:spPr>
          <a:xfrm>
            <a:off x="0" y="2903160"/>
            <a:ext cx="12191997" cy="3589709"/>
          </a:xfrm>
          <a:prstGeom prst="rect">
            <a:avLst/>
          </a:prstGeom>
          <a:solidFill>
            <a:srgbClr val="CFF1E6">
              <a:alpha val="47000"/>
            </a:srgb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Bahnschrift" panose="020B0502040204020203" pitchFamily="34" charset="0"/>
              </a:rPr>
              <a:t>“Belief”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B28D5CDD-321A-4847-71AC-6456A93EB245}"/>
              </a:ext>
            </a:extLst>
          </p:cNvPr>
          <p:cNvSpPr/>
          <p:nvPr/>
        </p:nvSpPr>
        <p:spPr>
          <a:xfrm>
            <a:off x="138935" y="3089945"/>
            <a:ext cx="3600000" cy="2891964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Bahnschrift" panose="020B0502040204020203" pitchFamily="34" charset="0"/>
              </a:rPr>
              <a:t>Level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8">
                <a:extLst>
                  <a:ext uri="{FF2B5EF4-FFF2-40B4-BE49-F238E27FC236}">
                    <a16:creationId xmlns:a16="http://schemas.microsoft.com/office/drawing/2014/main" id="{434BEED3-DF36-CD4B-9589-85B925764561}"/>
                  </a:ext>
                </a:extLst>
              </p:cNvPr>
              <p:cNvSpPr/>
              <p:nvPr/>
            </p:nvSpPr>
            <p:spPr>
              <a:xfrm>
                <a:off x="319526" y="4717867"/>
                <a:ext cx="2639332" cy="591553"/>
              </a:xfrm>
              <a:prstGeom prst="roundRect">
                <a:avLst>
                  <a:gd name="adj" fmla="val 5845"/>
                </a:avLst>
              </a:prstGeom>
              <a:solidFill>
                <a:srgbClr val="FFFDF7"/>
              </a:solid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AT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de-AT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AT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Bahnschrift" panose="020B0502040204020203" pitchFamily="34" charset="0"/>
                  </a:rPr>
                  <a:t> prediction error</a:t>
                </a:r>
                <a:endParaRPr lang="en-GB" dirty="0">
                  <a:solidFill>
                    <a:schemeClr val="tx1"/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Rounded Rectangle 8">
                <a:extLst>
                  <a:ext uri="{FF2B5EF4-FFF2-40B4-BE49-F238E27FC236}">
                    <a16:creationId xmlns:a16="http://schemas.microsoft.com/office/drawing/2014/main" id="{434BEED3-DF36-CD4B-9589-85B9257645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26" y="4717867"/>
                <a:ext cx="2639332" cy="591553"/>
              </a:xfrm>
              <a:prstGeom prst="roundRect">
                <a:avLst>
                  <a:gd name="adj" fmla="val 5845"/>
                </a:avLst>
              </a:prstGeom>
              <a:blipFill>
                <a:blip r:embed="rId2"/>
                <a:stretch>
                  <a:fillRect/>
                </a:stretch>
              </a:blip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">
            <a:extLst>
              <a:ext uri="{FF2B5EF4-FFF2-40B4-BE49-F238E27FC236}">
                <a16:creationId xmlns:a16="http://schemas.microsoft.com/office/drawing/2014/main" id="{EF7D8214-EDDF-6A9B-B289-793C067D8451}"/>
              </a:ext>
            </a:extLst>
          </p:cNvPr>
          <p:cNvSpPr/>
          <p:nvPr/>
        </p:nvSpPr>
        <p:spPr>
          <a:xfrm>
            <a:off x="4296000" y="3089945"/>
            <a:ext cx="3600000" cy="2888160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Bahnschrift" panose="020B0502040204020203" pitchFamily="34" charset="0"/>
              </a:rPr>
              <a:t>Level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8">
                <a:extLst>
                  <a:ext uri="{FF2B5EF4-FFF2-40B4-BE49-F238E27FC236}">
                    <a16:creationId xmlns:a16="http://schemas.microsoft.com/office/drawing/2014/main" id="{42B0618E-08A8-A4FE-C533-A1D0249A16BD}"/>
                  </a:ext>
                </a:extLst>
              </p:cNvPr>
              <p:cNvSpPr/>
              <p:nvPr/>
            </p:nvSpPr>
            <p:spPr>
              <a:xfrm>
                <a:off x="4450663" y="4195630"/>
                <a:ext cx="3309464" cy="591553"/>
              </a:xfrm>
              <a:prstGeom prst="roundRect">
                <a:avLst>
                  <a:gd name="adj" fmla="val 5845"/>
                </a:avLst>
              </a:prstGeom>
              <a:solidFill>
                <a:srgbClr val="FFFDF7"/>
              </a:solid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de-AT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AT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de-AT" sz="16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AT" sz="16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de-AT" sz="16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de-AT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Bahnschrift" panose="020B0502040204020203" pitchFamily="34" charset="0"/>
                  </a:rPr>
                  <a:t> variable learning rate</a:t>
                </a:r>
                <a:endParaRPr lang="en-GB" dirty="0">
                  <a:solidFill>
                    <a:schemeClr val="tx1"/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17" name="Rounded Rectangle 8">
                <a:extLst>
                  <a:ext uri="{FF2B5EF4-FFF2-40B4-BE49-F238E27FC236}">
                    <a16:creationId xmlns:a16="http://schemas.microsoft.com/office/drawing/2014/main" id="{42B0618E-08A8-A4FE-C533-A1D0249A16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663" y="4195630"/>
                <a:ext cx="3309464" cy="591553"/>
              </a:xfrm>
              <a:prstGeom prst="roundRect">
                <a:avLst>
                  <a:gd name="adj" fmla="val 5845"/>
                </a:avLst>
              </a:prstGeom>
              <a:blipFill>
                <a:blip r:embed="rId3"/>
                <a:stretch>
                  <a:fillRect/>
                </a:stretch>
              </a:blip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8">
                <a:extLst>
                  <a:ext uri="{FF2B5EF4-FFF2-40B4-BE49-F238E27FC236}">
                    <a16:creationId xmlns:a16="http://schemas.microsoft.com/office/drawing/2014/main" id="{2059F914-8D4B-80AF-1BED-BEE5AD43B17C}"/>
                  </a:ext>
                </a:extLst>
              </p:cNvPr>
              <p:cNvSpPr/>
              <p:nvPr/>
            </p:nvSpPr>
            <p:spPr>
              <a:xfrm>
                <a:off x="4450663" y="3248323"/>
                <a:ext cx="3309464" cy="770267"/>
              </a:xfrm>
              <a:prstGeom prst="roundRect">
                <a:avLst>
                  <a:gd name="adj" fmla="val 5845"/>
                </a:avLst>
              </a:prstGeom>
              <a:solidFill>
                <a:srgbClr val="FFFDF7"/>
              </a:solid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AT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e-AT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AT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Bahnschrift" panose="020B0502040204020203" pitchFamily="34" charset="0"/>
                  </a:rPr>
                  <a:t> belief about </a:t>
                </a:r>
                <a:r>
                  <a:rPr lang="en-GB" sz="1600" b="1" dirty="0">
                    <a:solidFill>
                      <a:schemeClr val="tx1"/>
                    </a:solidFill>
                    <a:latin typeface="Bahnschrift" panose="020B0502040204020203" pitchFamily="34" charset="0"/>
                  </a:rPr>
                  <a:t>tendency</a:t>
                </a:r>
              </a:p>
              <a:p>
                <a:r>
                  <a:rPr lang="en-GB" sz="1600" dirty="0">
                    <a:solidFill>
                      <a:schemeClr val="tx1"/>
                    </a:solidFill>
                    <a:latin typeface="Bahnschrift" panose="020B0502040204020203" pitchFamily="34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de-AT" sz="16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{−</m:t>
                    </m:r>
                    <m:r>
                      <a:rPr lang="de-AT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de-AT" sz="16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de-AT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e-AT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AT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de-AT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de-AT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Bahnschrift" panose="020B0502040204020203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8" name="Rounded Rectangle 8">
                <a:extLst>
                  <a:ext uri="{FF2B5EF4-FFF2-40B4-BE49-F238E27FC236}">
                    <a16:creationId xmlns:a16="http://schemas.microsoft.com/office/drawing/2014/main" id="{2059F914-8D4B-80AF-1BED-BEE5AD43B1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663" y="3248323"/>
                <a:ext cx="3309464" cy="770267"/>
              </a:xfrm>
              <a:prstGeom prst="roundRect">
                <a:avLst>
                  <a:gd name="adj" fmla="val 5845"/>
                </a:avLst>
              </a:prstGeom>
              <a:blipFill>
                <a:blip r:embed="rId4"/>
                <a:stretch>
                  <a:fillRect/>
                </a:stretch>
              </a:blip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ectangle 1">
            <a:extLst>
              <a:ext uri="{FF2B5EF4-FFF2-40B4-BE49-F238E27FC236}">
                <a16:creationId xmlns:a16="http://schemas.microsoft.com/office/drawing/2014/main" id="{3BDC6601-E698-8954-2BB9-94C8F9F1C48B}"/>
              </a:ext>
            </a:extLst>
          </p:cNvPr>
          <p:cNvSpPr/>
          <p:nvPr/>
        </p:nvSpPr>
        <p:spPr>
          <a:xfrm>
            <a:off x="-278953" y="-395763"/>
            <a:ext cx="12776548" cy="1803748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29E83E3E-5F32-DC8C-8054-8181C3F4BC64}"/>
              </a:ext>
            </a:extLst>
          </p:cNvPr>
          <p:cNvSpPr/>
          <p:nvPr/>
        </p:nvSpPr>
        <p:spPr>
          <a:xfrm>
            <a:off x="8453065" y="3089945"/>
            <a:ext cx="3600000" cy="2888160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Bahnschrift" panose="020B0502040204020203" pitchFamily="34" charset="0"/>
              </a:rPr>
              <a:t>Level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ounded Rectangle 8">
                <a:extLst>
                  <a:ext uri="{FF2B5EF4-FFF2-40B4-BE49-F238E27FC236}">
                    <a16:creationId xmlns:a16="http://schemas.microsoft.com/office/drawing/2014/main" id="{C6C9CB4A-8038-90BF-F71A-000B6551A2D6}"/>
                  </a:ext>
                </a:extLst>
              </p:cNvPr>
              <p:cNvSpPr/>
              <p:nvPr/>
            </p:nvSpPr>
            <p:spPr>
              <a:xfrm>
                <a:off x="8605650" y="4108875"/>
                <a:ext cx="3309464" cy="770267"/>
              </a:xfrm>
              <a:prstGeom prst="roundRect">
                <a:avLst>
                  <a:gd name="adj" fmla="val 5845"/>
                </a:avLst>
              </a:prstGeom>
              <a:solidFill>
                <a:srgbClr val="FFFDF7"/>
              </a:solid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AT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e-AT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AT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Bahnschrift" panose="020B0502040204020203" pitchFamily="34" charset="0"/>
                  </a:rPr>
                  <a:t> belief about </a:t>
                </a:r>
                <a:r>
                  <a:rPr lang="en-GB" sz="1600" b="1" dirty="0">
                    <a:solidFill>
                      <a:schemeClr val="tx1"/>
                    </a:solidFill>
                    <a:latin typeface="Bahnschrift" panose="020B0502040204020203" pitchFamily="34" charset="0"/>
                  </a:rPr>
                  <a:t>volatility</a:t>
                </a:r>
              </a:p>
              <a:p>
                <a:r>
                  <a:rPr lang="en-GB" sz="1600" dirty="0">
                    <a:solidFill>
                      <a:schemeClr val="tx1"/>
                    </a:solidFill>
                    <a:latin typeface="Bahnschrift" panose="020B0502040204020203" pitchFamily="34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de-AT" sz="16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{−</m:t>
                    </m:r>
                    <m:r>
                      <a:rPr lang="de-AT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de-AT" sz="16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de-AT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e-AT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AT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de-AT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de-AT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Bahnschrift" panose="020B0502040204020203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1" name="Rounded Rectangle 8">
                <a:extLst>
                  <a:ext uri="{FF2B5EF4-FFF2-40B4-BE49-F238E27FC236}">
                    <a16:creationId xmlns:a16="http://schemas.microsoft.com/office/drawing/2014/main" id="{C6C9CB4A-8038-90BF-F71A-000B6551A2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5650" y="4108875"/>
                <a:ext cx="3309464" cy="770267"/>
              </a:xfrm>
              <a:prstGeom prst="roundRect">
                <a:avLst>
                  <a:gd name="adj" fmla="val 5845"/>
                </a:avLst>
              </a:prstGeom>
              <a:blipFill>
                <a:blip r:embed="rId5"/>
                <a:stretch>
                  <a:fillRect/>
                </a:stretch>
              </a:blip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ounded Rectangle 5">
                <a:extLst>
                  <a:ext uri="{FF2B5EF4-FFF2-40B4-BE49-F238E27FC236}">
                    <a16:creationId xmlns:a16="http://schemas.microsoft.com/office/drawing/2014/main" id="{927315D4-7799-30D6-AC13-346068C5DB9D}"/>
                  </a:ext>
                </a:extLst>
              </p:cNvPr>
              <p:cNvSpPr/>
              <p:nvPr/>
            </p:nvSpPr>
            <p:spPr>
              <a:xfrm>
                <a:off x="4478656" y="2034695"/>
                <a:ext cx="1914715" cy="474162"/>
              </a:xfrm>
              <a:prstGeom prst="roundRect">
                <a:avLst>
                  <a:gd name="adj" fmla="val 5845"/>
                </a:avLst>
              </a:prstGeom>
              <a:solidFill>
                <a:srgbClr val="FFFDF7"/>
              </a:solid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AT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AT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AT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AT" sz="1600" dirty="0">
                    <a:solidFill>
                      <a:schemeClr val="tx1"/>
                    </a:solidFill>
                    <a:latin typeface="Bahnschrift" panose="020B0502040204020203" pitchFamily="34" charset="0"/>
                  </a:rPr>
                  <a:t> tendency</a:t>
                </a:r>
              </a:p>
              <a:p>
                <a:endParaRPr lang="en-GB" sz="1600" dirty="0">
                  <a:solidFill>
                    <a:schemeClr val="tx1"/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23" name="Rounded Rectangle 5">
                <a:extLst>
                  <a:ext uri="{FF2B5EF4-FFF2-40B4-BE49-F238E27FC236}">
                    <a16:creationId xmlns:a16="http://schemas.microsoft.com/office/drawing/2014/main" id="{927315D4-7799-30D6-AC13-346068C5DB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656" y="2034695"/>
                <a:ext cx="1914715" cy="474162"/>
              </a:xfrm>
              <a:prstGeom prst="roundRect">
                <a:avLst>
                  <a:gd name="adj" fmla="val 5845"/>
                </a:avLst>
              </a:prstGeom>
              <a:blipFill>
                <a:blip r:embed="rId6"/>
                <a:stretch>
                  <a:fillRect b="-25275"/>
                </a:stretch>
              </a:blip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ounded Rectangle 5">
                <a:extLst>
                  <a:ext uri="{FF2B5EF4-FFF2-40B4-BE49-F238E27FC236}">
                    <a16:creationId xmlns:a16="http://schemas.microsoft.com/office/drawing/2014/main" id="{6DF731C0-CD63-7CA8-7030-D203D4461577}"/>
                  </a:ext>
                </a:extLst>
              </p:cNvPr>
              <p:cNvSpPr/>
              <p:nvPr/>
            </p:nvSpPr>
            <p:spPr>
              <a:xfrm>
                <a:off x="8598333" y="2034695"/>
                <a:ext cx="1914715" cy="474162"/>
              </a:xfrm>
              <a:prstGeom prst="roundRect">
                <a:avLst>
                  <a:gd name="adj" fmla="val 5845"/>
                </a:avLst>
              </a:prstGeom>
              <a:solidFill>
                <a:srgbClr val="FFFDF7"/>
              </a:solid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AT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AT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AT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AT" sz="1600" dirty="0">
                    <a:solidFill>
                      <a:schemeClr val="tx1"/>
                    </a:solidFill>
                    <a:latin typeface="Bahnschrift" panose="020B0502040204020203" pitchFamily="34" charset="0"/>
                  </a:rPr>
                  <a:t> volatility</a:t>
                </a:r>
              </a:p>
              <a:p>
                <a:endParaRPr lang="en-GB" sz="1600" dirty="0">
                  <a:solidFill>
                    <a:schemeClr val="tx1"/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25" name="Rounded Rectangle 5">
                <a:extLst>
                  <a:ext uri="{FF2B5EF4-FFF2-40B4-BE49-F238E27FC236}">
                    <a16:creationId xmlns:a16="http://schemas.microsoft.com/office/drawing/2014/main" id="{6DF731C0-CD63-7CA8-7030-D203D44615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8333" y="2034695"/>
                <a:ext cx="1914715" cy="474162"/>
              </a:xfrm>
              <a:prstGeom prst="roundRect">
                <a:avLst>
                  <a:gd name="adj" fmla="val 5845"/>
                </a:avLst>
              </a:prstGeom>
              <a:blipFill>
                <a:blip r:embed="rId7"/>
                <a:stretch>
                  <a:fillRect b="-25275"/>
                </a:stretch>
              </a:blip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BFED02B5-6D48-069C-FC79-344E0086571D}"/>
              </a:ext>
            </a:extLst>
          </p:cNvPr>
          <p:cNvCxnSpPr>
            <a:cxnSpLocks/>
            <a:stCxn id="25" idx="1"/>
            <a:endCxn id="23" idx="3"/>
          </p:cNvCxnSpPr>
          <p:nvPr/>
        </p:nvCxnSpPr>
        <p:spPr>
          <a:xfrm flipH="1">
            <a:off x="6393371" y="2271776"/>
            <a:ext cx="2204962" cy="0"/>
          </a:xfrm>
          <a:prstGeom prst="straightConnector1">
            <a:avLst/>
          </a:prstGeom>
          <a:ln w="57150">
            <a:solidFill>
              <a:srgbClr val="FFD7A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E1845DF-D283-F866-995B-BC18362A6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0067"/>
            <a:ext cx="10515600" cy="1325563"/>
          </a:xfrm>
        </p:spPr>
        <p:txBody>
          <a:bodyPr>
            <a:normAutofit/>
          </a:bodyPr>
          <a:lstStyle/>
          <a:p>
            <a:r>
              <a:rPr lang="de-DE" sz="3200" dirty="0" err="1"/>
              <a:t>Hierarchical</a:t>
            </a:r>
            <a:r>
              <a:rPr lang="de-DE" sz="3200" dirty="0"/>
              <a:t> </a:t>
            </a:r>
            <a:r>
              <a:rPr lang="de-DE" sz="3200" dirty="0" err="1"/>
              <a:t>Gaussian</a:t>
            </a:r>
            <a:r>
              <a:rPr lang="de-DE" sz="3200" dirty="0"/>
              <a:t> Filter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ounded Rectangle 8">
                <a:extLst>
                  <a:ext uri="{FF2B5EF4-FFF2-40B4-BE49-F238E27FC236}">
                    <a16:creationId xmlns:a16="http://schemas.microsoft.com/office/drawing/2014/main" id="{0B501E44-96E5-9E2A-CC10-FCD1DF0897BD}"/>
                  </a:ext>
                </a:extLst>
              </p:cNvPr>
              <p:cNvSpPr/>
              <p:nvPr/>
            </p:nvSpPr>
            <p:spPr>
              <a:xfrm>
                <a:off x="4478656" y="4992630"/>
                <a:ext cx="3275144" cy="591553"/>
              </a:xfrm>
              <a:prstGeom prst="roundRect">
                <a:avLst>
                  <a:gd name="adj" fmla="val 5845"/>
                </a:avLst>
              </a:prstGeom>
              <a:solidFill>
                <a:srgbClr val="FFFDF7"/>
              </a:solid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AT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de-AT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AT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Bahnschrift" panose="020B0502040204020203" pitchFamily="34" charset="0"/>
                  </a:rPr>
                  <a:t> volatility prediction error</a:t>
                </a:r>
                <a:endParaRPr lang="en-GB" dirty="0">
                  <a:solidFill>
                    <a:schemeClr val="tx1"/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34" name="Rounded Rectangle 8">
                <a:extLst>
                  <a:ext uri="{FF2B5EF4-FFF2-40B4-BE49-F238E27FC236}">
                    <a16:creationId xmlns:a16="http://schemas.microsoft.com/office/drawing/2014/main" id="{0B501E44-96E5-9E2A-CC10-FCD1DF0897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656" y="4992630"/>
                <a:ext cx="3275144" cy="591553"/>
              </a:xfrm>
              <a:prstGeom prst="roundRect">
                <a:avLst>
                  <a:gd name="adj" fmla="val 5845"/>
                </a:avLst>
              </a:prstGeom>
              <a:blipFill>
                <a:blip r:embed="rId8"/>
                <a:stretch>
                  <a:fillRect/>
                </a:stretch>
              </a:blip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B1F728F4-88A8-DED3-6FA0-B231059C86F3}"/>
              </a:ext>
            </a:extLst>
          </p:cNvPr>
          <p:cNvGrpSpPr/>
          <p:nvPr/>
        </p:nvGrpSpPr>
        <p:grpSpPr>
          <a:xfrm>
            <a:off x="299799" y="1599799"/>
            <a:ext cx="1973895" cy="909058"/>
            <a:chOff x="299799" y="1599799"/>
            <a:chExt cx="1973895" cy="9090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ounded Rectangle 5">
                  <a:extLst>
                    <a:ext uri="{FF2B5EF4-FFF2-40B4-BE49-F238E27FC236}">
                      <a16:creationId xmlns:a16="http://schemas.microsoft.com/office/drawing/2014/main" id="{3C951CDE-04C3-0755-DF44-6B668B3C5F9A}"/>
                    </a:ext>
                  </a:extLst>
                </p:cNvPr>
                <p:cNvSpPr/>
                <p:nvPr/>
              </p:nvSpPr>
              <p:spPr>
                <a:xfrm>
                  <a:off x="299799" y="1599799"/>
                  <a:ext cx="1973895" cy="909058"/>
                </a:xfrm>
                <a:prstGeom prst="roundRect">
                  <a:avLst>
                    <a:gd name="adj" fmla="val 5845"/>
                  </a:avLst>
                </a:prstGeom>
                <a:solidFill>
                  <a:srgbClr val="FFFDF7"/>
                </a:solidFill>
                <a:ln w="76200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de-AT" sz="16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AT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AT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de-AT" sz="1600" dirty="0">
                      <a:solidFill>
                        <a:schemeClr val="tx1"/>
                      </a:solidFill>
                      <a:latin typeface="Bahnschrift" panose="020B0502040204020203" pitchFamily="34" charset="0"/>
                    </a:rPr>
                    <a:t> </a:t>
                  </a:r>
                  <a:r>
                    <a:rPr lang="de-AT" sz="1600" dirty="0" err="1">
                      <a:solidFill>
                        <a:schemeClr val="tx1"/>
                      </a:solidFill>
                      <a:latin typeface="Bahnschrift" panose="020B0502040204020203" pitchFamily="34" charset="0"/>
                    </a:rPr>
                    <a:t>outcome</a:t>
                  </a:r>
                  <a:r>
                    <a:rPr lang="de-AT" sz="1600" dirty="0">
                      <a:solidFill>
                        <a:schemeClr val="tx1"/>
                      </a:solidFill>
                      <a:latin typeface="Bahnschrift" panose="020B0502040204020203" pitchFamily="34" charset="0"/>
                    </a:rPr>
                    <a:t> </a:t>
                  </a:r>
                </a:p>
                <a:p>
                  <a:endParaRPr lang="en-GB" sz="1600" dirty="0">
                    <a:solidFill>
                      <a:schemeClr val="tx1"/>
                    </a:solidFill>
                    <a:latin typeface="Bahnschrif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6" name="Rounded Rectangle 5">
                  <a:extLst>
                    <a:ext uri="{FF2B5EF4-FFF2-40B4-BE49-F238E27FC236}">
                      <a16:creationId xmlns:a16="http://schemas.microsoft.com/office/drawing/2014/main" id="{3C951CDE-04C3-0755-DF44-6B668B3C5F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799" y="1599799"/>
                  <a:ext cx="1973895" cy="909058"/>
                </a:xfrm>
                <a:prstGeom prst="roundRect">
                  <a:avLst>
                    <a:gd name="adj" fmla="val 5845"/>
                  </a:avLst>
                </a:prstGeom>
                <a:blipFill>
                  <a:blip r:embed="rId9"/>
                  <a:stretch>
                    <a:fillRect/>
                  </a:stretch>
                </a:blipFill>
                <a:ln w="76200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7" name="Grafik 36" descr="Sparschwein mit einfarbiger Füllung">
              <a:extLst>
                <a:ext uri="{FF2B5EF4-FFF2-40B4-BE49-F238E27FC236}">
                  <a16:creationId xmlns:a16="http://schemas.microsoft.com/office/drawing/2014/main" id="{D1CDCF84-9192-1490-C531-5A7E39E865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p:blipFill>
          <p:spPr>
            <a:xfrm>
              <a:off x="372192" y="2055000"/>
              <a:ext cx="360000" cy="360000"/>
            </a:xfrm>
            <a:prstGeom prst="rect">
              <a:avLst/>
            </a:prstGeom>
          </p:spPr>
        </p:pic>
        <p:pic>
          <p:nvPicPr>
            <p:cNvPr id="39" name="Grafik 38" descr="Verbotsschild mit einfarbiger Füllung">
              <a:extLst>
                <a:ext uri="{FF2B5EF4-FFF2-40B4-BE49-F238E27FC236}">
                  <a16:creationId xmlns:a16="http://schemas.microsoft.com/office/drawing/2014/main" id="{2F0A2DEC-39ED-EFBB-8FC1-A08F6E72CD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329549" y="2055000"/>
              <a:ext cx="360000" cy="360000"/>
            </a:xfrm>
            <a:prstGeom prst="rect">
              <a:avLst/>
            </a:prstGeom>
          </p:spPr>
        </p:pic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874625B8-B30A-9340-4D76-677D447EB3EB}"/>
                </a:ext>
              </a:extLst>
            </p:cNvPr>
            <p:cNvSpPr txBox="1"/>
            <p:nvPr/>
          </p:nvSpPr>
          <p:spPr>
            <a:xfrm>
              <a:off x="732192" y="2054328"/>
              <a:ext cx="14823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dirty="0">
                  <a:latin typeface="Bahnschrift" panose="020B0502040204020203" pitchFamily="34" charset="0"/>
                </a:rPr>
                <a:t>= 1            = 0</a:t>
              </a:r>
              <a:endParaRPr lang="en-US" dirty="0">
                <a:latin typeface="Bahnschrift" panose="020B0502040204020203" pitchFamily="34" charset="0"/>
              </a:endParaRPr>
            </a:p>
          </p:txBody>
        </p:sp>
      </p:grp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AA111B18-30BF-37B3-37FA-18D9C0B8B066}"/>
              </a:ext>
            </a:extLst>
          </p:cNvPr>
          <p:cNvCxnSpPr>
            <a:cxnSpLocks/>
          </p:cNvCxnSpPr>
          <p:nvPr/>
        </p:nvCxnSpPr>
        <p:spPr>
          <a:xfrm flipV="1">
            <a:off x="2996526" y="4018590"/>
            <a:ext cx="1482130" cy="1140366"/>
          </a:xfrm>
          <a:prstGeom prst="straightConnector1">
            <a:avLst/>
          </a:prstGeom>
          <a:ln w="57150">
            <a:solidFill>
              <a:srgbClr val="FFD7A7"/>
            </a:solidFill>
            <a:tailEnd type="triangle"/>
          </a:ln>
          <a:effectLst>
            <a:innerShdw>
              <a:prstClr val="black"/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84E495BB-7919-ACC3-6B5B-0C4C8184FE65}"/>
              </a:ext>
            </a:extLst>
          </p:cNvPr>
          <p:cNvCxnSpPr>
            <a:cxnSpLocks/>
            <a:stCxn id="21" idx="1"/>
            <a:endCxn id="17" idx="3"/>
          </p:cNvCxnSpPr>
          <p:nvPr/>
        </p:nvCxnSpPr>
        <p:spPr>
          <a:xfrm flipH="1" flipV="1">
            <a:off x="7760127" y="4491407"/>
            <a:ext cx="845523" cy="2602"/>
          </a:xfrm>
          <a:prstGeom prst="straightConnector1">
            <a:avLst/>
          </a:prstGeom>
          <a:ln w="57150">
            <a:solidFill>
              <a:srgbClr val="FFD7A7"/>
            </a:solidFill>
            <a:tailEnd type="triangle"/>
          </a:ln>
          <a:effectLst>
            <a:innerShdw>
              <a:prstClr val="black"/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238EBEA5-A74E-D7A3-1181-C6529F2EBE48}"/>
              </a:ext>
            </a:extLst>
          </p:cNvPr>
          <p:cNvCxnSpPr>
            <a:cxnSpLocks/>
          </p:cNvCxnSpPr>
          <p:nvPr/>
        </p:nvCxnSpPr>
        <p:spPr>
          <a:xfrm flipV="1">
            <a:off x="7753800" y="4879142"/>
            <a:ext cx="917167" cy="490141"/>
          </a:xfrm>
          <a:prstGeom prst="straightConnector1">
            <a:avLst/>
          </a:prstGeom>
          <a:ln w="57150">
            <a:solidFill>
              <a:srgbClr val="FFD7A7"/>
            </a:solidFill>
            <a:tailEnd type="triangle"/>
          </a:ln>
          <a:effectLst>
            <a:innerShdw>
              <a:prstClr val="black"/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7FB5DBC8-B86E-EA87-06D0-EB01A375ED18}"/>
              </a:ext>
            </a:extLst>
          </p:cNvPr>
          <p:cNvCxnSpPr>
            <a:cxnSpLocks/>
          </p:cNvCxnSpPr>
          <p:nvPr/>
        </p:nvCxnSpPr>
        <p:spPr>
          <a:xfrm flipV="1">
            <a:off x="6040073" y="3961515"/>
            <a:ext cx="0" cy="251733"/>
          </a:xfrm>
          <a:prstGeom prst="straightConnector1">
            <a:avLst/>
          </a:prstGeom>
          <a:ln w="57150">
            <a:solidFill>
              <a:srgbClr val="FFD7A7"/>
            </a:solidFill>
            <a:tailEnd type="triangle"/>
          </a:ln>
          <a:effectLst>
            <a:innerShdw>
              <a:prstClr val="black"/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9FB97A4B-3771-CDAE-78C0-E98058E6BB50}"/>
              </a:ext>
            </a:extLst>
          </p:cNvPr>
          <p:cNvCxnSpPr>
            <a:cxnSpLocks/>
          </p:cNvCxnSpPr>
          <p:nvPr/>
        </p:nvCxnSpPr>
        <p:spPr>
          <a:xfrm>
            <a:off x="3011807" y="5130133"/>
            <a:ext cx="1466849" cy="0"/>
          </a:xfrm>
          <a:prstGeom prst="straightConnector1">
            <a:avLst/>
          </a:prstGeom>
          <a:ln w="57150">
            <a:solidFill>
              <a:srgbClr val="FFD7A7"/>
            </a:solidFill>
            <a:prstDash val="sysDash"/>
            <a:tailEnd type="triangle"/>
          </a:ln>
          <a:effectLst>
            <a:innerShdw>
              <a:prstClr val="black"/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6F18FC9D-99F9-4D22-9C1E-B269ECDB5332}"/>
              </a:ext>
            </a:extLst>
          </p:cNvPr>
          <p:cNvCxnSpPr>
            <a:cxnSpLocks/>
          </p:cNvCxnSpPr>
          <p:nvPr/>
        </p:nvCxnSpPr>
        <p:spPr>
          <a:xfrm>
            <a:off x="552192" y="2508856"/>
            <a:ext cx="0" cy="2148869"/>
          </a:xfrm>
          <a:prstGeom prst="straightConnector1">
            <a:avLst/>
          </a:prstGeom>
          <a:ln w="57150">
            <a:solidFill>
              <a:srgbClr val="FFD7A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8">
                <a:extLst>
                  <a:ext uri="{FF2B5EF4-FFF2-40B4-BE49-F238E27FC236}">
                    <a16:creationId xmlns:a16="http://schemas.microsoft.com/office/drawing/2014/main" id="{637CDFD7-F231-D0C0-9BE2-8983DF8F9B90}"/>
                  </a:ext>
                </a:extLst>
              </p:cNvPr>
              <p:cNvSpPr/>
              <p:nvPr/>
            </p:nvSpPr>
            <p:spPr>
              <a:xfrm>
                <a:off x="319526" y="3453258"/>
                <a:ext cx="3182799" cy="770400"/>
              </a:xfrm>
              <a:prstGeom prst="roundRect">
                <a:avLst>
                  <a:gd name="adj" fmla="val 5845"/>
                </a:avLst>
              </a:prstGeom>
              <a:solidFill>
                <a:srgbClr val="FFFDF7"/>
              </a:solid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AT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e-AT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AT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Bahnschrift" panose="020B0502040204020203" pitchFamily="34" charset="0"/>
                  </a:rPr>
                  <a:t> belief about </a:t>
                </a:r>
                <a:r>
                  <a:rPr lang="en-GB" sz="1600" b="1" dirty="0">
                    <a:solidFill>
                      <a:schemeClr val="tx1"/>
                    </a:solidFill>
                    <a:latin typeface="Bahnschrift" panose="020B0502040204020203" pitchFamily="34" charset="0"/>
                  </a:rPr>
                  <a:t>outcome</a:t>
                </a:r>
              </a:p>
              <a:p>
                <a:r>
                  <a:rPr lang="en-GB" sz="1600" dirty="0">
                    <a:solidFill>
                      <a:schemeClr val="tx1"/>
                    </a:solidFill>
                    <a:latin typeface="Bahnschrift" panose="020B0502040204020203" pitchFamily="34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de-AT" sz="16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{0&lt;</m:t>
                    </m:r>
                    <m:sSub>
                      <m:sSubPr>
                        <m:ctrlPr>
                          <a:rPr lang="de-AT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e-AT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AT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&lt;1}</m:t>
                    </m:r>
                  </m:oMath>
                </a14:m>
                <a:endParaRPr lang="en-GB" dirty="0">
                  <a:solidFill>
                    <a:schemeClr val="tx1"/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4" name="Rounded Rectangle 8">
                <a:extLst>
                  <a:ext uri="{FF2B5EF4-FFF2-40B4-BE49-F238E27FC236}">
                    <a16:creationId xmlns:a16="http://schemas.microsoft.com/office/drawing/2014/main" id="{637CDFD7-F231-D0C0-9BE2-8983DF8F9B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26" y="3453258"/>
                <a:ext cx="3182799" cy="770400"/>
              </a:xfrm>
              <a:prstGeom prst="roundRect">
                <a:avLst>
                  <a:gd name="adj" fmla="val 5845"/>
                </a:avLst>
              </a:prstGeom>
              <a:blipFill>
                <a:blip r:embed="rId12"/>
                <a:stretch>
                  <a:fillRect/>
                </a:stretch>
              </a:blip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23B5996E-424C-950D-D4E1-0F1E9D740BD4}"/>
              </a:ext>
            </a:extLst>
          </p:cNvPr>
          <p:cNvCxnSpPr>
            <a:cxnSpLocks/>
          </p:cNvCxnSpPr>
          <p:nvPr/>
        </p:nvCxnSpPr>
        <p:spPr>
          <a:xfrm flipH="1">
            <a:off x="3502325" y="3838458"/>
            <a:ext cx="917151" cy="0"/>
          </a:xfrm>
          <a:prstGeom prst="straightConnector1">
            <a:avLst/>
          </a:prstGeom>
          <a:ln w="57150">
            <a:solidFill>
              <a:srgbClr val="FFD7A7"/>
            </a:solidFill>
            <a:tailEnd type="triangle"/>
          </a:ln>
          <a:effectLst>
            <a:innerShdw>
              <a:prstClr val="black"/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3E945AC5-0655-143B-DB87-E307C2591405}"/>
              </a:ext>
            </a:extLst>
          </p:cNvPr>
          <p:cNvCxnSpPr>
            <a:cxnSpLocks/>
          </p:cNvCxnSpPr>
          <p:nvPr/>
        </p:nvCxnSpPr>
        <p:spPr>
          <a:xfrm>
            <a:off x="1081699" y="4192505"/>
            <a:ext cx="0" cy="505509"/>
          </a:xfrm>
          <a:prstGeom prst="straightConnector1">
            <a:avLst/>
          </a:prstGeom>
          <a:ln w="57150">
            <a:solidFill>
              <a:srgbClr val="FFD7A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1">
            <a:extLst>
              <a:ext uri="{FF2B5EF4-FFF2-40B4-BE49-F238E27FC236}">
                <a16:creationId xmlns:a16="http://schemas.microsoft.com/office/drawing/2014/main" id="{DF5B3491-3224-51AF-48AF-9D10AAAE3CB5}"/>
              </a:ext>
            </a:extLst>
          </p:cNvPr>
          <p:cNvSpPr/>
          <p:nvPr/>
        </p:nvSpPr>
        <p:spPr>
          <a:xfrm>
            <a:off x="-138932" y="1112140"/>
            <a:ext cx="12191997" cy="325310"/>
          </a:xfrm>
          <a:prstGeom prst="rect">
            <a:avLst/>
          </a:prstGeom>
          <a:noFill/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Bahnschrift" panose="020B0502040204020203" pitchFamily="34" charset="0"/>
              </a:rPr>
              <a:t>“Real World”</a:t>
            </a: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BC611557-4595-CB84-8873-88DAA0552844}"/>
              </a:ext>
            </a:extLst>
          </p:cNvPr>
          <p:cNvCxnSpPr>
            <a:cxnSpLocks/>
          </p:cNvCxnSpPr>
          <p:nvPr/>
        </p:nvCxnSpPr>
        <p:spPr>
          <a:xfrm flipH="1">
            <a:off x="2214514" y="2283584"/>
            <a:ext cx="2204962" cy="0"/>
          </a:xfrm>
          <a:prstGeom prst="straightConnector1">
            <a:avLst/>
          </a:prstGeom>
          <a:ln w="57150">
            <a:solidFill>
              <a:srgbClr val="FFD7A7"/>
            </a:solidFill>
            <a:tailEnd type="triangle"/>
          </a:ln>
          <a:effectLst>
            <a:innerShdw>
              <a:prstClr val="black"/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29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2.59259E-6 L -0.00104 -0.07384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3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15" grpId="0" animBg="1"/>
      <p:bldP spid="3" grpId="0" animBg="1"/>
      <p:bldP spid="16" grpId="0" animBg="1"/>
      <p:bldP spid="17" grpId="0" animBg="1"/>
      <p:bldP spid="18" grpId="0" animBg="1"/>
      <p:bldP spid="77" grpId="0" animBg="1"/>
      <p:bldP spid="20" grpId="0" animBg="1"/>
      <p:bldP spid="21" grpId="0" animBg="1"/>
      <p:bldP spid="23" grpId="0" animBg="1"/>
      <p:bldP spid="25" grpId="0" animBg="1"/>
      <p:bldP spid="2" grpId="0"/>
      <p:bldP spid="34" grpId="0" animBg="1"/>
      <p:bldP spid="4" grpId="0" animBg="1"/>
      <p:bldP spid="7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45EF51-F07F-D9E8-105E-D7722EAAC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Model </a:t>
            </a:r>
            <a:r>
              <a:rPr lang="de-AT" dirty="0" err="1"/>
              <a:t>comparison</a:t>
            </a:r>
            <a:endParaRPr lang="en-US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CA6B3A0-0964-6272-34DB-C75C85FED4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77" y="1894966"/>
            <a:ext cx="12049445" cy="351577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A27A79D-7BD5-695A-BDEA-09A8112CD80B}"/>
              </a:ext>
            </a:extLst>
          </p:cNvPr>
          <p:cNvSpPr txBox="1">
            <a:spLocks/>
          </p:cNvSpPr>
          <p:nvPr/>
        </p:nvSpPr>
        <p:spPr>
          <a:xfrm>
            <a:off x="838199" y="5641997"/>
            <a:ext cx="10515600" cy="662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de-AT" sz="2400" dirty="0"/>
              <a:t>s</a:t>
            </a:r>
            <a:r>
              <a:rPr lang="en-US" sz="2400" dirty="0" err="1"/>
              <a:t>imple</a:t>
            </a:r>
            <a:r>
              <a:rPr lang="en-US" sz="2400" dirty="0"/>
              <a:t> beats complicated</a:t>
            </a:r>
          </a:p>
        </p:txBody>
      </p:sp>
    </p:spTree>
    <p:extLst>
      <p:ext uri="{BB962C8B-B14F-4D97-AF65-F5344CB8AC3E}">
        <p14:creationId xmlns:p14="http://schemas.microsoft.com/office/powerpoint/2010/main" val="2913775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400367"/>
            <a:ext cx="10515601" cy="6057265"/>
          </a:xfrm>
          <a:prstGeom prst="rect">
            <a:avLst/>
          </a:prstGeom>
        </p:spPr>
      </p:pic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CC1487FC-86EA-0219-5773-8F3F781BD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500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316590" y="5583745"/>
            <a:ext cx="12776548" cy="1803748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223" y="1825625"/>
            <a:ext cx="6115554" cy="4351338"/>
          </a:xfrm>
        </p:spPr>
      </p:pic>
    </p:spTree>
    <p:extLst>
      <p:ext uri="{BB962C8B-B14F-4D97-AF65-F5344CB8AC3E}">
        <p14:creationId xmlns:p14="http://schemas.microsoft.com/office/powerpoint/2010/main" val="758746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316590" y="5583745"/>
            <a:ext cx="12776548" cy="1803748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818" y="653529"/>
            <a:ext cx="8445731" cy="6009305"/>
          </a:xfrm>
        </p:spPr>
      </p:pic>
    </p:spTree>
    <p:extLst>
      <p:ext uri="{BB962C8B-B14F-4D97-AF65-F5344CB8AC3E}">
        <p14:creationId xmlns:p14="http://schemas.microsoft.com/office/powerpoint/2010/main" val="555717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Bahnschrift SemiBold" panose="020B0502040204020203" pitchFamily="34" charset="0"/>
              </a:rPr>
              <a:t>Research Questions</a:t>
            </a:r>
            <a:endParaRPr lang="en-GB" dirty="0">
              <a:latin typeface="Bahnschrift SemiBold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66114" y="1795192"/>
            <a:ext cx="4887686" cy="4035197"/>
          </a:xfrm>
          <a:prstGeom prst="roundRect">
            <a:avLst>
              <a:gd name="adj" fmla="val 5845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2 · Latent Variable encoding</a:t>
            </a:r>
          </a:p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en-GB" sz="2800" dirty="0">
                <a:solidFill>
                  <a:schemeClr val="tx1"/>
                </a:solidFill>
                <a:latin typeface="Bahnschrift" panose="020B0502040204020203" pitchFamily="34" charset="0"/>
              </a:rPr>
              <a:t>Do </a:t>
            </a:r>
            <a:r>
              <a:rPr lang="en-GB" sz="2800" b="1" dirty="0">
                <a:solidFill>
                  <a:schemeClr val="tx1"/>
                </a:solidFill>
                <a:latin typeface="Bahnschrift" panose="020B0502040204020203" pitchFamily="34" charset="0"/>
              </a:rPr>
              <a:t>neuronal firing rates </a:t>
            </a:r>
            <a:r>
              <a:rPr lang="en-GB" sz="2800" dirty="0">
                <a:solidFill>
                  <a:schemeClr val="tx1"/>
                </a:solidFill>
                <a:latin typeface="Bahnschrift" panose="020B0502040204020203" pitchFamily="34" charset="0"/>
              </a:rPr>
              <a:t>encode </a:t>
            </a:r>
            <a:r>
              <a:rPr lang="en-GB" sz="2800" b="1" dirty="0">
                <a:solidFill>
                  <a:schemeClr val="tx1"/>
                </a:solidFill>
                <a:latin typeface="Bahnschrift" panose="020B0502040204020203" pitchFamily="34" charset="0"/>
              </a:rPr>
              <a:t>prediction errors </a:t>
            </a:r>
            <a:r>
              <a:rPr lang="en-GB" sz="2800" dirty="0">
                <a:solidFill>
                  <a:schemeClr val="tx1"/>
                </a:solidFill>
                <a:latin typeface="Bahnschrift" panose="020B0502040204020203" pitchFamily="34" charset="0"/>
              </a:rPr>
              <a:t>estimated from a computational </a:t>
            </a:r>
            <a:r>
              <a:rPr lang="en-GB" sz="2800" b="1" dirty="0">
                <a:solidFill>
                  <a:schemeClr val="tx1"/>
                </a:solidFill>
                <a:latin typeface="Bahnschrift" panose="020B0502040204020203" pitchFamily="34" charset="0"/>
              </a:rPr>
              <a:t>model of behaviour</a:t>
            </a:r>
            <a:r>
              <a:rPr lang="en-GB" sz="2800" dirty="0">
                <a:solidFill>
                  <a:schemeClr val="tx1"/>
                </a:solidFill>
                <a:latin typeface="Bahnschrift" panose="020B0502040204020203" pitchFamily="34" charset="0"/>
              </a:rPr>
              <a:t>?</a:t>
            </a:r>
          </a:p>
        </p:txBody>
      </p:sp>
      <p:sp>
        <p:nvSpPr>
          <p:cNvPr id="7" name="Textfeld 3">
            <a:extLst>
              <a:ext uri="{FF2B5EF4-FFF2-40B4-BE49-F238E27FC236}">
                <a16:creationId xmlns:a16="http://schemas.microsoft.com/office/drawing/2014/main" id="{FE8BC9CB-A270-A1A7-41C1-7DB1E9BBFC01}"/>
              </a:ext>
            </a:extLst>
          </p:cNvPr>
          <p:cNvSpPr txBox="1"/>
          <p:nvPr/>
        </p:nvSpPr>
        <p:spPr>
          <a:xfrm>
            <a:off x="1229072" y="3397291"/>
            <a:ext cx="3725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4800" dirty="0" smtClean="0">
                <a:latin typeface="Bahnschrift" panose="020B0502040204020203" pitchFamily="34" charset="0"/>
              </a:rPr>
              <a:t>Probably?</a:t>
            </a:r>
            <a:endParaRPr lang="en-US" sz="4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034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Future Direction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Sign of prediction error vs firing rate correlation</a:t>
            </a:r>
          </a:p>
          <a:p>
            <a:r>
              <a:rPr lang="de-DE" dirty="0" smtClean="0"/>
              <a:t>Timing of firing rate changes after events</a:t>
            </a:r>
          </a:p>
          <a:p>
            <a:r>
              <a:rPr lang="de-DE" dirty="0" smtClean="0"/>
              <a:t>Choice selectivity</a:t>
            </a:r>
          </a:p>
          <a:p>
            <a:r>
              <a:rPr lang="de-DE" dirty="0" smtClean="0"/>
              <a:t>Research Angual Gyrus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4913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1"/>
              <a:t>Reward-selective neurons exist and are predominantly frontal</a:t>
            </a:r>
          </a:p>
          <a:p>
            <a:pPr lvl="1"/>
            <a:r>
              <a:rPr b="0"/>
              <a:t>ZETA analysis across 8 sessions (6,627 trials) shows time-locked spiking responses to reward outcomes, with outcome selectivity concentrated in MFG/IFG rather than parietal regions (SMG/AG).</a:t>
            </a:r>
          </a:p>
          <a:p>
            <a:pPr/>
            <a:r>
              <a:rPr b="1"/>
              <a:t>Simple reinforcement learning best captures behaviour</a:t>
            </a:r>
          </a:p>
          <a:p>
            <a:pPr lvl="1"/>
            <a:r>
              <a:rPr b="0"/>
              <a:t>Model comparison favours Rescorla-Wagner/Q-learning over the Hierarchical Gaussian Filter — participants' choices are well described by a basic prediction-error update rule.</a:t>
            </a:r>
          </a:p>
          <a:p>
            <a:pPr/>
            <a:r>
              <a:rPr b="1"/>
              <a:t>Neuronal firing rates tentatively track prediction errors</a:t>
            </a:r>
          </a:p>
          <a:p>
            <a:pPr lvl="1"/>
            <a:r>
              <a:rPr b="0"/>
              <a:t>Firing rates correlate with trial-by-trial RW prediction errors, suggesting frontal neurons may represent the learning signal — but direction, timing, and choice selectivity remain to be characterised.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1180</Words>
  <Application>Microsoft Office PowerPoint</Application>
  <PresentationFormat>Widescreen</PresentationFormat>
  <Paragraphs>258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Bahnschrift</vt:lpstr>
      <vt:lpstr>Bahnschrift SemiBold</vt:lpstr>
      <vt:lpstr>Calibri</vt:lpstr>
      <vt:lpstr>Calibri Light</vt:lpstr>
      <vt:lpstr>Cambria Math</vt:lpstr>
      <vt:lpstr>Wingdings</vt:lpstr>
      <vt:lpstr>Office Theme</vt:lpstr>
      <vt:lpstr>PowerPoint Presentation</vt:lpstr>
      <vt:lpstr>Project Summary</vt:lpstr>
      <vt:lpstr>Project Summary</vt:lpstr>
      <vt:lpstr>Project Summary</vt:lpstr>
      <vt:lpstr>PowerPoint Presentation</vt:lpstr>
      <vt:lpstr>Research Questions</vt:lpstr>
      <vt:lpstr>PowerPoint Presentation</vt:lpstr>
      <vt:lpstr>ZETA test for time-locked spiking </vt:lpstr>
      <vt:lpstr>ZETA visualization</vt:lpstr>
      <vt:lpstr>ZETA visualization</vt:lpstr>
      <vt:lpstr>ZETA visualization</vt:lpstr>
      <vt:lpstr>ZETA visualization</vt:lpstr>
      <vt:lpstr>ZETA Results</vt:lpstr>
      <vt:lpstr>ZETA2 visualization</vt:lpstr>
      <vt:lpstr>ZETA2 visualization</vt:lpstr>
      <vt:lpstr>ZETA2 visualization</vt:lpstr>
      <vt:lpstr>ZETA2 visualization</vt:lpstr>
      <vt:lpstr>ZETA2 results</vt:lpstr>
      <vt:lpstr>Research Questions</vt:lpstr>
      <vt:lpstr>Why behavioural modelling?</vt:lpstr>
      <vt:lpstr>Rescorla wagner/ Q-learning</vt:lpstr>
      <vt:lpstr>Rescorla wagner/ Q-learning</vt:lpstr>
      <vt:lpstr>Rescorla wagner/ Q-learning</vt:lpstr>
      <vt:lpstr>PowerPoint Presentation</vt:lpstr>
      <vt:lpstr>Hierarchical Gaussian Filter</vt:lpstr>
      <vt:lpstr>Hierarchical Gaussian Filter</vt:lpstr>
      <vt:lpstr>Hierarchical Gaussian Filter</vt:lpstr>
      <vt:lpstr>Model comparison</vt:lpstr>
      <vt:lpstr>PowerPoint Presentation</vt:lpstr>
      <vt:lpstr>PowerPoint Presentation</vt:lpstr>
      <vt:lpstr>PowerPoint Presentation</vt:lpstr>
      <vt:lpstr>Research Questions</vt:lpstr>
      <vt:lpstr>Future Direction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mstammler</dc:creator>
  <cp:lastModifiedBy>mstammler</cp:lastModifiedBy>
  <cp:revision>1</cp:revision>
  <dcterms:created xsi:type="dcterms:W3CDTF">2026-06-29T12:35:53Z</dcterms:created>
  <dcterms:modified xsi:type="dcterms:W3CDTF">2026-06-29T12:38:05Z</dcterms:modified>
</cp:coreProperties>
</file>